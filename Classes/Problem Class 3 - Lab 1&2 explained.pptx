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6"/>
  </p:notesMasterIdLst>
  <p:handoutMasterIdLst>
    <p:handoutMasterId r:id="rId27"/>
  </p:handoutMasterIdLst>
  <p:sldIdLst>
    <p:sldId id="278" r:id="rId2"/>
    <p:sldId id="321" r:id="rId3"/>
    <p:sldId id="333" r:id="rId4"/>
    <p:sldId id="322" r:id="rId5"/>
    <p:sldId id="334" r:id="rId6"/>
    <p:sldId id="335" r:id="rId7"/>
    <p:sldId id="336" r:id="rId8"/>
    <p:sldId id="344" r:id="rId9"/>
    <p:sldId id="343" r:id="rId10"/>
    <p:sldId id="323" r:id="rId11"/>
    <p:sldId id="289" r:id="rId12"/>
    <p:sldId id="339" r:id="rId13"/>
    <p:sldId id="340" r:id="rId14"/>
    <p:sldId id="325" r:id="rId15"/>
    <p:sldId id="345" r:id="rId16"/>
    <p:sldId id="346" r:id="rId17"/>
    <p:sldId id="347" r:id="rId18"/>
    <p:sldId id="348" r:id="rId19"/>
    <p:sldId id="349" r:id="rId20"/>
    <p:sldId id="350" r:id="rId21"/>
    <p:sldId id="351" r:id="rId22"/>
    <p:sldId id="352" r:id="rId23"/>
    <p:sldId id="353" r:id="rId24"/>
    <p:sldId id="354" r:id="rId25"/>
  </p:sldIdLst>
  <p:sldSz cx="9902825" cy="6858000"/>
  <p:notesSz cx="6794500" cy="9906000"/>
  <p:defaultTextStyle>
    <a:defPPr>
      <a:defRPr lang="en-US"/>
    </a:defPPr>
    <a:lvl1pPr algn="l" rtl="0" eaLnBrk="0" fontAlgn="base" hangingPunct="0">
      <a:spcBef>
        <a:spcPct val="0"/>
      </a:spcBef>
      <a:spcAft>
        <a:spcPct val="0"/>
      </a:spcAft>
      <a:defRPr sz="32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32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32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32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3200" kern="1200">
        <a:solidFill>
          <a:schemeClr val="tx1"/>
        </a:solidFill>
        <a:latin typeface="Arial" charset="0"/>
        <a:ea typeface="ＭＳ Ｐゴシック" charset="0"/>
        <a:cs typeface="ＭＳ Ｐゴシック" charset="0"/>
      </a:defRPr>
    </a:lvl5pPr>
    <a:lvl6pPr marL="2286000" algn="l" defTabSz="457200" rtl="0" eaLnBrk="1" latinLnBrk="0" hangingPunct="1">
      <a:defRPr sz="3200" kern="1200">
        <a:solidFill>
          <a:schemeClr val="tx1"/>
        </a:solidFill>
        <a:latin typeface="Arial" charset="0"/>
        <a:ea typeface="ＭＳ Ｐゴシック" charset="0"/>
        <a:cs typeface="ＭＳ Ｐゴシック" charset="0"/>
      </a:defRPr>
    </a:lvl6pPr>
    <a:lvl7pPr marL="2743200" algn="l" defTabSz="457200" rtl="0" eaLnBrk="1" latinLnBrk="0" hangingPunct="1">
      <a:defRPr sz="3200" kern="1200">
        <a:solidFill>
          <a:schemeClr val="tx1"/>
        </a:solidFill>
        <a:latin typeface="Arial" charset="0"/>
        <a:ea typeface="ＭＳ Ｐゴシック" charset="0"/>
        <a:cs typeface="ＭＳ Ｐゴシック" charset="0"/>
      </a:defRPr>
    </a:lvl7pPr>
    <a:lvl8pPr marL="3200400" algn="l" defTabSz="457200" rtl="0" eaLnBrk="1" latinLnBrk="0" hangingPunct="1">
      <a:defRPr sz="3200" kern="1200">
        <a:solidFill>
          <a:schemeClr val="tx1"/>
        </a:solidFill>
        <a:latin typeface="Arial" charset="0"/>
        <a:ea typeface="ＭＳ Ｐゴシック" charset="0"/>
        <a:cs typeface="ＭＳ Ｐゴシック" charset="0"/>
      </a:defRPr>
    </a:lvl8pPr>
    <a:lvl9pPr marL="3657600" algn="l" defTabSz="457200" rtl="0" eaLnBrk="1" latinLnBrk="0" hangingPunct="1">
      <a:defRPr sz="32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4218">
          <p15:clr>
            <a:srgbClr val="A4A3A4"/>
          </p15:clr>
        </p15:guide>
        <p15:guide id="2" pos="4979">
          <p15:clr>
            <a:srgbClr val="A4A3A4"/>
          </p15:clr>
        </p15:guide>
      </p15:sldGuideLst>
    </p:ext>
    <p:ext uri="{2D200454-40CA-4A62-9FC3-DE9A4176ACB9}">
      <p15:notesGuideLst xmlns:p15="http://schemas.microsoft.com/office/powerpoint/2012/main">
        <p15:guide id="1" orient="horz" pos="312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CC0000"/>
    <a:srgbClr val="0000FF"/>
    <a:srgbClr val="CCCCFF"/>
    <a:srgbClr val="FF3300"/>
    <a:srgbClr val="842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96327" autoAdjust="0"/>
  </p:normalViewPr>
  <p:slideViewPr>
    <p:cSldViewPr showGuides="1">
      <p:cViewPr varScale="1">
        <p:scale>
          <a:sx n="122" d="100"/>
          <a:sy n="122" d="100"/>
        </p:scale>
        <p:origin x="216" y="224"/>
      </p:cViewPr>
      <p:guideLst>
        <p:guide orient="horz" pos="4218"/>
        <p:guide pos="4979"/>
      </p:guideLst>
    </p:cSldViewPr>
  </p:slideViewPr>
  <p:outlineViewPr>
    <p:cViewPr>
      <p:scale>
        <a:sx n="33" d="100"/>
        <a:sy n="33" d="100"/>
      </p:scale>
      <p:origin x="0" y="-2112"/>
    </p:cViewPr>
  </p:outlineViewPr>
  <p:notesTextViewPr>
    <p:cViewPr>
      <p:scale>
        <a:sx n="100" d="100"/>
        <a:sy n="100" d="100"/>
      </p:scale>
      <p:origin x="0" y="0"/>
    </p:cViewPr>
  </p:notesTextViewPr>
  <p:sorterViewPr>
    <p:cViewPr>
      <p:scale>
        <a:sx n="66" d="100"/>
        <a:sy n="66" d="100"/>
      </p:scale>
      <p:origin x="0" y="0"/>
    </p:cViewPr>
  </p:sorterViewPr>
  <p:notesViewPr>
    <p:cSldViewPr showGuides="1">
      <p:cViewPr>
        <p:scale>
          <a:sx n="214" d="100"/>
          <a:sy n="214" d="100"/>
        </p:scale>
        <p:origin x="-2192" y="4608"/>
      </p:cViewPr>
      <p:guideLst>
        <p:guide orient="horz" pos="3120"/>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defTabSz="925513">
              <a:defRPr sz="1200" smtClean="0"/>
            </a:lvl1pPr>
          </a:lstStyle>
          <a:p>
            <a:pPr>
              <a:defRPr/>
            </a:pPr>
            <a:r>
              <a:rPr lang="en-US"/>
              <a:t>Digital IC Design</a:t>
            </a:r>
          </a:p>
        </p:txBody>
      </p:sp>
      <p:sp>
        <p:nvSpPr>
          <p:cNvPr id="25603" name="Rectangle 3"/>
          <p:cNvSpPr>
            <a:spLocks noGrp="1" noChangeArrowheads="1"/>
          </p:cNvSpPr>
          <p:nvPr>
            <p:ph type="dt" sz="quarter" idx="1"/>
          </p:nvPr>
        </p:nvSpPr>
        <p:spPr bwMode="auto">
          <a:xfrm>
            <a:off x="3851275"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algn="r" defTabSz="925513">
              <a:defRPr sz="1200" smtClean="0"/>
            </a:lvl1pPr>
          </a:lstStyle>
          <a:p>
            <a:pPr>
              <a:defRPr/>
            </a:pPr>
            <a:endParaRPr lang="en-US"/>
          </a:p>
        </p:txBody>
      </p:sp>
      <p:sp>
        <p:nvSpPr>
          <p:cNvPr id="25604" name="Rectangle 4"/>
          <p:cNvSpPr>
            <a:spLocks noGrp="1" noChangeArrowheads="1"/>
          </p:cNvSpPr>
          <p:nvPr>
            <p:ph type="ftr" sz="quarter" idx="2"/>
          </p:nvPr>
        </p:nvSpPr>
        <p:spPr bwMode="auto">
          <a:xfrm>
            <a:off x="0"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defTabSz="925513">
              <a:defRPr sz="1200" smtClean="0"/>
            </a:lvl1pPr>
          </a:lstStyle>
          <a:p>
            <a:pPr>
              <a:defRPr/>
            </a:pPr>
            <a:r>
              <a:rPr lang="en-US"/>
              <a:t>Lecture 1 - Introduction</a:t>
            </a:r>
          </a:p>
        </p:txBody>
      </p:sp>
      <p:sp>
        <p:nvSpPr>
          <p:cNvPr id="25605" name="Rectangle 5"/>
          <p:cNvSpPr>
            <a:spLocks noGrp="1" noChangeArrowheads="1"/>
          </p:cNvSpPr>
          <p:nvPr>
            <p:ph type="sldNum" sz="quarter" idx="3"/>
          </p:nvPr>
        </p:nvSpPr>
        <p:spPr bwMode="auto">
          <a:xfrm>
            <a:off x="3851275"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algn="r" defTabSz="925513">
              <a:defRPr sz="1200" smtClean="0"/>
            </a:lvl1pPr>
          </a:lstStyle>
          <a:p>
            <a:pPr>
              <a:defRPr/>
            </a:pPr>
            <a:fld id="{FB3035A6-7144-D441-9467-0CE86A0DFF7C}" type="slidenum">
              <a:rPr lang="en-US"/>
              <a:pPr>
                <a:defRPr/>
              </a:pPr>
              <a:t>‹#›</a:t>
            </a:fld>
            <a:endParaRPr lang="en-US"/>
          </a:p>
        </p:txBody>
      </p:sp>
    </p:spTree>
    <p:extLst>
      <p:ext uri="{BB962C8B-B14F-4D97-AF65-F5344CB8AC3E}">
        <p14:creationId xmlns:p14="http://schemas.microsoft.com/office/powerpoint/2010/main" val="4235484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defTabSz="925513">
              <a:defRPr sz="1200" smtClean="0"/>
            </a:lvl1pPr>
          </a:lstStyle>
          <a:p>
            <a:pPr>
              <a:defRPr/>
            </a:pPr>
            <a:endParaRPr lang="en-US"/>
          </a:p>
        </p:txBody>
      </p:sp>
      <p:sp>
        <p:nvSpPr>
          <p:cNvPr id="27651" name="Rectangle 3"/>
          <p:cNvSpPr>
            <a:spLocks noGrp="1" noChangeArrowheads="1"/>
          </p:cNvSpPr>
          <p:nvPr>
            <p:ph type="dt" idx="1"/>
          </p:nvPr>
        </p:nvSpPr>
        <p:spPr bwMode="auto">
          <a:xfrm>
            <a:off x="3851275"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algn="r" defTabSz="925513">
              <a:defRPr sz="1200" smtClean="0"/>
            </a:lvl1pPr>
          </a:lstStyle>
          <a:p>
            <a:pPr>
              <a:defRPr/>
            </a:pPr>
            <a:endParaRPr lang="en-US"/>
          </a:p>
        </p:txBody>
      </p:sp>
      <p:sp>
        <p:nvSpPr>
          <p:cNvPr id="3076" name="Rectangle 4"/>
          <p:cNvSpPr>
            <a:spLocks noGrp="1" noRot="1" noChangeAspect="1" noChangeArrowheads="1" noTextEdit="1"/>
          </p:cNvSpPr>
          <p:nvPr>
            <p:ph type="sldImg" idx="2"/>
          </p:nvPr>
        </p:nvSpPr>
        <p:spPr bwMode="auto">
          <a:xfrm>
            <a:off x="715963" y="742950"/>
            <a:ext cx="5364162" cy="37147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7653" name="Rectangle 5"/>
          <p:cNvSpPr>
            <a:spLocks noGrp="1" noChangeArrowheads="1"/>
          </p:cNvSpPr>
          <p:nvPr>
            <p:ph type="body" sz="quarter" idx="3"/>
          </p:nvPr>
        </p:nvSpPr>
        <p:spPr bwMode="auto">
          <a:xfrm>
            <a:off x="906463" y="4705350"/>
            <a:ext cx="4981575" cy="44577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0"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defTabSz="925513">
              <a:defRPr sz="1200" smtClean="0"/>
            </a:lvl1pPr>
          </a:lstStyle>
          <a:p>
            <a:pPr>
              <a:defRPr/>
            </a:pPr>
            <a:endParaRPr lang="en-US"/>
          </a:p>
        </p:txBody>
      </p:sp>
      <p:sp>
        <p:nvSpPr>
          <p:cNvPr id="27655" name="Rectangle 7"/>
          <p:cNvSpPr>
            <a:spLocks noGrp="1" noChangeArrowheads="1"/>
          </p:cNvSpPr>
          <p:nvPr>
            <p:ph type="sldNum" sz="quarter" idx="5"/>
          </p:nvPr>
        </p:nvSpPr>
        <p:spPr bwMode="auto">
          <a:xfrm>
            <a:off x="3851275"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algn="r" defTabSz="925513">
              <a:defRPr sz="1200" smtClean="0"/>
            </a:lvl1pPr>
          </a:lstStyle>
          <a:p>
            <a:pPr>
              <a:defRPr/>
            </a:pPr>
            <a:fld id="{0120DED1-9D01-504D-B803-B37A2A1790D9}" type="slidenum">
              <a:rPr lang="en-US"/>
              <a:pPr>
                <a:defRPr/>
              </a:pPr>
              <a:t>‹#›</a:t>
            </a:fld>
            <a:endParaRPr lang="en-US"/>
          </a:p>
        </p:txBody>
      </p:sp>
    </p:spTree>
    <p:extLst>
      <p:ext uri="{BB962C8B-B14F-4D97-AF65-F5344CB8AC3E}">
        <p14:creationId xmlns:p14="http://schemas.microsoft.com/office/powerpoint/2010/main" val="640003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B0DF390A-3E78-1640-862B-1E69A6107FD3}" type="slidenum">
              <a:rPr lang="en-US" sz="1200"/>
              <a:pPr/>
              <a:t>1</a:t>
            </a:fld>
            <a:endParaRPr lang="en-US" sz="1200"/>
          </a:p>
        </p:txBody>
      </p:sp>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p>
            <a:r>
              <a:rPr lang="en-US">
                <a:latin typeface="+mj-lt"/>
              </a:rPr>
              <a:t>Welcome to this first course you will take on electronic engineering.  I am looking forward to teaching such a course to Design Engineering students for a long time.  It presents a personal challenge: how to select and teach from a vast amount of materials we normally teach to first year EE students to you in a quarter of the available time?  Even more challenging is: how to ensure that you retain what you learn in electronics for years to come, and only encounter this topic rarely during this period?  I am going to give this a try.</a:t>
            </a:r>
          </a:p>
          <a:p>
            <a:r>
              <a:rPr lang="en-US">
                <a:latin typeface="+mj-lt"/>
              </a:rPr>
              <a:t>Because this is a new course and I am giving it for the first time, I would welcome feedback from you in any form.</a:t>
            </a:r>
          </a:p>
          <a:p>
            <a:r>
              <a:rPr lang="en-US">
                <a:latin typeface="+mj-lt"/>
              </a:rPr>
              <a:t>All my teaching materials including lecture slides with notes, laboratory work and tutorial problem sheets can be found on the course webpage shown here.  Furthermore, all lectures will be recorded with Panopto.</a:t>
            </a:r>
          </a:p>
          <a:p>
            <a:endParaRPr lang="en-US" dirty="0">
              <a:latin typeface="+mj-l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2</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3</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4</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5</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6</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7</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8</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2257033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9</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2338108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10</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B1B9588C-7EB1-D344-9459-D7054826E2F5}" type="slidenum">
              <a:rPr lang="en-US" sz="1200"/>
              <a:pPr/>
              <a:t>11</a:t>
            </a:fld>
            <a:endParaRPr lang="en-US" sz="1200"/>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 uri="{FAA26D3D-D897-4be2-8F04-BA451C77F1D7}">
              <ma14:placeholderFlag xmlns="" xmlns:ma14="http://schemas.microsoft.com/office/mac/drawingml/2011/main" val="1"/>
            </a:ext>
          </a:extLst>
        </p:spPr>
        <p:txBody>
          <a:bodyPr/>
          <a:lstStyle/>
          <a:p>
            <a:r>
              <a:rPr lang="en-US" dirty="0">
                <a:cs typeface="Arial" panose="020B0604020202020204" pitchFamily="34" charset="0"/>
              </a:rPr>
              <a:t>Although the open-loop gain of the MCP6001 at DC (or 0Hz) is very high (at over 100,000), this gain drops off very quickly as the signal frequency is beyond 2Hz.  Beyond 2Hz, the gain falls off at a rate of -20dB/decade (i.e. drops by a factor 10 as signal frequency goes up by a factor of 10).  </a:t>
            </a:r>
          </a:p>
          <a:p>
            <a:r>
              <a:rPr lang="en-US" dirty="0">
                <a:cs typeface="Arial" panose="020B0604020202020204" pitchFamily="34" charset="0"/>
              </a:rPr>
              <a:t>As we reach around 1MHz, the open-loop gain is only 1. That means at this frequency, the op-amp, without feedback, will not behave like an amplifier any more.   </a:t>
            </a:r>
          </a:p>
          <a:p>
            <a:r>
              <a:rPr lang="en-US" dirty="0">
                <a:cs typeface="Arial" panose="020B0604020202020204" pitchFamily="34" charset="0"/>
              </a:rPr>
              <a:t>The frequency at which the gain drops to 1 is known as the Gain-</a:t>
            </a:r>
            <a:r>
              <a:rPr lang="en-US" dirty="0" err="1">
                <a:cs typeface="Arial" panose="020B0604020202020204" pitchFamily="34" charset="0"/>
              </a:rPr>
              <a:t>Bandwith</a:t>
            </a:r>
            <a:r>
              <a:rPr lang="en-US" dirty="0">
                <a:cs typeface="Arial" panose="020B0604020202020204" pitchFamily="34" charset="0"/>
              </a:rPr>
              <a:t> Product (GBP).  Notice that </a:t>
            </a:r>
            <a:r>
              <a:rPr lang="en-US" dirty="0" err="1">
                <a:cs typeface="Arial" panose="020B0604020202020204" pitchFamily="34" charset="0"/>
              </a:rPr>
              <a:t>beween</a:t>
            </a:r>
            <a:r>
              <a:rPr lang="en-US" dirty="0">
                <a:cs typeface="Arial" panose="020B0604020202020204" pitchFamily="34" charset="0"/>
              </a:rPr>
              <a:t> 2Hz and 1MHz,  the open-loop gain and the signal frequency, when multiplied together, is a constant = 10</a:t>
            </a:r>
            <a:r>
              <a:rPr lang="en-US" baseline="30000" dirty="0">
                <a:cs typeface="Arial" panose="020B0604020202020204" pitchFamily="34" charset="0"/>
              </a:rPr>
              <a:t>6</a:t>
            </a:r>
            <a:r>
              <a:rPr lang="en-US" dirty="0">
                <a:cs typeface="Arial" panose="020B0604020202020204" pitchFamily="34" charset="0"/>
              </a:rPr>
              <a:t>.</a:t>
            </a:r>
          </a:p>
          <a:p>
            <a:r>
              <a:rPr lang="en-US" dirty="0">
                <a:cs typeface="Arial" panose="020B0604020202020204" pitchFamily="34" charset="0"/>
              </a:rPr>
              <a:t>In other words, given the maximum frequency of your signal that you need to amplify, the GBP tells you how much gain you can obtain from this op-amp.  For example, If your maximum signal frequency is 10kHz, you will not be ablet o design an amplifier that gives a gain of at most 40dB (x100), actually will be somewhat lower than x100.  You will be exploring this in Lab 1.</a:t>
            </a:r>
          </a:p>
          <a:p>
            <a:r>
              <a:rPr lang="en-US" dirty="0">
                <a:cs typeface="Arial" panose="020B0604020202020204" pitchFamily="34" charset="0"/>
              </a:rPr>
              <a:t>There are op-amps designed to have much higher GBP than this is one.  However, the higher the GBP, the more likely the op-amp will oscillate (i.e. go unstable). For these op-amp to work, one would need to design the PCB carefully to avoid unexpected feedback path for signals.</a:t>
            </a:r>
          </a:p>
          <a:p>
            <a:endParaRPr lang="en-US" dirty="0">
              <a:cs typeface="Arial" panose="020B0604020202020204" pitchFamily="34" charset="0"/>
            </a:endParaRPr>
          </a:p>
        </p:txBody>
      </p:sp>
    </p:spTree>
    <p:extLst>
      <p:ext uri="{BB962C8B-B14F-4D97-AF65-F5344CB8AC3E}">
        <p14:creationId xmlns:p14="http://schemas.microsoft.com/office/powerpoint/2010/main" val="1578255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12</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13</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14</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15</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 uri="{FAA26D3D-D897-4be2-8F04-BA451C77F1D7}">
              <ma14:placeholderFlag xmlns="" xmlns:ma14="http://schemas.microsoft.com/office/mac/drawingml/2011/main"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3524445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16</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897566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17</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 uri="{FAA26D3D-D897-4be2-8F04-BA451C77F1D7}">
              <ma14:placeholderFlag xmlns="" xmlns:ma14="http://schemas.microsoft.com/office/mac/drawingml/2011/main"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2003679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18</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1191706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19</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 uri="{FAA26D3D-D897-4be2-8F04-BA451C77F1D7}">
              <ma14:placeholderFlag xmlns="" xmlns:ma14="http://schemas.microsoft.com/office/mac/drawingml/2011/main"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3980292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20</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4133531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21</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 uri="{FAA26D3D-D897-4be2-8F04-BA451C77F1D7}">
              <ma14:placeholderFlag xmlns="" xmlns:ma14="http://schemas.microsoft.com/office/mac/drawingml/2011/main"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1315619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22</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3998167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23</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 uri="{FAA26D3D-D897-4be2-8F04-BA451C77F1D7}">
              <ma14:placeholderFlag xmlns="" xmlns:ma14="http://schemas.microsoft.com/office/mac/drawingml/2011/main"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23258276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charset="0"/>
                <a:ea typeface="ＭＳ Ｐゴシック" charset="0"/>
                <a:cs typeface="ＭＳ Ｐゴシック" charset="0"/>
              </a:defRPr>
            </a:lvl1pPr>
            <a:lvl2pPr marL="742950" indent="-285750" defTabSz="925513">
              <a:defRPr sz="3200">
                <a:solidFill>
                  <a:schemeClr val="tx1"/>
                </a:solidFill>
                <a:latin typeface="Arial" charset="0"/>
                <a:ea typeface="ＭＳ Ｐゴシック" charset="0"/>
              </a:defRPr>
            </a:lvl2pPr>
            <a:lvl3pPr marL="1143000" indent="-228600" defTabSz="925513">
              <a:defRPr sz="3200">
                <a:solidFill>
                  <a:schemeClr val="tx1"/>
                </a:solidFill>
                <a:latin typeface="Arial" charset="0"/>
                <a:ea typeface="ＭＳ Ｐゴシック" charset="0"/>
              </a:defRPr>
            </a:lvl3pPr>
            <a:lvl4pPr marL="1600200" indent="-228600" defTabSz="925513">
              <a:defRPr sz="3200">
                <a:solidFill>
                  <a:schemeClr val="tx1"/>
                </a:solidFill>
                <a:latin typeface="Arial" charset="0"/>
                <a:ea typeface="ＭＳ Ｐゴシック" charset="0"/>
              </a:defRPr>
            </a:lvl4pPr>
            <a:lvl5pPr marL="2057400" indent="-228600" defTabSz="925513">
              <a:defRPr sz="3200">
                <a:solidFill>
                  <a:schemeClr val="tx1"/>
                </a:solidFill>
                <a:latin typeface="Arial" charset="0"/>
                <a:ea typeface="ＭＳ Ｐゴシック" charset="0"/>
              </a:defRPr>
            </a:lvl5pPr>
            <a:lvl6pPr marL="2514600" indent="-228600" defTabSz="925513" eaLnBrk="0" fontAlgn="base" hangingPunct="0">
              <a:spcBef>
                <a:spcPct val="0"/>
              </a:spcBef>
              <a:spcAft>
                <a:spcPct val="0"/>
              </a:spcAft>
              <a:defRPr sz="3200">
                <a:solidFill>
                  <a:schemeClr val="tx1"/>
                </a:solidFill>
                <a:latin typeface="Arial" charset="0"/>
                <a:ea typeface="ＭＳ Ｐゴシック" charset="0"/>
              </a:defRPr>
            </a:lvl6pPr>
            <a:lvl7pPr marL="2971800" indent="-228600" defTabSz="925513" eaLnBrk="0" fontAlgn="base" hangingPunct="0">
              <a:spcBef>
                <a:spcPct val="0"/>
              </a:spcBef>
              <a:spcAft>
                <a:spcPct val="0"/>
              </a:spcAft>
              <a:defRPr sz="3200">
                <a:solidFill>
                  <a:schemeClr val="tx1"/>
                </a:solidFill>
                <a:latin typeface="Arial" charset="0"/>
                <a:ea typeface="ＭＳ Ｐゴシック" charset="0"/>
              </a:defRPr>
            </a:lvl7pPr>
            <a:lvl8pPr marL="3429000" indent="-228600" defTabSz="925513" eaLnBrk="0" fontAlgn="base" hangingPunct="0">
              <a:spcBef>
                <a:spcPct val="0"/>
              </a:spcBef>
              <a:spcAft>
                <a:spcPct val="0"/>
              </a:spcAft>
              <a:defRPr sz="3200">
                <a:solidFill>
                  <a:schemeClr val="tx1"/>
                </a:solidFill>
                <a:latin typeface="Arial" charset="0"/>
                <a:ea typeface="ＭＳ Ｐゴシック" charset="0"/>
              </a:defRPr>
            </a:lvl8pPr>
            <a:lvl9pPr marL="3886200" indent="-228600" defTabSz="925513" eaLnBrk="0" fontAlgn="base" hangingPunct="0">
              <a:spcBef>
                <a:spcPct val="0"/>
              </a:spcBef>
              <a:spcAft>
                <a:spcPct val="0"/>
              </a:spcAft>
              <a:defRPr sz="3200">
                <a:solidFill>
                  <a:schemeClr val="tx1"/>
                </a:solidFill>
                <a:latin typeface="Arial" charset="0"/>
                <a:ea typeface="ＭＳ Ｐゴシック" charset="0"/>
              </a:defRPr>
            </a:lvl9pPr>
          </a:lstStyle>
          <a:p>
            <a:fld id="{3A51A32C-4D0C-944D-A06F-765A0F391CEF}" type="slidenum">
              <a:rPr lang="en-US" sz="1200"/>
              <a:pPr/>
              <a:t>24</a:t>
            </a:fld>
            <a:endParaRPr lang="en-US" sz="1200"/>
          </a:p>
        </p:txBody>
      </p:sp>
      <p:sp>
        <p:nvSpPr>
          <p:cNvPr id="21506" name="Rectangle 2"/>
          <p:cNvSpPr>
            <a:spLocks noGrp="1" noRot="1" noChangeAspect="1" noChangeArrowheads="1" noTextEdit="1"/>
          </p:cNvSpPr>
          <p:nvPr>
            <p:ph type="sldImg"/>
          </p:nvPr>
        </p:nvSpPr>
        <p:spPr>
          <a:xfrm>
            <a:off x="715963" y="742950"/>
            <a:ext cx="5362575" cy="3714750"/>
          </a:xfrm>
          <a:ln/>
        </p:spPr>
      </p:sp>
      <p:sp>
        <p:nvSpPr>
          <p:cNvPr id="2150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sz="1100" dirty="0">
              <a:latin typeface="+mj-lt"/>
              <a:cs typeface="Verdana"/>
            </a:endParaRPr>
          </a:p>
        </p:txBody>
      </p:sp>
    </p:spTree>
    <p:extLst>
      <p:ext uri="{BB962C8B-B14F-4D97-AF65-F5344CB8AC3E}">
        <p14:creationId xmlns:p14="http://schemas.microsoft.com/office/powerpoint/2010/main" val="2656858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5"/>
            <a:ext cx="8416925" cy="1470025"/>
          </a:xfrm>
        </p:spPr>
        <p:txBody>
          <a:bodyPr/>
          <a:lstStyle/>
          <a:p>
            <a:r>
              <a:rPr lang="en-GB"/>
              <a:t>Click to edit Master title style</a:t>
            </a:r>
            <a:endParaRPr lang="en-US"/>
          </a:p>
        </p:txBody>
      </p:sp>
      <p:sp>
        <p:nvSpPr>
          <p:cNvPr id="3" name="Subtitle 2"/>
          <p:cNvSpPr>
            <a:spLocks noGrp="1"/>
          </p:cNvSpPr>
          <p:nvPr>
            <p:ph type="subTitle" idx="1"/>
          </p:nvPr>
        </p:nvSpPr>
        <p:spPr>
          <a:xfrm>
            <a:off x="1485900" y="3886200"/>
            <a:ext cx="6931025"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Tree>
    <p:extLst>
      <p:ext uri="{BB962C8B-B14F-4D97-AF65-F5344CB8AC3E}">
        <p14:creationId xmlns:p14="http://schemas.microsoft.com/office/powerpoint/2010/main" val="3064543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3925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16925"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82638" y="2906713"/>
            <a:ext cx="841692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Tree>
    <p:extLst>
      <p:ext uri="{BB962C8B-B14F-4D97-AF65-F5344CB8AC3E}">
        <p14:creationId xmlns:p14="http://schemas.microsoft.com/office/powerpoint/2010/main" val="4208285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77850" y="1295400"/>
            <a:ext cx="4297363"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27613" y="1295400"/>
            <a:ext cx="4297362"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9742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2225"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95300" y="1535113"/>
            <a:ext cx="4375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95300" y="2174875"/>
            <a:ext cx="4375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030788" y="1535113"/>
            <a:ext cx="43767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30788" y="2174875"/>
            <a:ext cx="43767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578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871049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691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7550"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871913" y="273050"/>
            <a:ext cx="55356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95300" y="1435100"/>
            <a:ext cx="3257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730766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0425"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941513" y="612775"/>
            <a:ext cx="594042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042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19788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46447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18350" y="76200"/>
            <a:ext cx="2206625" cy="6248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95300" y="76200"/>
            <a:ext cx="6470650" cy="6248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069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5300" y="76200"/>
            <a:ext cx="8004175" cy="8382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577850" y="1295400"/>
            <a:ext cx="4297363"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27613" y="1295400"/>
            <a:ext cx="4297362"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4602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90972" y="31420"/>
            <a:ext cx="8004175" cy="6612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86916" y="1052736"/>
            <a:ext cx="9073008" cy="52718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5"/>
          <p:cNvSpPr>
            <a:spLocks noChangeArrowheads="1"/>
          </p:cNvSpPr>
          <p:nvPr/>
        </p:nvSpPr>
        <p:spPr bwMode="auto">
          <a:xfrm>
            <a:off x="7543800" y="6507163"/>
            <a:ext cx="2111375" cy="260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spAutoFit/>
          </a:bodyPr>
          <a:lstStyle/>
          <a:p>
            <a:pPr algn="r"/>
            <a:r>
              <a:rPr lang="en-US" sz="1100" dirty="0"/>
              <a:t>Tutorial 3  Slide </a:t>
            </a:r>
            <a:fld id="{57F91A35-46CD-A448-A1DD-87DEBD5690CD}" type="slidenum">
              <a:rPr lang="en-US" sz="1100"/>
              <a:pPr algn="r"/>
              <a:t>‹#›</a:t>
            </a:fld>
            <a:endParaRPr lang="en-US" sz="1100" dirty="0"/>
          </a:p>
        </p:txBody>
      </p:sp>
      <p:sp>
        <p:nvSpPr>
          <p:cNvPr id="3080" name="Text Box 8"/>
          <p:cNvSpPr txBox="1">
            <a:spLocks noChangeArrowheads="1"/>
          </p:cNvSpPr>
          <p:nvPr/>
        </p:nvSpPr>
        <p:spPr bwMode="auto">
          <a:xfrm>
            <a:off x="304564" y="6489700"/>
            <a:ext cx="1330814" cy="261610"/>
          </a:xfrm>
          <a:prstGeom prst="rect">
            <a:avLst/>
          </a:prstGeom>
          <a:noFill/>
          <a:ln w="12700">
            <a:noFill/>
            <a:miter lim="800000"/>
            <a:headEnd type="none" w="sm" len="sm"/>
            <a:tailEnd type="none" w="sm" len="sm"/>
          </a:ln>
          <a:effectLst/>
        </p:spPr>
        <p:txBody>
          <a:bodyPr wrap="none">
            <a:spAutoFit/>
          </a:bodyPr>
          <a:lstStyle>
            <a:lvl1pPr>
              <a:defRPr sz="3200">
                <a:solidFill>
                  <a:schemeClr val="tx1"/>
                </a:solidFill>
                <a:latin typeface="Arial" charset="0"/>
                <a:ea typeface="ＭＳ Ｐゴシック" charset="0"/>
                <a:cs typeface="ＭＳ Ｐゴシック" charset="0"/>
              </a:defRPr>
            </a:lvl1pPr>
            <a:lvl2pPr marL="37931725" indent="-37474525">
              <a:defRPr sz="3200">
                <a:solidFill>
                  <a:schemeClr val="tx1"/>
                </a:solidFill>
                <a:latin typeface="Arial" charset="0"/>
                <a:ea typeface="ＭＳ Ｐゴシック" charset="0"/>
              </a:defRPr>
            </a:lvl2pPr>
            <a:lvl3pPr>
              <a:defRPr sz="3200">
                <a:solidFill>
                  <a:schemeClr val="tx1"/>
                </a:solidFill>
                <a:latin typeface="Arial" charset="0"/>
                <a:ea typeface="ＭＳ Ｐゴシック" charset="0"/>
              </a:defRPr>
            </a:lvl3pPr>
            <a:lvl4pPr>
              <a:defRPr sz="3200">
                <a:solidFill>
                  <a:schemeClr val="tx1"/>
                </a:solidFill>
                <a:latin typeface="Arial" charset="0"/>
                <a:ea typeface="ＭＳ Ｐゴシック" charset="0"/>
              </a:defRPr>
            </a:lvl4pPr>
            <a:lvl5pPr>
              <a:defRPr sz="3200">
                <a:solidFill>
                  <a:schemeClr val="tx1"/>
                </a:solidFill>
                <a:latin typeface="Arial" charset="0"/>
                <a:ea typeface="ＭＳ Ｐゴシック" charset="0"/>
              </a:defRPr>
            </a:lvl5pPr>
            <a:lvl6pPr marL="457200" eaLnBrk="0" fontAlgn="base" hangingPunct="0">
              <a:spcBef>
                <a:spcPct val="0"/>
              </a:spcBef>
              <a:spcAft>
                <a:spcPct val="0"/>
              </a:spcAft>
              <a:defRPr sz="3200">
                <a:solidFill>
                  <a:schemeClr val="tx1"/>
                </a:solidFill>
                <a:latin typeface="Arial" charset="0"/>
                <a:ea typeface="ＭＳ Ｐゴシック" charset="0"/>
              </a:defRPr>
            </a:lvl6pPr>
            <a:lvl7pPr marL="914400" eaLnBrk="0" fontAlgn="base" hangingPunct="0">
              <a:spcBef>
                <a:spcPct val="0"/>
              </a:spcBef>
              <a:spcAft>
                <a:spcPct val="0"/>
              </a:spcAft>
              <a:defRPr sz="3200">
                <a:solidFill>
                  <a:schemeClr val="tx1"/>
                </a:solidFill>
                <a:latin typeface="Arial" charset="0"/>
                <a:ea typeface="ＭＳ Ｐゴシック" charset="0"/>
              </a:defRPr>
            </a:lvl7pPr>
            <a:lvl8pPr marL="1371600" eaLnBrk="0" fontAlgn="base" hangingPunct="0">
              <a:spcBef>
                <a:spcPct val="0"/>
              </a:spcBef>
              <a:spcAft>
                <a:spcPct val="0"/>
              </a:spcAft>
              <a:defRPr sz="3200">
                <a:solidFill>
                  <a:schemeClr val="tx1"/>
                </a:solidFill>
                <a:latin typeface="Arial" charset="0"/>
                <a:ea typeface="ＭＳ Ｐゴシック" charset="0"/>
              </a:defRPr>
            </a:lvl8pPr>
            <a:lvl9pPr marL="1828800" eaLnBrk="0" fontAlgn="base" hangingPunct="0">
              <a:spcBef>
                <a:spcPct val="0"/>
              </a:spcBef>
              <a:spcAft>
                <a:spcPct val="0"/>
              </a:spcAft>
              <a:defRPr sz="3200">
                <a:solidFill>
                  <a:schemeClr val="tx1"/>
                </a:solidFill>
                <a:latin typeface="Arial" charset="0"/>
                <a:ea typeface="ＭＳ Ｐゴシック" charset="0"/>
              </a:defRPr>
            </a:lvl9pPr>
          </a:lstStyle>
          <a:p>
            <a:pPr algn="ctr">
              <a:defRPr/>
            </a:pPr>
            <a:r>
              <a:rPr lang="en-US" sz="1100" dirty="0"/>
              <a:t>PYKC 5 Nov 2021</a:t>
            </a:r>
          </a:p>
        </p:txBody>
      </p:sp>
      <p:sp>
        <p:nvSpPr>
          <p:cNvPr id="1030" name="Rectangle 10"/>
          <p:cNvSpPr>
            <a:spLocks noChangeArrowheads="1"/>
          </p:cNvSpPr>
          <p:nvPr/>
        </p:nvSpPr>
        <p:spPr bwMode="auto">
          <a:xfrm>
            <a:off x="4038600" y="6519863"/>
            <a:ext cx="1720343"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p>
            <a:r>
              <a:rPr lang="en-US" sz="1100" dirty="0"/>
              <a:t>E2 Circuits and Systems</a:t>
            </a:r>
          </a:p>
        </p:txBody>
      </p:sp>
      <p:sp>
        <p:nvSpPr>
          <p:cNvPr id="1031" name="Rectangle 11"/>
          <p:cNvSpPr>
            <a:spLocks noChangeArrowheads="1"/>
          </p:cNvSpPr>
          <p:nvPr/>
        </p:nvSpPr>
        <p:spPr bwMode="auto">
          <a:xfrm>
            <a:off x="456406" y="692696"/>
            <a:ext cx="9132888" cy="76200"/>
          </a:xfrm>
          <a:prstGeom prst="rect">
            <a:avLst/>
          </a:prstGeom>
          <a:gradFill rotWithShape="0">
            <a:gsLst>
              <a:gs pos="0">
                <a:srgbClr val="591E00"/>
              </a:gs>
              <a:gs pos="100000">
                <a:srgbClr val="993300"/>
              </a:gs>
            </a:gsLst>
            <a:lin ang="0" scaled="1"/>
          </a:gra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1032" name="Line 12"/>
          <p:cNvSpPr>
            <a:spLocks noChangeShapeType="1"/>
          </p:cNvSpPr>
          <p:nvPr/>
        </p:nvSpPr>
        <p:spPr bwMode="auto">
          <a:xfrm>
            <a:off x="381000" y="6477000"/>
            <a:ext cx="9144000" cy="0"/>
          </a:xfrm>
          <a:prstGeom prst="line">
            <a:avLst/>
          </a:prstGeom>
          <a:noFill/>
          <a:ln w="38100">
            <a:solidFill>
              <a:srgbClr val="842C00"/>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ctr" rtl="0" eaLnBrk="0" fontAlgn="base" hangingPunct="0">
        <a:spcBef>
          <a:spcPct val="0"/>
        </a:spcBef>
        <a:spcAft>
          <a:spcPct val="0"/>
        </a:spcAft>
        <a:defRPr sz="2800" b="1">
          <a:solidFill>
            <a:schemeClr val="accent2"/>
          </a:solidFill>
          <a:latin typeface="Arial" charset="0"/>
        </a:defRPr>
      </a:lvl6pPr>
      <a:lvl7pPr marL="914400" algn="ctr" rtl="0" eaLnBrk="0" fontAlgn="base" hangingPunct="0">
        <a:spcBef>
          <a:spcPct val="0"/>
        </a:spcBef>
        <a:spcAft>
          <a:spcPct val="0"/>
        </a:spcAft>
        <a:defRPr sz="2800" b="1">
          <a:solidFill>
            <a:schemeClr val="accent2"/>
          </a:solidFill>
          <a:latin typeface="Arial" charset="0"/>
        </a:defRPr>
      </a:lvl7pPr>
      <a:lvl8pPr marL="1371600" algn="ctr" rtl="0" eaLnBrk="0" fontAlgn="base" hangingPunct="0">
        <a:spcBef>
          <a:spcPct val="0"/>
        </a:spcBef>
        <a:spcAft>
          <a:spcPct val="0"/>
        </a:spcAft>
        <a:defRPr sz="2800" b="1">
          <a:solidFill>
            <a:schemeClr val="accent2"/>
          </a:solidFill>
          <a:latin typeface="Arial" charset="0"/>
        </a:defRPr>
      </a:lvl8pPr>
      <a:lvl9pPr marL="1828800" algn="ctr" rtl="0" eaLnBrk="0" fontAlgn="base" hangingPunct="0">
        <a:spcBef>
          <a:spcPct val="0"/>
        </a:spcBef>
        <a:spcAft>
          <a:spcPct val="0"/>
        </a:spcAft>
        <a:defRPr sz="2800" b="1">
          <a:solidFill>
            <a:schemeClr val="accent2"/>
          </a:solidFill>
          <a:latin typeface="Arial" charset="0"/>
        </a:defRPr>
      </a:lvl9pPr>
    </p:titleStyle>
    <p:body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026"/>
          <p:cNvSpPr>
            <a:spLocks noGrp="1" noChangeArrowheads="1"/>
          </p:cNvSpPr>
          <p:nvPr>
            <p:ph type="title"/>
          </p:nvPr>
        </p:nvSpPr>
        <p:spPr>
          <a:xfrm>
            <a:off x="1422400" y="1700808"/>
            <a:ext cx="7200900" cy="1875656"/>
          </a:xfrm>
        </p:spPr>
        <p:txBody>
          <a:bodyPr/>
          <a:lstStyle/>
          <a:p>
            <a:r>
              <a:rPr lang="en-US" dirty="0">
                <a:latin typeface="Verdana" charset="0"/>
              </a:rPr>
              <a:t>EE2 Circuits and Systems</a:t>
            </a:r>
            <a:br>
              <a:rPr lang="en-US" dirty="0">
                <a:latin typeface="Verdana" charset="0"/>
              </a:rPr>
            </a:br>
            <a:br>
              <a:rPr lang="en-US" dirty="0">
                <a:latin typeface="Verdana" charset="0"/>
              </a:rPr>
            </a:br>
            <a:r>
              <a:rPr lang="en-US" sz="3200" dirty="0">
                <a:latin typeface="Verdana" charset="0"/>
              </a:rPr>
              <a:t>Problem Class 3 </a:t>
            </a:r>
            <a:br>
              <a:rPr lang="en-US" sz="3200" dirty="0">
                <a:latin typeface="Verdana" charset="0"/>
              </a:rPr>
            </a:br>
            <a:br>
              <a:rPr lang="en-US" sz="3200" dirty="0">
                <a:latin typeface="Verdana" charset="0"/>
              </a:rPr>
            </a:br>
            <a:r>
              <a:rPr lang="en-US" sz="3200" dirty="0">
                <a:latin typeface="Verdana" charset="0"/>
              </a:rPr>
              <a:t>Lab 1 &amp; 2 Explained</a:t>
            </a:r>
            <a:endParaRPr lang="en-US" sz="2000" dirty="0">
              <a:latin typeface="Verdana" charset="0"/>
            </a:endParaRPr>
          </a:p>
        </p:txBody>
      </p:sp>
      <p:sp>
        <p:nvSpPr>
          <p:cNvPr id="4098" name="Rectangle 1030"/>
          <p:cNvSpPr>
            <a:spLocks noChangeArrowheads="1"/>
          </p:cNvSpPr>
          <p:nvPr/>
        </p:nvSpPr>
        <p:spPr bwMode="auto">
          <a:xfrm>
            <a:off x="1631950" y="4653136"/>
            <a:ext cx="67818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algn="ctr"/>
            <a:r>
              <a:rPr lang="en-US" sz="1800" dirty="0">
                <a:solidFill>
                  <a:schemeClr val="accent2"/>
                </a:solidFill>
              </a:rPr>
              <a:t>Prof Peter Y. K. Cheung</a:t>
            </a:r>
            <a:br>
              <a:rPr lang="en-US" sz="1800" dirty="0">
                <a:solidFill>
                  <a:schemeClr val="accent2"/>
                </a:solidFill>
              </a:rPr>
            </a:br>
            <a:r>
              <a:rPr lang="en-US" sz="1800" dirty="0">
                <a:solidFill>
                  <a:schemeClr val="accent2"/>
                </a:solidFill>
              </a:rPr>
              <a:t>Imperial College London</a:t>
            </a:r>
            <a:endParaRPr lang="en-US" sz="2800" dirty="0">
              <a:solidFill>
                <a:schemeClr val="accent2"/>
              </a:solidFill>
            </a:endParaRPr>
          </a:p>
        </p:txBody>
      </p:sp>
      <p:sp>
        <p:nvSpPr>
          <p:cNvPr id="4099" name="Rectangle 1031"/>
          <p:cNvSpPr>
            <a:spLocks noChangeArrowheads="1"/>
          </p:cNvSpPr>
          <p:nvPr/>
        </p:nvSpPr>
        <p:spPr bwMode="auto">
          <a:xfrm>
            <a:off x="2209800" y="5638800"/>
            <a:ext cx="55626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nchor="ctr"/>
          <a:lstStyle/>
          <a:p>
            <a:pPr algn="ctr"/>
            <a:r>
              <a:rPr lang="en-US" sz="1800" dirty="0">
                <a:solidFill>
                  <a:schemeClr val="accent2"/>
                </a:solidFill>
              </a:rPr>
              <a:t>URL: </a:t>
            </a:r>
            <a:r>
              <a:rPr lang="en-US" sz="1800" dirty="0" err="1">
                <a:solidFill>
                  <a:schemeClr val="accent2"/>
                </a:solidFill>
              </a:rPr>
              <a:t>www.ee.ic.ac.uk</a:t>
            </a:r>
            <a:r>
              <a:rPr lang="en-US" sz="1800" dirty="0">
                <a:solidFill>
                  <a:schemeClr val="accent2"/>
                </a:solidFill>
              </a:rPr>
              <a:t>/</a:t>
            </a:r>
            <a:r>
              <a:rPr lang="en-US" sz="1800" dirty="0" err="1">
                <a:solidFill>
                  <a:schemeClr val="accent2"/>
                </a:solidFill>
              </a:rPr>
              <a:t>pcheung</a:t>
            </a:r>
            <a:r>
              <a:rPr lang="en-US" sz="1800">
                <a:solidFill>
                  <a:schemeClr val="accent2"/>
                </a:solidFill>
              </a:rPr>
              <a:t>/teaching/EE2_CAS</a:t>
            </a:r>
            <a:r>
              <a:rPr lang="en-US" sz="1800" dirty="0">
                <a:solidFill>
                  <a:schemeClr val="accent2"/>
                </a:solidFill>
              </a:rPr>
              <a:t>/</a:t>
            </a:r>
            <a:br>
              <a:rPr lang="en-US" sz="1800" dirty="0">
                <a:solidFill>
                  <a:schemeClr val="accent2"/>
                </a:solidFill>
              </a:rPr>
            </a:br>
            <a:r>
              <a:rPr lang="en-US" sz="1800" dirty="0">
                <a:solidFill>
                  <a:schemeClr val="accent2"/>
                </a:solidFill>
              </a:rPr>
              <a:t>E-mail: </a:t>
            </a:r>
            <a:r>
              <a:rPr lang="en-US" sz="1800" dirty="0" err="1">
                <a:solidFill>
                  <a:schemeClr val="accent2"/>
                </a:solidFill>
              </a:rPr>
              <a:t>p.cheung@imperial.ac.uk</a:t>
            </a:r>
            <a:endParaRPr lang="en-US" sz="1800" dirty="0">
              <a:solidFill>
                <a:schemeClr val="accent2"/>
              </a:solidFill>
            </a:endParaRPr>
          </a:p>
        </p:txBody>
      </p:sp>
      <p:pic>
        <p:nvPicPr>
          <p:cNvPr id="4100" name="Picture 7"/>
          <p:cNvPicPr>
            <a:picLocks noChangeAspect="1" noChangeArrowheads="1"/>
          </p:cNvPicPr>
          <p:nvPr/>
        </p:nvPicPr>
        <p:blipFill>
          <a:blip r:embed="rId3">
            <a:extLst>
              <a:ext uri="{28A0092B-C50C-407E-A947-70E740481C1C}">
                <a14:useLocalDpi xmlns:a14="http://schemas.microsoft.com/office/drawing/2010/main" val="0"/>
              </a:ext>
            </a:extLst>
          </a:blip>
          <a:srcRect l="6931" t="12744" b="12642"/>
          <a:stretch>
            <a:fillRect/>
          </a:stretch>
        </p:blipFill>
        <p:spPr bwMode="auto">
          <a:xfrm>
            <a:off x="399653" y="15046"/>
            <a:ext cx="2195641" cy="67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745535" cy="531813"/>
          </a:xfrm>
          <a:noFill/>
        </p:spPr>
        <p:txBody>
          <a:bodyPr/>
          <a:lstStyle/>
          <a:p>
            <a:r>
              <a:rPr lang="en-GB" dirty="0">
                <a:latin typeface="Arial" charset="0"/>
              </a:rPr>
              <a:t>Task 1 </a:t>
            </a:r>
            <a:r>
              <a:rPr lang="mr-IN" dirty="0">
                <a:latin typeface="Arial" charset="0"/>
              </a:rPr>
              <a:t>–</a:t>
            </a:r>
            <a:r>
              <a:rPr lang="en-GB" dirty="0">
                <a:latin typeface="Arial" charset="0"/>
              </a:rPr>
              <a:t> Output impedance of PicoScope SigGen</a:t>
            </a:r>
          </a:p>
        </p:txBody>
      </p:sp>
      <p:pic>
        <p:nvPicPr>
          <p:cNvPr id="2" name="Picture 1">
            <a:extLst>
              <a:ext uri="{FF2B5EF4-FFF2-40B4-BE49-F238E27FC236}">
                <a16:creationId xmlns:a16="http://schemas.microsoft.com/office/drawing/2014/main" id="{622B3256-46FB-6F44-B1A7-C30AA7D3859F}"/>
              </a:ext>
            </a:extLst>
          </p:cNvPr>
          <p:cNvPicPr>
            <a:picLocks noChangeAspect="1"/>
          </p:cNvPicPr>
          <p:nvPr/>
        </p:nvPicPr>
        <p:blipFill>
          <a:blip r:embed="rId3"/>
          <a:stretch>
            <a:fillRect/>
          </a:stretch>
        </p:blipFill>
        <p:spPr>
          <a:xfrm>
            <a:off x="543276" y="1283781"/>
            <a:ext cx="3816424" cy="2113300"/>
          </a:xfrm>
          <a:prstGeom prst="rect">
            <a:avLst/>
          </a:prstGeom>
        </p:spPr>
      </p:pic>
      <p:pic>
        <p:nvPicPr>
          <p:cNvPr id="3" name="Picture 2">
            <a:extLst>
              <a:ext uri="{FF2B5EF4-FFF2-40B4-BE49-F238E27FC236}">
                <a16:creationId xmlns:a16="http://schemas.microsoft.com/office/drawing/2014/main" id="{CE5901AC-465E-A04E-8BCD-7D4199CF3FAE}"/>
              </a:ext>
            </a:extLst>
          </p:cNvPr>
          <p:cNvPicPr>
            <a:picLocks noChangeAspect="1"/>
          </p:cNvPicPr>
          <p:nvPr/>
        </p:nvPicPr>
        <p:blipFill>
          <a:blip r:embed="rId4"/>
          <a:stretch>
            <a:fillRect/>
          </a:stretch>
        </p:blipFill>
        <p:spPr>
          <a:xfrm>
            <a:off x="1062980" y="3907989"/>
            <a:ext cx="7313520" cy="1666230"/>
          </a:xfrm>
          <a:prstGeom prst="rect">
            <a:avLst/>
          </a:prstGeom>
        </p:spPr>
      </p:pic>
      <p:pic>
        <p:nvPicPr>
          <p:cNvPr id="38" name="Picture 37">
            <a:extLst>
              <a:ext uri="{FF2B5EF4-FFF2-40B4-BE49-F238E27FC236}">
                <a16:creationId xmlns:a16="http://schemas.microsoft.com/office/drawing/2014/main" id="{FA22302F-A331-934B-8E0A-6100E6F3F74B}"/>
              </a:ext>
            </a:extLst>
          </p:cNvPr>
          <p:cNvPicPr>
            <a:picLocks noChangeAspect="1"/>
          </p:cNvPicPr>
          <p:nvPr/>
        </p:nvPicPr>
        <p:blipFill>
          <a:blip r:embed="rId5"/>
          <a:stretch>
            <a:fillRect/>
          </a:stretch>
        </p:blipFill>
        <p:spPr>
          <a:xfrm>
            <a:off x="4447356" y="2001780"/>
            <a:ext cx="599186" cy="1003934"/>
          </a:xfrm>
          <a:prstGeom prst="rect">
            <a:avLst/>
          </a:prstGeom>
        </p:spPr>
      </p:pic>
      <p:pic>
        <p:nvPicPr>
          <p:cNvPr id="39" name="Picture 38">
            <a:extLst>
              <a:ext uri="{FF2B5EF4-FFF2-40B4-BE49-F238E27FC236}">
                <a16:creationId xmlns:a16="http://schemas.microsoft.com/office/drawing/2014/main" id="{19C0050E-77B0-7C47-B0CD-E4F96C9E9E9A}"/>
              </a:ext>
            </a:extLst>
          </p:cNvPr>
          <p:cNvPicPr>
            <a:picLocks noChangeAspect="1"/>
          </p:cNvPicPr>
          <p:nvPr/>
        </p:nvPicPr>
        <p:blipFill>
          <a:blip r:embed="rId6"/>
          <a:stretch>
            <a:fillRect/>
          </a:stretch>
        </p:blipFill>
        <p:spPr>
          <a:xfrm rot="16200000">
            <a:off x="4018217" y="2511937"/>
            <a:ext cx="163589" cy="916959"/>
          </a:xfrm>
          <a:prstGeom prst="rect">
            <a:avLst/>
          </a:prstGeom>
        </p:spPr>
      </p:pic>
      <p:pic>
        <p:nvPicPr>
          <p:cNvPr id="40" name="Picture 39">
            <a:extLst>
              <a:ext uri="{FF2B5EF4-FFF2-40B4-BE49-F238E27FC236}">
                <a16:creationId xmlns:a16="http://schemas.microsoft.com/office/drawing/2014/main" id="{31B8B8DC-F575-A941-9D54-515BE8A03602}"/>
              </a:ext>
            </a:extLst>
          </p:cNvPr>
          <p:cNvPicPr>
            <a:picLocks noChangeAspect="1"/>
          </p:cNvPicPr>
          <p:nvPr/>
        </p:nvPicPr>
        <p:blipFill>
          <a:blip r:embed="rId7"/>
          <a:stretch>
            <a:fillRect/>
          </a:stretch>
        </p:blipFill>
        <p:spPr>
          <a:xfrm rot="5400000" flipV="1">
            <a:off x="3980543" y="1535057"/>
            <a:ext cx="161648" cy="869822"/>
          </a:xfrm>
          <a:prstGeom prst="rect">
            <a:avLst/>
          </a:prstGeom>
        </p:spPr>
      </p:pic>
      <p:grpSp>
        <p:nvGrpSpPr>
          <p:cNvPr id="41" name="Group 40">
            <a:extLst>
              <a:ext uri="{FF2B5EF4-FFF2-40B4-BE49-F238E27FC236}">
                <a16:creationId xmlns:a16="http://schemas.microsoft.com/office/drawing/2014/main" id="{36832822-5D4F-0045-B45A-55DAE554B612}"/>
              </a:ext>
            </a:extLst>
          </p:cNvPr>
          <p:cNvGrpSpPr/>
          <p:nvPr/>
        </p:nvGrpSpPr>
        <p:grpSpPr>
          <a:xfrm>
            <a:off x="5276687" y="1384460"/>
            <a:ext cx="4310619" cy="2238573"/>
            <a:chOff x="2949192" y="3982462"/>
            <a:chExt cx="4310619" cy="2238573"/>
          </a:xfrm>
        </p:grpSpPr>
        <p:cxnSp>
          <p:nvCxnSpPr>
            <p:cNvPr id="42" name="Straight Connector 41">
              <a:extLst>
                <a:ext uri="{FF2B5EF4-FFF2-40B4-BE49-F238E27FC236}">
                  <a16:creationId xmlns:a16="http://schemas.microsoft.com/office/drawing/2014/main" id="{4E0D6FBC-1C6B-574D-8FDD-52D17630978D}"/>
                </a:ext>
              </a:extLst>
            </p:cNvPr>
            <p:cNvCxnSpPr/>
            <p:nvPr/>
          </p:nvCxnSpPr>
          <p:spPr>
            <a:xfrm>
              <a:off x="3413361" y="4319408"/>
              <a:ext cx="0" cy="159385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B35E6AF-9F20-E84E-A86C-3C4764A9FEF9}"/>
                </a:ext>
              </a:extLst>
            </p:cNvPr>
            <p:cNvCxnSpPr>
              <a:cxnSpLocks/>
            </p:cNvCxnSpPr>
            <p:nvPr/>
          </p:nvCxnSpPr>
          <p:spPr>
            <a:xfrm>
              <a:off x="3413605" y="5919608"/>
              <a:ext cx="2126762" cy="0"/>
            </a:xfrm>
            <a:prstGeom prst="line">
              <a:avLst/>
            </a:prstGeom>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02A245A2-1F9C-0549-B547-729F5BD23B7E}"/>
                </a:ext>
              </a:extLst>
            </p:cNvPr>
            <p:cNvSpPr txBox="1"/>
            <p:nvPr/>
          </p:nvSpPr>
          <p:spPr>
            <a:xfrm>
              <a:off x="5005866" y="5913258"/>
              <a:ext cx="1745158" cy="307777"/>
            </a:xfrm>
            <a:prstGeom prst="rect">
              <a:avLst/>
            </a:prstGeom>
            <a:noFill/>
          </p:spPr>
          <p:txBody>
            <a:bodyPr wrap="none" rtlCol="0">
              <a:spAutoFit/>
            </a:bodyPr>
            <a:lstStyle/>
            <a:p>
              <a:pPr algn="ctr"/>
              <a:r>
                <a:rPr lang="en-US" sz="1400" dirty="0"/>
                <a:t>Iout  (output current)</a:t>
              </a:r>
            </a:p>
          </p:txBody>
        </p:sp>
        <p:sp>
          <p:nvSpPr>
            <p:cNvPr id="45" name="TextBox 44">
              <a:extLst>
                <a:ext uri="{FF2B5EF4-FFF2-40B4-BE49-F238E27FC236}">
                  <a16:creationId xmlns:a16="http://schemas.microsoft.com/office/drawing/2014/main" id="{160DD9B2-30DF-C148-A09F-BFC30402636D}"/>
                </a:ext>
              </a:extLst>
            </p:cNvPr>
            <p:cNvSpPr txBox="1"/>
            <p:nvPr/>
          </p:nvSpPr>
          <p:spPr>
            <a:xfrm>
              <a:off x="3112124" y="3982462"/>
              <a:ext cx="352982" cy="307777"/>
            </a:xfrm>
            <a:prstGeom prst="rect">
              <a:avLst/>
            </a:prstGeom>
            <a:noFill/>
          </p:spPr>
          <p:txBody>
            <a:bodyPr wrap="none" rtlCol="0">
              <a:spAutoFit/>
            </a:bodyPr>
            <a:lstStyle/>
            <a:p>
              <a:pPr algn="ctr"/>
              <a:r>
                <a:rPr lang="en-US" sz="1400" dirty="0"/>
                <a:t>Rs</a:t>
              </a:r>
            </a:p>
          </p:txBody>
        </p:sp>
        <p:grpSp>
          <p:nvGrpSpPr>
            <p:cNvPr id="46" name="Group 45">
              <a:extLst>
                <a:ext uri="{FF2B5EF4-FFF2-40B4-BE49-F238E27FC236}">
                  <a16:creationId xmlns:a16="http://schemas.microsoft.com/office/drawing/2014/main" id="{E54B869A-5C05-A346-9C7C-BC8591F5A0C8}"/>
                </a:ext>
              </a:extLst>
            </p:cNvPr>
            <p:cNvGrpSpPr/>
            <p:nvPr/>
          </p:nvGrpSpPr>
          <p:grpSpPr>
            <a:xfrm>
              <a:off x="3331755" y="4847300"/>
              <a:ext cx="133351" cy="129912"/>
              <a:chOff x="7315200" y="3635637"/>
              <a:chExt cx="463553" cy="487001"/>
            </a:xfrm>
          </p:grpSpPr>
          <p:cxnSp>
            <p:nvCxnSpPr>
              <p:cNvPr id="74" name="Straight Connector 73">
                <a:extLst>
                  <a:ext uri="{FF2B5EF4-FFF2-40B4-BE49-F238E27FC236}">
                    <a16:creationId xmlns:a16="http://schemas.microsoft.com/office/drawing/2014/main" id="{617A1663-B137-B842-B376-7855E95266BE}"/>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387496D-EE30-8845-8027-4E1809DF9E34}"/>
                  </a:ext>
                </a:extLst>
              </p:cNvPr>
              <p:cNvCxnSpPr>
                <a:cxnSpLocks/>
              </p:cNvCxnSpPr>
              <p:nvPr/>
            </p:nvCxnSpPr>
            <p:spPr>
              <a:xfrm flipH="1">
                <a:off x="7315203"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838F4A1B-9652-5347-AA2A-5DB7A67CA5E8}"/>
                </a:ext>
              </a:extLst>
            </p:cNvPr>
            <p:cNvGrpSpPr/>
            <p:nvPr/>
          </p:nvGrpSpPr>
          <p:grpSpPr>
            <a:xfrm>
              <a:off x="3887788" y="4794650"/>
              <a:ext cx="133351" cy="129912"/>
              <a:chOff x="7315200" y="3635637"/>
              <a:chExt cx="463553" cy="487001"/>
            </a:xfrm>
          </p:grpSpPr>
          <p:cxnSp>
            <p:nvCxnSpPr>
              <p:cNvPr id="70" name="Straight Connector 69">
                <a:extLst>
                  <a:ext uri="{FF2B5EF4-FFF2-40B4-BE49-F238E27FC236}">
                    <a16:creationId xmlns:a16="http://schemas.microsoft.com/office/drawing/2014/main" id="{4B96753D-FFF7-0148-BF84-FCC435539D39}"/>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F17AAF32-2A2A-9A4D-A3D8-46A2B27FA326}"/>
                  </a:ext>
                </a:extLst>
              </p:cNvPr>
              <p:cNvCxnSpPr>
                <a:cxnSpLocks/>
              </p:cNvCxnSpPr>
              <p:nvPr/>
            </p:nvCxnSpPr>
            <p:spPr>
              <a:xfrm flipH="1">
                <a:off x="7315203"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48" name="Group 47">
              <a:extLst>
                <a:ext uri="{FF2B5EF4-FFF2-40B4-BE49-F238E27FC236}">
                  <a16:creationId xmlns:a16="http://schemas.microsoft.com/office/drawing/2014/main" id="{3DF340B8-EBAA-FA4F-BEA4-F1F9FA951C0C}"/>
                </a:ext>
              </a:extLst>
            </p:cNvPr>
            <p:cNvGrpSpPr/>
            <p:nvPr/>
          </p:nvGrpSpPr>
          <p:grpSpPr>
            <a:xfrm>
              <a:off x="4466115" y="4695643"/>
              <a:ext cx="133350" cy="129912"/>
              <a:chOff x="7315200" y="3635637"/>
              <a:chExt cx="463550" cy="487001"/>
            </a:xfrm>
          </p:grpSpPr>
          <p:cxnSp>
            <p:nvCxnSpPr>
              <p:cNvPr id="68" name="Straight Connector 67">
                <a:extLst>
                  <a:ext uri="{FF2B5EF4-FFF2-40B4-BE49-F238E27FC236}">
                    <a16:creationId xmlns:a16="http://schemas.microsoft.com/office/drawing/2014/main" id="{33A07227-8A27-FF42-9CB6-79EDBEEAA7EC}"/>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BAF1ED9-9FE4-4142-8085-118C11B99A49}"/>
                  </a:ext>
                </a:extLst>
              </p:cNvPr>
              <p:cNvCxnSpPr>
                <a:cxnSpLocks/>
              </p:cNvCxnSpPr>
              <p:nvPr/>
            </p:nvCxnSpPr>
            <p:spPr>
              <a:xfrm flipH="1">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77214751-0DEA-6446-A357-A33B7B71F91A}"/>
                </a:ext>
              </a:extLst>
            </p:cNvPr>
            <p:cNvGrpSpPr/>
            <p:nvPr/>
          </p:nvGrpSpPr>
          <p:grpSpPr>
            <a:xfrm>
              <a:off x="5001568" y="4339385"/>
              <a:ext cx="133350" cy="129912"/>
              <a:chOff x="7315200" y="3635637"/>
              <a:chExt cx="463550" cy="487001"/>
            </a:xfrm>
          </p:grpSpPr>
          <p:cxnSp>
            <p:nvCxnSpPr>
              <p:cNvPr id="66" name="Straight Connector 65">
                <a:extLst>
                  <a:ext uri="{FF2B5EF4-FFF2-40B4-BE49-F238E27FC236}">
                    <a16:creationId xmlns:a16="http://schemas.microsoft.com/office/drawing/2014/main" id="{ED13C3AA-C045-8144-B563-109A676202B8}"/>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C727DB0F-16F0-DF4C-9084-D8AB61272187}"/>
                  </a:ext>
                </a:extLst>
              </p:cNvPr>
              <p:cNvCxnSpPr>
                <a:cxnSpLocks/>
              </p:cNvCxnSpPr>
              <p:nvPr/>
            </p:nvCxnSpPr>
            <p:spPr>
              <a:xfrm flipH="1">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50" name="Straight Connector 49">
              <a:extLst>
                <a:ext uri="{FF2B5EF4-FFF2-40B4-BE49-F238E27FC236}">
                  <a16:creationId xmlns:a16="http://schemas.microsoft.com/office/drawing/2014/main" id="{1A4F9B90-6D42-034F-AB59-CE2110B63ACD}"/>
                </a:ext>
              </a:extLst>
            </p:cNvPr>
            <p:cNvCxnSpPr>
              <a:cxnSpLocks/>
            </p:cNvCxnSpPr>
            <p:nvPr/>
          </p:nvCxnSpPr>
          <p:spPr>
            <a:xfrm flipH="1">
              <a:off x="3434672" y="4913510"/>
              <a:ext cx="1861098" cy="0"/>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284187D0-C1E1-8848-9374-9F3B43A63F89}"/>
                </a:ext>
              </a:extLst>
            </p:cNvPr>
            <p:cNvSpPr txBox="1"/>
            <p:nvPr/>
          </p:nvSpPr>
          <p:spPr>
            <a:xfrm>
              <a:off x="2949192" y="4773756"/>
              <a:ext cx="341760" cy="276999"/>
            </a:xfrm>
            <a:prstGeom prst="rect">
              <a:avLst/>
            </a:prstGeom>
            <a:noFill/>
          </p:spPr>
          <p:txBody>
            <a:bodyPr wrap="none" rtlCol="0">
              <a:spAutoFit/>
            </a:bodyPr>
            <a:lstStyle/>
            <a:p>
              <a:pPr algn="ctr"/>
              <a:r>
                <a:rPr lang="en-US" sz="1200" dirty="0"/>
                <a:t>40</a:t>
              </a:r>
            </a:p>
          </p:txBody>
        </p:sp>
        <p:sp>
          <p:nvSpPr>
            <p:cNvPr id="52" name="TextBox 51">
              <a:extLst>
                <a:ext uri="{FF2B5EF4-FFF2-40B4-BE49-F238E27FC236}">
                  <a16:creationId xmlns:a16="http://schemas.microsoft.com/office/drawing/2014/main" id="{5FFE84ED-51D6-124A-BE55-BBB0964F590A}"/>
                </a:ext>
              </a:extLst>
            </p:cNvPr>
            <p:cNvSpPr txBox="1"/>
            <p:nvPr/>
          </p:nvSpPr>
          <p:spPr>
            <a:xfrm>
              <a:off x="5708681" y="4747217"/>
              <a:ext cx="1551130" cy="307777"/>
            </a:xfrm>
            <a:prstGeom prst="rect">
              <a:avLst/>
            </a:prstGeom>
            <a:noFill/>
          </p:spPr>
          <p:txBody>
            <a:bodyPr wrap="none" rtlCol="0">
              <a:spAutoFit/>
            </a:bodyPr>
            <a:lstStyle/>
            <a:p>
              <a:pPr algn="ctr"/>
              <a:r>
                <a:rPr lang="en-US" sz="1400" dirty="0"/>
                <a:t>Ideal – constant Rs</a:t>
              </a:r>
            </a:p>
          </p:txBody>
        </p:sp>
        <p:cxnSp>
          <p:nvCxnSpPr>
            <p:cNvPr id="53" name="Straight Arrow Connector 52">
              <a:extLst>
                <a:ext uri="{FF2B5EF4-FFF2-40B4-BE49-F238E27FC236}">
                  <a16:creationId xmlns:a16="http://schemas.microsoft.com/office/drawing/2014/main" id="{AB5543D6-52EF-0D45-8D11-F1DEE37912D8}"/>
                </a:ext>
              </a:extLst>
            </p:cNvPr>
            <p:cNvCxnSpPr>
              <a:cxnSpLocks/>
            </p:cNvCxnSpPr>
            <p:nvPr/>
          </p:nvCxnSpPr>
          <p:spPr>
            <a:xfrm flipH="1">
              <a:off x="5318445" y="4913016"/>
              <a:ext cx="404369" cy="1350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37617D32-D521-5F4D-AD6E-E47E963D5B09}"/>
                </a:ext>
              </a:extLst>
            </p:cNvPr>
            <p:cNvSpPr txBox="1"/>
            <p:nvPr/>
          </p:nvSpPr>
          <p:spPr>
            <a:xfrm>
              <a:off x="4324597" y="4091089"/>
              <a:ext cx="647934" cy="307777"/>
            </a:xfrm>
            <a:prstGeom prst="rect">
              <a:avLst/>
            </a:prstGeom>
            <a:noFill/>
          </p:spPr>
          <p:txBody>
            <a:bodyPr wrap="none" rtlCol="0">
              <a:spAutoFit/>
            </a:bodyPr>
            <a:lstStyle/>
            <a:p>
              <a:pPr algn="ctr"/>
              <a:r>
                <a:rPr lang="en-US" sz="1400" dirty="0"/>
                <a:t>Actual</a:t>
              </a:r>
            </a:p>
          </p:txBody>
        </p:sp>
        <p:cxnSp>
          <p:nvCxnSpPr>
            <p:cNvPr id="55" name="Straight Arrow Connector 54">
              <a:extLst>
                <a:ext uri="{FF2B5EF4-FFF2-40B4-BE49-F238E27FC236}">
                  <a16:creationId xmlns:a16="http://schemas.microsoft.com/office/drawing/2014/main" id="{C27C1CB3-7C31-CF45-BC1C-696603534B28}"/>
                </a:ext>
              </a:extLst>
            </p:cNvPr>
            <p:cNvCxnSpPr>
              <a:cxnSpLocks/>
            </p:cNvCxnSpPr>
            <p:nvPr/>
          </p:nvCxnSpPr>
          <p:spPr>
            <a:xfrm>
              <a:off x="4732385" y="4350534"/>
              <a:ext cx="264761" cy="6430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082EE310-A2FD-F04B-B68D-73D28FCD9CD0}"/>
                </a:ext>
              </a:extLst>
            </p:cNvPr>
            <p:cNvCxnSpPr>
              <a:cxnSpLocks/>
            </p:cNvCxnSpPr>
            <p:nvPr/>
          </p:nvCxnSpPr>
          <p:spPr>
            <a:xfrm flipH="1">
              <a:off x="4532790" y="4369250"/>
              <a:ext cx="134056" cy="37351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57" name="Group 56">
              <a:extLst>
                <a:ext uri="{FF2B5EF4-FFF2-40B4-BE49-F238E27FC236}">
                  <a16:creationId xmlns:a16="http://schemas.microsoft.com/office/drawing/2014/main" id="{3184A724-6B98-AE45-A23A-9050F89C2CB3}"/>
                </a:ext>
              </a:extLst>
            </p:cNvPr>
            <p:cNvGrpSpPr/>
            <p:nvPr/>
          </p:nvGrpSpPr>
          <p:grpSpPr>
            <a:xfrm>
              <a:off x="3607188" y="4853650"/>
              <a:ext cx="133351" cy="129912"/>
              <a:chOff x="7315200" y="3635637"/>
              <a:chExt cx="463553" cy="487001"/>
            </a:xfrm>
          </p:grpSpPr>
          <p:cxnSp>
            <p:nvCxnSpPr>
              <p:cNvPr id="64" name="Straight Connector 63">
                <a:extLst>
                  <a:ext uri="{FF2B5EF4-FFF2-40B4-BE49-F238E27FC236}">
                    <a16:creationId xmlns:a16="http://schemas.microsoft.com/office/drawing/2014/main" id="{5A3C086C-E990-1843-9532-737346EA3E59}"/>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1DCAA9A4-017C-7C4A-97FC-C6E82C3385F7}"/>
                  </a:ext>
                </a:extLst>
              </p:cNvPr>
              <p:cNvCxnSpPr>
                <a:cxnSpLocks/>
              </p:cNvCxnSpPr>
              <p:nvPr/>
            </p:nvCxnSpPr>
            <p:spPr>
              <a:xfrm flipH="1">
                <a:off x="7315203"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9AB75271-4912-8144-86F9-8109C2F41ED6}"/>
                </a:ext>
              </a:extLst>
            </p:cNvPr>
            <p:cNvGrpSpPr/>
            <p:nvPr/>
          </p:nvGrpSpPr>
          <p:grpSpPr>
            <a:xfrm>
              <a:off x="4177828" y="4739621"/>
              <a:ext cx="133350" cy="129912"/>
              <a:chOff x="7315200" y="3635637"/>
              <a:chExt cx="463550" cy="487001"/>
            </a:xfrm>
          </p:grpSpPr>
          <p:cxnSp>
            <p:nvCxnSpPr>
              <p:cNvPr id="62" name="Straight Connector 61">
                <a:extLst>
                  <a:ext uri="{FF2B5EF4-FFF2-40B4-BE49-F238E27FC236}">
                    <a16:creationId xmlns:a16="http://schemas.microsoft.com/office/drawing/2014/main" id="{CAD4D65D-6B81-E049-8D31-8CC23E38EB91}"/>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58FBB1E9-6EFB-994F-A5B6-372C1B812157}"/>
                  </a:ext>
                </a:extLst>
              </p:cNvPr>
              <p:cNvCxnSpPr>
                <a:cxnSpLocks/>
              </p:cNvCxnSpPr>
              <p:nvPr/>
            </p:nvCxnSpPr>
            <p:spPr>
              <a:xfrm flipH="1">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B7736396-EB4F-B142-ABB7-BDAC48033EB2}"/>
                </a:ext>
              </a:extLst>
            </p:cNvPr>
            <p:cNvGrpSpPr/>
            <p:nvPr/>
          </p:nvGrpSpPr>
          <p:grpSpPr>
            <a:xfrm>
              <a:off x="4731415" y="4526276"/>
              <a:ext cx="133350" cy="129912"/>
              <a:chOff x="7315200" y="3635637"/>
              <a:chExt cx="463550" cy="487001"/>
            </a:xfrm>
          </p:grpSpPr>
          <p:cxnSp>
            <p:nvCxnSpPr>
              <p:cNvPr id="60" name="Straight Connector 59">
                <a:extLst>
                  <a:ext uri="{FF2B5EF4-FFF2-40B4-BE49-F238E27FC236}">
                    <a16:creationId xmlns:a16="http://schemas.microsoft.com/office/drawing/2014/main" id="{757CC745-EA2F-C640-9889-D8A3F69CF080}"/>
                  </a:ext>
                </a:extLst>
              </p:cNvPr>
              <p:cNvCxnSpPr>
                <a:cxnSpLocks/>
              </p:cNvCxnSpPr>
              <p:nvPr/>
            </p:nvCxnSpPr>
            <p:spPr>
              <a:xfrm>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35141526-0F71-FE46-AFE2-CE5AA9DE0276}"/>
                  </a:ext>
                </a:extLst>
              </p:cNvPr>
              <p:cNvCxnSpPr>
                <a:cxnSpLocks/>
              </p:cNvCxnSpPr>
              <p:nvPr/>
            </p:nvCxnSpPr>
            <p:spPr>
              <a:xfrm flipH="1">
                <a:off x="7315200" y="3635637"/>
                <a:ext cx="463550" cy="48700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sp>
        <p:nvSpPr>
          <p:cNvPr id="7" name="Rectangle 6">
            <a:extLst>
              <a:ext uri="{FF2B5EF4-FFF2-40B4-BE49-F238E27FC236}">
                <a16:creationId xmlns:a16="http://schemas.microsoft.com/office/drawing/2014/main" id="{83FA397A-B07A-8F49-9FB9-094271C510B8}"/>
              </a:ext>
            </a:extLst>
          </p:cNvPr>
          <p:cNvSpPr/>
          <p:nvPr/>
        </p:nvSpPr>
        <p:spPr bwMode="auto">
          <a:xfrm>
            <a:off x="5276687" y="2132855"/>
            <a:ext cx="266440" cy="319897"/>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484209963"/>
      </p:ext>
    </p:extLst>
  </p:cSld>
  <p:clrMapOvr>
    <a:masterClrMapping/>
  </p:clrMapOvr>
  <p:transition>
    <p:checke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3B27D4-592B-294A-A800-7D236C1739EC}"/>
              </a:ext>
            </a:extLst>
          </p:cNvPr>
          <p:cNvPicPr>
            <a:picLocks noChangeAspect="1"/>
          </p:cNvPicPr>
          <p:nvPr/>
        </p:nvPicPr>
        <p:blipFill>
          <a:blip r:embed="rId3"/>
          <a:stretch>
            <a:fillRect/>
          </a:stretch>
        </p:blipFill>
        <p:spPr>
          <a:xfrm>
            <a:off x="115972" y="1844824"/>
            <a:ext cx="9902825" cy="3967725"/>
          </a:xfrm>
          <a:prstGeom prst="rect">
            <a:avLst/>
          </a:prstGeom>
        </p:spPr>
      </p:pic>
      <p:pic>
        <p:nvPicPr>
          <p:cNvPr id="39" name="Picture 38"/>
          <p:cNvPicPr>
            <a:picLocks noChangeAspect="1"/>
          </p:cNvPicPr>
          <p:nvPr/>
        </p:nvPicPr>
        <p:blipFill>
          <a:blip r:embed="rId4"/>
          <a:stretch>
            <a:fillRect/>
          </a:stretch>
        </p:blipFill>
        <p:spPr>
          <a:xfrm>
            <a:off x="630932" y="1556792"/>
            <a:ext cx="2953369" cy="1594954"/>
          </a:xfrm>
          <a:prstGeom prst="rect">
            <a:avLst/>
          </a:prstGeom>
        </p:spPr>
      </p:pic>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2 </a:t>
            </a:r>
            <a:r>
              <a:rPr lang="mr-IN" dirty="0">
                <a:latin typeface="Arial" charset="0"/>
              </a:rPr>
              <a:t>–</a:t>
            </a:r>
            <a:r>
              <a:rPr lang="en-GB" dirty="0">
                <a:latin typeface="Arial" charset="0"/>
              </a:rPr>
              <a:t> Using a Unity Gain Amplifier (2)</a:t>
            </a:r>
          </a:p>
        </p:txBody>
      </p:sp>
      <p:sp>
        <p:nvSpPr>
          <p:cNvPr id="31" name="Rectangle 3"/>
          <p:cNvSpPr txBox="1">
            <a:spLocks noChangeArrowheads="1"/>
          </p:cNvSpPr>
          <p:nvPr/>
        </p:nvSpPr>
        <p:spPr bwMode="auto">
          <a:xfrm>
            <a:off x="494877" y="826188"/>
            <a:ext cx="9145016" cy="4320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Add R3 (200k) </a:t>
            </a:r>
            <a:r>
              <a:rPr lang="mr-IN" dirty="0"/>
              <a:t>–</a:t>
            </a:r>
            <a:r>
              <a:rPr lang="en-GB" dirty="0"/>
              <a:t> makes no difference, but ready for Task 3 </a:t>
            </a:r>
          </a:p>
        </p:txBody>
      </p:sp>
    </p:spTree>
    <p:extLst>
      <p:ext uri="{BB962C8B-B14F-4D97-AF65-F5344CB8AC3E}">
        <p14:creationId xmlns:p14="http://schemas.microsoft.com/office/powerpoint/2010/main" val="451911613"/>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3 </a:t>
            </a:r>
            <a:r>
              <a:rPr lang="mr-IN" dirty="0">
                <a:latin typeface="Arial" charset="0"/>
              </a:rPr>
              <a:t>–</a:t>
            </a:r>
            <a:r>
              <a:rPr lang="en-GB" dirty="0">
                <a:latin typeface="Arial" charset="0"/>
              </a:rPr>
              <a:t> x4 Amplifier Failure (1)</a:t>
            </a:r>
          </a:p>
        </p:txBody>
      </p:sp>
      <p:sp>
        <p:nvSpPr>
          <p:cNvPr id="10" name="Rectangle 3"/>
          <p:cNvSpPr txBox="1">
            <a:spLocks noChangeArrowheads="1"/>
          </p:cNvSpPr>
          <p:nvPr/>
        </p:nvSpPr>
        <p:spPr bwMode="auto">
          <a:xfrm>
            <a:off x="414908" y="836712"/>
            <a:ext cx="9145016" cy="12961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Add R4.  The gain of the amplifier should be x4.</a:t>
            </a:r>
          </a:p>
          <a:p>
            <a:r>
              <a:rPr lang="en-GB" dirty="0"/>
              <a:t>However, you will see that V</a:t>
            </a:r>
            <a:r>
              <a:rPr lang="en-GB" baseline="-25000" dirty="0"/>
              <a:t>1</a:t>
            </a:r>
            <a:r>
              <a:rPr lang="en-GB" dirty="0"/>
              <a:t> shows a sine wave with top of it “clipped”.</a:t>
            </a:r>
          </a:p>
        </p:txBody>
      </p:sp>
      <p:pic>
        <p:nvPicPr>
          <p:cNvPr id="2" name="Picture 1">
            <a:extLst>
              <a:ext uri="{FF2B5EF4-FFF2-40B4-BE49-F238E27FC236}">
                <a16:creationId xmlns:a16="http://schemas.microsoft.com/office/drawing/2014/main" id="{20A0D5DE-82DF-1D42-B2F4-90588234524C}"/>
              </a:ext>
            </a:extLst>
          </p:cNvPr>
          <p:cNvPicPr>
            <a:picLocks noChangeAspect="1"/>
          </p:cNvPicPr>
          <p:nvPr/>
        </p:nvPicPr>
        <p:blipFill>
          <a:blip r:embed="rId3"/>
          <a:stretch>
            <a:fillRect/>
          </a:stretch>
        </p:blipFill>
        <p:spPr>
          <a:xfrm>
            <a:off x="-1" y="2060848"/>
            <a:ext cx="7425177" cy="4262186"/>
          </a:xfrm>
          <a:prstGeom prst="rect">
            <a:avLst/>
          </a:prstGeom>
        </p:spPr>
      </p:pic>
    </p:spTree>
    <p:extLst>
      <p:ext uri="{BB962C8B-B14F-4D97-AF65-F5344CB8AC3E}">
        <p14:creationId xmlns:p14="http://schemas.microsoft.com/office/powerpoint/2010/main" val="772787819"/>
      </p:ext>
    </p:extLst>
  </p:cSld>
  <p:clrMapOvr>
    <a:masterClrMapping/>
  </p:clrMapOvr>
  <p:transition>
    <p:checke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3 </a:t>
            </a:r>
            <a:r>
              <a:rPr lang="mr-IN" dirty="0">
                <a:latin typeface="Arial" charset="0"/>
              </a:rPr>
              <a:t>–</a:t>
            </a:r>
            <a:r>
              <a:rPr lang="en-GB" dirty="0">
                <a:latin typeface="Arial" charset="0"/>
              </a:rPr>
              <a:t> x4 Amplifier Success (1)</a:t>
            </a:r>
          </a:p>
        </p:txBody>
      </p:sp>
      <p:sp>
        <p:nvSpPr>
          <p:cNvPr id="10" name="Rectangle 3"/>
          <p:cNvSpPr txBox="1">
            <a:spLocks noChangeArrowheads="1"/>
          </p:cNvSpPr>
          <p:nvPr/>
        </p:nvSpPr>
        <p:spPr bwMode="auto">
          <a:xfrm>
            <a:off x="414908" y="764704"/>
            <a:ext cx="9361040" cy="4320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Add C2 and C3. This will now work.  Why?</a:t>
            </a:r>
          </a:p>
        </p:txBody>
      </p:sp>
      <p:pic>
        <p:nvPicPr>
          <p:cNvPr id="2" name="Picture 1">
            <a:extLst>
              <a:ext uri="{FF2B5EF4-FFF2-40B4-BE49-F238E27FC236}">
                <a16:creationId xmlns:a16="http://schemas.microsoft.com/office/drawing/2014/main" id="{4049CF87-CD88-DC46-8A9E-46A226A1CF53}"/>
              </a:ext>
            </a:extLst>
          </p:cNvPr>
          <p:cNvPicPr>
            <a:picLocks noChangeAspect="1"/>
          </p:cNvPicPr>
          <p:nvPr/>
        </p:nvPicPr>
        <p:blipFill>
          <a:blip r:embed="rId3"/>
          <a:stretch>
            <a:fillRect/>
          </a:stretch>
        </p:blipFill>
        <p:spPr>
          <a:xfrm>
            <a:off x="1206996" y="1628800"/>
            <a:ext cx="7941518" cy="4368380"/>
          </a:xfrm>
          <a:prstGeom prst="rect">
            <a:avLst/>
          </a:prstGeom>
        </p:spPr>
      </p:pic>
    </p:spTree>
    <p:extLst>
      <p:ext uri="{BB962C8B-B14F-4D97-AF65-F5344CB8AC3E}">
        <p14:creationId xmlns:p14="http://schemas.microsoft.com/office/powerpoint/2010/main" val="1564071317"/>
      </p:ext>
    </p:extLst>
  </p:cSld>
  <p:clrMapOvr>
    <a:masterClrMapping/>
  </p:clrMapOvr>
  <p:transition>
    <p:checke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8D9A35-ED8F-7E47-BADB-80011B7F2762}"/>
              </a:ext>
            </a:extLst>
          </p:cNvPr>
          <p:cNvPicPr>
            <a:picLocks noChangeAspect="1"/>
          </p:cNvPicPr>
          <p:nvPr/>
        </p:nvPicPr>
        <p:blipFill>
          <a:blip r:embed="rId3"/>
          <a:stretch>
            <a:fillRect/>
          </a:stretch>
        </p:blipFill>
        <p:spPr>
          <a:xfrm>
            <a:off x="1567036" y="2204864"/>
            <a:ext cx="5925790" cy="4296947"/>
          </a:xfrm>
          <a:prstGeom prst="rect">
            <a:avLst/>
          </a:prstGeom>
        </p:spPr>
      </p:pic>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3 </a:t>
            </a:r>
            <a:r>
              <a:rPr lang="mr-IN" dirty="0">
                <a:latin typeface="Arial" charset="0"/>
              </a:rPr>
              <a:t>–</a:t>
            </a:r>
            <a:r>
              <a:rPr lang="en-GB" dirty="0">
                <a:latin typeface="Arial" charset="0"/>
              </a:rPr>
              <a:t> x4 Amplifier Success (2)</a:t>
            </a:r>
          </a:p>
        </p:txBody>
      </p:sp>
      <p:sp>
        <p:nvSpPr>
          <p:cNvPr id="10" name="Rectangle 3"/>
          <p:cNvSpPr txBox="1">
            <a:spLocks noChangeArrowheads="1"/>
          </p:cNvSpPr>
          <p:nvPr/>
        </p:nvSpPr>
        <p:spPr bwMode="auto">
          <a:xfrm>
            <a:off x="414908" y="764704"/>
            <a:ext cx="9361040" cy="8640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Consider what happens at DC source (principle of superposition):</a:t>
            </a:r>
          </a:p>
        </p:txBody>
      </p:sp>
      <p:sp>
        <p:nvSpPr>
          <p:cNvPr id="12" name="Rectangle 3"/>
          <p:cNvSpPr txBox="1">
            <a:spLocks noChangeArrowheads="1"/>
          </p:cNvSpPr>
          <p:nvPr/>
        </p:nvSpPr>
        <p:spPr bwMode="auto">
          <a:xfrm>
            <a:off x="414908" y="1196752"/>
            <a:ext cx="9361040" cy="12241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marL="457200" indent="-457200">
              <a:buFont typeface="+mj-lt"/>
              <a:buAutoNum type="arabicPeriod"/>
            </a:pPr>
            <a:r>
              <a:rPr lang="en-GB" dirty="0"/>
              <a:t>C2 is open-circuit, so 2.5V dc is blocked by C2.  Instead, V+ is now at 2.5V because of R1 and R2 (voltage divider).</a:t>
            </a:r>
          </a:p>
          <a:p>
            <a:pPr marL="457200" indent="-457200">
              <a:buFont typeface="+mj-lt"/>
              <a:buAutoNum type="arabicPeriod"/>
            </a:pPr>
            <a:r>
              <a:rPr lang="en-GB" dirty="0"/>
              <a:t>C3 is open-circuit. Therefore the op-amp is now a x1 amplifier as in Task 2.</a:t>
            </a:r>
          </a:p>
        </p:txBody>
      </p:sp>
      <p:sp>
        <p:nvSpPr>
          <p:cNvPr id="8" name="TextBox 7"/>
          <p:cNvSpPr txBox="1"/>
          <p:nvPr/>
        </p:nvSpPr>
        <p:spPr>
          <a:xfrm>
            <a:off x="4721353" y="3212976"/>
            <a:ext cx="518091" cy="261610"/>
          </a:xfrm>
          <a:prstGeom prst="rect">
            <a:avLst/>
          </a:prstGeom>
          <a:solidFill>
            <a:schemeClr val="tx1"/>
          </a:solidFill>
        </p:spPr>
        <p:txBody>
          <a:bodyPr wrap="none" rtlCol="0">
            <a:spAutoFit/>
          </a:bodyPr>
          <a:lstStyle/>
          <a:p>
            <a:r>
              <a:rPr lang="en-US" sz="1050" dirty="0">
                <a:solidFill>
                  <a:schemeClr val="bg1"/>
                </a:solidFill>
                <a:latin typeface="Verdana"/>
                <a:cs typeface="Verdana"/>
              </a:rPr>
              <a:t>2.5V</a:t>
            </a:r>
          </a:p>
        </p:txBody>
      </p:sp>
      <p:sp>
        <p:nvSpPr>
          <p:cNvPr id="9" name="TextBox 8"/>
          <p:cNvSpPr txBox="1"/>
          <p:nvPr/>
        </p:nvSpPr>
        <p:spPr>
          <a:xfrm>
            <a:off x="5383460" y="5373216"/>
            <a:ext cx="792088" cy="253916"/>
          </a:xfrm>
          <a:prstGeom prst="rect">
            <a:avLst/>
          </a:prstGeom>
          <a:solidFill>
            <a:schemeClr val="tx1"/>
          </a:solidFill>
        </p:spPr>
        <p:txBody>
          <a:bodyPr wrap="square" rtlCol="0">
            <a:spAutoFit/>
          </a:bodyPr>
          <a:lstStyle/>
          <a:p>
            <a:pPr algn="ctr"/>
            <a:r>
              <a:rPr lang="en-US" sz="1050" dirty="0">
                <a:solidFill>
                  <a:schemeClr val="bg1"/>
                </a:solidFill>
                <a:latin typeface="Verdana"/>
                <a:cs typeface="Verdana"/>
              </a:rPr>
              <a:t>x1</a:t>
            </a:r>
          </a:p>
        </p:txBody>
      </p:sp>
      <p:sp>
        <p:nvSpPr>
          <p:cNvPr id="13" name="TextBox 12"/>
          <p:cNvSpPr txBox="1"/>
          <p:nvPr/>
        </p:nvSpPr>
        <p:spPr>
          <a:xfrm>
            <a:off x="7327676" y="3861048"/>
            <a:ext cx="518091" cy="261610"/>
          </a:xfrm>
          <a:prstGeom prst="rect">
            <a:avLst/>
          </a:prstGeom>
          <a:solidFill>
            <a:schemeClr val="tx1"/>
          </a:solidFill>
        </p:spPr>
        <p:txBody>
          <a:bodyPr wrap="none" rtlCol="0">
            <a:spAutoFit/>
          </a:bodyPr>
          <a:lstStyle/>
          <a:p>
            <a:r>
              <a:rPr lang="en-US" sz="1050" dirty="0">
                <a:solidFill>
                  <a:schemeClr val="bg1"/>
                </a:solidFill>
                <a:latin typeface="Verdana"/>
                <a:cs typeface="Verdana"/>
              </a:rPr>
              <a:t>2.5V</a:t>
            </a:r>
          </a:p>
        </p:txBody>
      </p:sp>
    </p:spTree>
    <p:extLst>
      <p:ext uri="{BB962C8B-B14F-4D97-AF65-F5344CB8AC3E}">
        <p14:creationId xmlns:p14="http://schemas.microsoft.com/office/powerpoint/2010/main" val="3375315741"/>
      </p:ext>
    </p:extLst>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3 </a:t>
            </a:r>
            <a:r>
              <a:rPr lang="mr-IN" dirty="0">
                <a:latin typeface="Arial" charset="0"/>
              </a:rPr>
              <a:t>–</a:t>
            </a:r>
            <a:r>
              <a:rPr lang="en-GB" dirty="0">
                <a:latin typeface="Arial" charset="0"/>
              </a:rPr>
              <a:t> x4 Amplifier Success (3)</a:t>
            </a:r>
          </a:p>
        </p:txBody>
      </p:sp>
      <p:sp>
        <p:nvSpPr>
          <p:cNvPr id="7" name="Rectangle 3"/>
          <p:cNvSpPr txBox="1">
            <a:spLocks noChangeArrowheads="1"/>
          </p:cNvSpPr>
          <p:nvPr/>
        </p:nvSpPr>
        <p:spPr bwMode="auto">
          <a:xfrm>
            <a:off x="414908" y="764704"/>
            <a:ext cx="9361040" cy="8640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Consider what happens at high frequency (e.g. 10kHz sine wave):</a:t>
            </a:r>
          </a:p>
        </p:txBody>
      </p:sp>
      <p:sp>
        <p:nvSpPr>
          <p:cNvPr id="8" name="Rectangle 3"/>
          <p:cNvSpPr txBox="1">
            <a:spLocks noChangeArrowheads="1"/>
          </p:cNvSpPr>
          <p:nvPr/>
        </p:nvSpPr>
        <p:spPr bwMode="auto">
          <a:xfrm>
            <a:off x="414908" y="1196752"/>
            <a:ext cx="9361040" cy="12241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marL="457200" indent="-457200">
              <a:buFont typeface="+mj-lt"/>
              <a:buAutoNum type="arabicPeriod"/>
            </a:pPr>
            <a:r>
              <a:rPr lang="en-GB" dirty="0"/>
              <a:t>C2 is short-circuit, so </a:t>
            </a:r>
            <a:r>
              <a:rPr lang="en-GB" dirty="0" err="1"/>
              <a:t>V</a:t>
            </a:r>
            <a:r>
              <a:rPr lang="en-GB" baseline="-25000" dirty="0" err="1"/>
              <a:t>G</a:t>
            </a:r>
            <a:r>
              <a:rPr lang="en-GB" dirty="0"/>
              <a:t> goes directly to V+.  </a:t>
            </a:r>
          </a:p>
          <a:p>
            <a:pPr marL="457200" indent="-457200">
              <a:buFont typeface="+mj-lt"/>
              <a:buAutoNum type="arabicPeriod"/>
            </a:pPr>
            <a:r>
              <a:rPr lang="en-GB" dirty="0"/>
              <a:t>C3 is short-circuit. Therefore the op-amp is now a x4 amplifier</a:t>
            </a:r>
          </a:p>
        </p:txBody>
      </p:sp>
      <p:pic>
        <p:nvPicPr>
          <p:cNvPr id="2" name="Picture 1">
            <a:extLst>
              <a:ext uri="{FF2B5EF4-FFF2-40B4-BE49-F238E27FC236}">
                <a16:creationId xmlns:a16="http://schemas.microsoft.com/office/drawing/2014/main" id="{C66095ED-6D1D-6844-890C-AE8669FCF1E6}"/>
              </a:ext>
            </a:extLst>
          </p:cNvPr>
          <p:cNvPicPr>
            <a:picLocks noChangeAspect="1"/>
          </p:cNvPicPr>
          <p:nvPr/>
        </p:nvPicPr>
        <p:blipFill>
          <a:blip r:embed="rId3"/>
          <a:stretch>
            <a:fillRect/>
          </a:stretch>
        </p:blipFill>
        <p:spPr>
          <a:xfrm>
            <a:off x="1639044" y="2060848"/>
            <a:ext cx="6336704" cy="4110030"/>
          </a:xfrm>
          <a:prstGeom prst="rect">
            <a:avLst/>
          </a:prstGeom>
        </p:spPr>
      </p:pic>
    </p:spTree>
    <p:extLst>
      <p:ext uri="{BB962C8B-B14F-4D97-AF65-F5344CB8AC3E}">
        <p14:creationId xmlns:p14="http://schemas.microsoft.com/office/powerpoint/2010/main" val="389595401"/>
      </p:ext>
    </p:extLst>
  </p:cSld>
  <p:clrMapOvr>
    <a:masterClrMapping/>
  </p:clrMapOvr>
  <p:transition>
    <p:checke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414908" y="764704"/>
            <a:ext cx="9361040" cy="4320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Bias voltage at pin 3 is poor because ……</a:t>
            </a:r>
          </a:p>
        </p:txBody>
      </p:sp>
      <p:pic>
        <p:nvPicPr>
          <p:cNvPr id="2" name="Picture 1">
            <a:extLst>
              <a:ext uri="{FF2B5EF4-FFF2-40B4-BE49-F238E27FC236}">
                <a16:creationId xmlns:a16="http://schemas.microsoft.com/office/drawing/2014/main" id="{4049CF87-CD88-DC46-8A9E-46A226A1CF53}"/>
              </a:ext>
            </a:extLst>
          </p:cNvPr>
          <p:cNvPicPr>
            <a:picLocks noChangeAspect="1"/>
          </p:cNvPicPr>
          <p:nvPr/>
        </p:nvPicPr>
        <p:blipFill>
          <a:blip r:embed="rId3"/>
          <a:stretch>
            <a:fillRect/>
          </a:stretch>
        </p:blipFill>
        <p:spPr>
          <a:xfrm>
            <a:off x="814387" y="1988840"/>
            <a:ext cx="7632848" cy="4198591"/>
          </a:xfrm>
          <a:prstGeom prst="rect">
            <a:avLst/>
          </a:prstGeom>
        </p:spPr>
      </p:pic>
      <p:sp>
        <p:nvSpPr>
          <p:cNvPr id="7" name="Rectangle 2">
            <a:extLst>
              <a:ext uri="{FF2B5EF4-FFF2-40B4-BE49-F238E27FC236}">
                <a16:creationId xmlns:a16="http://schemas.microsoft.com/office/drawing/2014/main" id="{18333E31-EFB0-6646-B740-45FF3B1988B8}"/>
              </a:ext>
            </a:extLst>
          </p:cNvPr>
          <p:cNvSpPr txBox="1">
            <a:spLocks noChangeArrowheads="1"/>
          </p:cNvSpPr>
          <p:nvPr/>
        </p:nvSpPr>
        <p:spPr bwMode="auto">
          <a:xfrm>
            <a:off x="630932" y="102754"/>
            <a:ext cx="8416925" cy="531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ctr" rtl="0" eaLnBrk="0" fontAlgn="base" hangingPunct="0">
              <a:spcBef>
                <a:spcPct val="0"/>
              </a:spcBef>
              <a:spcAft>
                <a:spcPct val="0"/>
              </a:spcAft>
              <a:defRPr sz="2800" b="1">
                <a:solidFill>
                  <a:schemeClr val="accent2"/>
                </a:solidFill>
                <a:latin typeface="Arial" charset="0"/>
              </a:defRPr>
            </a:lvl6pPr>
            <a:lvl7pPr marL="914400" algn="ctr" rtl="0" eaLnBrk="0" fontAlgn="base" hangingPunct="0">
              <a:spcBef>
                <a:spcPct val="0"/>
              </a:spcBef>
              <a:spcAft>
                <a:spcPct val="0"/>
              </a:spcAft>
              <a:defRPr sz="2800" b="1">
                <a:solidFill>
                  <a:schemeClr val="accent2"/>
                </a:solidFill>
                <a:latin typeface="Arial" charset="0"/>
              </a:defRPr>
            </a:lvl7pPr>
            <a:lvl8pPr marL="1371600" algn="ctr" rtl="0" eaLnBrk="0" fontAlgn="base" hangingPunct="0">
              <a:spcBef>
                <a:spcPct val="0"/>
              </a:spcBef>
              <a:spcAft>
                <a:spcPct val="0"/>
              </a:spcAft>
              <a:defRPr sz="2800" b="1">
                <a:solidFill>
                  <a:schemeClr val="accent2"/>
                </a:solidFill>
                <a:latin typeface="Arial" charset="0"/>
              </a:defRPr>
            </a:lvl8pPr>
            <a:lvl9pPr marL="1828800" algn="ctr" rtl="0" eaLnBrk="0" fontAlgn="base" hangingPunct="0">
              <a:spcBef>
                <a:spcPct val="0"/>
              </a:spcBef>
              <a:spcAft>
                <a:spcPct val="0"/>
              </a:spcAft>
              <a:defRPr sz="2800" b="1">
                <a:solidFill>
                  <a:schemeClr val="accent2"/>
                </a:solidFill>
                <a:latin typeface="Arial" charset="0"/>
              </a:defRPr>
            </a:lvl9pPr>
          </a:lstStyle>
          <a:p>
            <a:r>
              <a:rPr lang="en-GB" kern="0" dirty="0">
                <a:latin typeface="Arial" charset="0"/>
              </a:rPr>
              <a:t>Task 4 </a:t>
            </a:r>
            <a:r>
              <a:rPr lang="mr-IN" kern="0" dirty="0">
                <a:latin typeface="Arial" charset="0"/>
              </a:rPr>
              <a:t>–</a:t>
            </a:r>
            <a:r>
              <a:rPr lang="en-GB" kern="0" dirty="0">
                <a:latin typeface="Arial" charset="0"/>
              </a:rPr>
              <a:t> Better bias circuit (1)</a:t>
            </a:r>
          </a:p>
        </p:txBody>
      </p:sp>
    </p:spTree>
    <p:extLst>
      <p:ext uri="{BB962C8B-B14F-4D97-AF65-F5344CB8AC3E}">
        <p14:creationId xmlns:p14="http://schemas.microsoft.com/office/powerpoint/2010/main" val="2291215043"/>
      </p:ext>
    </p:extLst>
  </p:cSld>
  <p:clrMapOvr>
    <a:masterClrMapping/>
  </p:clrMapOvr>
  <p:transition>
    <p:checke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4 </a:t>
            </a:r>
            <a:r>
              <a:rPr lang="mr-IN" dirty="0">
                <a:latin typeface="Arial" charset="0"/>
              </a:rPr>
              <a:t>–</a:t>
            </a:r>
            <a:r>
              <a:rPr lang="en-GB" dirty="0">
                <a:latin typeface="Arial" charset="0"/>
              </a:rPr>
              <a:t> Better bias circuit (2)</a:t>
            </a:r>
          </a:p>
        </p:txBody>
      </p:sp>
      <p:sp>
        <p:nvSpPr>
          <p:cNvPr id="7" name="Rectangle 3"/>
          <p:cNvSpPr txBox="1">
            <a:spLocks noChangeArrowheads="1"/>
          </p:cNvSpPr>
          <p:nvPr/>
        </p:nvSpPr>
        <p:spPr bwMode="auto">
          <a:xfrm>
            <a:off x="414908" y="764704"/>
            <a:ext cx="9361040" cy="8640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r>
              <a:rPr lang="en-GB" dirty="0"/>
              <a:t>Replace resistor divider bias circuit with proper voltage reference</a:t>
            </a:r>
          </a:p>
        </p:txBody>
      </p:sp>
      <p:sp>
        <p:nvSpPr>
          <p:cNvPr id="8" name="Rectangle 3"/>
          <p:cNvSpPr txBox="1">
            <a:spLocks noChangeArrowheads="1"/>
          </p:cNvSpPr>
          <p:nvPr/>
        </p:nvSpPr>
        <p:spPr bwMode="auto">
          <a:xfrm>
            <a:off x="1351012" y="1200808"/>
            <a:ext cx="7617544" cy="12241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marL="0" indent="0">
              <a:buNone/>
            </a:pPr>
            <a:r>
              <a:rPr lang="en-GB" dirty="0"/>
              <a:t>Why is R3 necessary?</a:t>
            </a:r>
          </a:p>
          <a:p>
            <a:pPr marL="0" indent="0">
              <a:buNone/>
            </a:pPr>
            <a:r>
              <a:rPr lang="en-GB" dirty="0"/>
              <a:t>What is the loading seen by the PicoScope signal generator?</a:t>
            </a:r>
          </a:p>
        </p:txBody>
      </p:sp>
      <p:pic>
        <p:nvPicPr>
          <p:cNvPr id="3" name="Picture 2">
            <a:extLst>
              <a:ext uri="{FF2B5EF4-FFF2-40B4-BE49-F238E27FC236}">
                <a16:creationId xmlns:a16="http://schemas.microsoft.com/office/drawing/2014/main" id="{CDC17B69-1DA6-A040-A0FC-B65029A95617}"/>
              </a:ext>
            </a:extLst>
          </p:cNvPr>
          <p:cNvPicPr>
            <a:picLocks noChangeAspect="1"/>
          </p:cNvPicPr>
          <p:nvPr/>
        </p:nvPicPr>
        <p:blipFill>
          <a:blip r:embed="rId3"/>
          <a:stretch>
            <a:fillRect/>
          </a:stretch>
        </p:blipFill>
        <p:spPr>
          <a:xfrm>
            <a:off x="1062980" y="2060848"/>
            <a:ext cx="6969472" cy="4120994"/>
          </a:xfrm>
          <a:prstGeom prst="rect">
            <a:avLst/>
          </a:prstGeom>
        </p:spPr>
      </p:pic>
    </p:spTree>
    <p:extLst>
      <p:ext uri="{BB962C8B-B14F-4D97-AF65-F5344CB8AC3E}">
        <p14:creationId xmlns:p14="http://schemas.microsoft.com/office/powerpoint/2010/main" val="4105915771"/>
      </p:ext>
    </p:extLst>
  </p:cSld>
  <p:clrMapOvr>
    <a:masterClrMapping/>
  </p:clrMapOvr>
  <p:transition>
    <p:checke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5 </a:t>
            </a:r>
            <a:r>
              <a:rPr lang="mr-IN" dirty="0">
                <a:latin typeface="Arial" charset="0"/>
              </a:rPr>
              <a:t>–</a:t>
            </a:r>
            <a:r>
              <a:rPr lang="en-GB" dirty="0">
                <a:latin typeface="Arial" charset="0"/>
              </a:rPr>
              <a:t> Large Gain amplifier failure</a:t>
            </a:r>
          </a:p>
        </p:txBody>
      </p:sp>
      <p:sp>
        <p:nvSpPr>
          <p:cNvPr id="20482" name="Rectangle 3"/>
          <p:cNvSpPr>
            <a:spLocks noGrp="1" noChangeArrowheads="1"/>
          </p:cNvSpPr>
          <p:nvPr>
            <p:ph type="body" idx="1"/>
          </p:nvPr>
        </p:nvSpPr>
        <p:spPr>
          <a:xfrm>
            <a:off x="414908" y="764704"/>
            <a:ext cx="9073008" cy="504056"/>
          </a:xfrm>
        </p:spPr>
        <p:txBody>
          <a:bodyPr/>
          <a:lstStyle/>
          <a:p>
            <a:r>
              <a:rPr lang="en-US" dirty="0"/>
              <a:t>Replace R1 with 2k ohm resistor.  Gain = 1 + R2/R1 = 101</a:t>
            </a:r>
          </a:p>
        </p:txBody>
      </p:sp>
      <p:pic>
        <p:nvPicPr>
          <p:cNvPr id="3" name="Picture 2">
            <a:extLst>
              <a:ext uri="{FF2B5EF4-FFF2-40B4-BE49-F238E27FC236}">
                <a16:creationId xmlns:a16="http://schemas.microsoft.com/office/drawing/2014/main" id="{CC99875F-D17C-4146-94DC-2E0D74019B09}"/>
              </a:ext>
            </a:extLst>
          </p:cNvPr>
          <p:cNvPicPr>
            <a:picLocks noChangeAspect="1"/>
          </p:cNvPicPr>
          <p:nvPr/>
        </p:nvPicPr>
        <p:blipFill>
          <a:blip r:embed="rId3"/>
          <a:stretch>
            <a:fillRect/>
          </a:stretch>
        </p:blipFill>
        <p:spPr>
          <a:xfrm>
            <a:off x="71436" y="1301417"/>
            <a:ext cx="9902825" cy="4384889"/>
          </a:xfrm>
          <a:prstGeom prst="rect">
            <a:avLst/>
          </a:prstGeom>
        </p:spPr>
      </p:pic>
    </p:spTree>
    <p:extLst>
      <p:ext uri="{BB962C8B-B14F-4D97-AF65-F5344CB8AC3E}">
        <p14:creationId xmlns:p14="http://schemas.microsoft.com/office/powerpoint/2010/main" val="4192651717"/>
      </p:ext>
    </p:extLst>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D33D253F-62EB-3B49-A2AB-24136405DD00}"/>
              </a:ext>
            </a:extLst>
          </p:cNvPr>
          <p:cNvPicPr>
            <a:picLocks noChangeAspect="1"/>
          </p:cNvPicPr>
          <p:nvPr/>
        </p:nvPicPr>
        <p:blipFill>
          <a:blip r:embed="rId3"/>
          <a:stretch>
            <a:fillRect/>
          </a:stretch>
        </p:blipFill>
        <p:spPr>
          <a:xfrm>
            <a:off x="486916" y="1340768"/>
            <a:ext cx="7642415" cy="5026555"/>
          </a:xfrm>
          <a:prstGeom prst="rect">
            <a:avLst/>
          </a:prstGeom>
        </p:spPr>
      </p:pic>
      <p:grpSp>
        <p:nvGrpSpPr>
          <p:cNvPr id="4" name="Group 3">
            <a:extLst>
              <a:ext uri="{FF2B5EF4-FFF2-40B4-BE49-F238E27FC236}">
                <a16:creationId xmlns:a16="http://schemas.microsoft.com/office/drawing/2014/main" id="{B3DB47AA-D548-394E-AE4F-4EEB512CC94B}"/>
              </a:ext>
            </a:extLst>
          </p:cNvPr>
          <p:cNvGrpSpPr/>
          <p:nvPr/>
        </p:nvGrpSpPr>
        <p:grpSpPr>
          <a:xfrm>
            <a:off x="3415606" y="884355"/>
            <a:ext cx="1542981" cy="1699817"/>
            <a:chOff x="3415606" y="884355"/>
            <a:chExt cx="1542981" cy="1699817"/>
          </a:xfrm>
        </p:grpSpPr>
        <p:sp>
          <p:nvSpPr>
            <p:cNvPr id="52" name="TextBox 51">
              <a:extLst>
                <a:ext uri="{FF2B5EF4-FFF2-40B4-BE49-F238E27FC236}">
                  <a16:creationId xmlns:a16="http://schemas.microsoft.com/office/drawing/2014/main" id="{A2BB489B-B078-2C41-9B85-0D1BC3071F1B}"/>
                </a:ext>
              </a:extLst>
            </p:cNvPr>
            <p:cNvSpPr txBox="1"/>
            <p:nvPr/>
          </p:nvSpPr>
          <p:spPr>
            <a:xfrm>
              <a:off x="3523210" y="884355"/>
              <a:ext cx="1435377" cy="738664"/>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Gain drops by 20dB /decade 1</a:t>
              </a:r>
              <a:r>
                <a:rPr lang="en-US" sz="1400" baseline="30000" dirty="0">
                  <a:solidFill>
                    <a:schemeClr val="bg1"/>
                  </a:solidFill>
                  <a:latin typeface="Verdana"/>
                  <a:cs typeface="Verdana"/>
                </a:rPr>
                <a:t>st</a:t>
              </a:r>
              <a:r>
                <a:rPr lang="en-US" sz="1400" dirty="0">
                  <a:solidFill>
                    <a:schemeClr val="bg1"/>
                  </a:solidFill>
                  <a:latin typeface="Verdana"/>
                  <a:cs typeface="Verdana"/>
                </a:rPr>
                <a:t> order</a:t>
              </a:r>
            </a:p>
          </p:txBody>
        </p:sp>
        <p:sp>
          <p:nvSpPr>
            <p:cNvPr id="2" name="Right Arrow 1">
              <a:extLst>
                <a:ext uri="{FF2B5EF4-FFF2-40B4-BE49-F238E27FC236}">
                  <a16:creationId xmlns:a16="http://schemas.microsoft.com/office/drawing/2014/main" id="{B1CFFDF9-2F78-9040-8B47-592B0058F6C9}"/>
                </a:ext>
              </a:extLst>
            </p:cNvPr>
            <p:cNvSpPr/>
            <p:nvPr/>
          </p:nvSpPr>
          <p:spPr bwMode="auto">
            <a:xfrm rot="6875839">
              <a:off x="3084508" y="1917767"/>
              <a:ext cx="997503" cy="335308"/>
            </a:xfrm>
            <a:prstGeom prst="rightArrow">
              <a:avLst/>
            </a:prstGeom>
            <a:solidFill>
              <a:srgbClr val="FF0000"/>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ndParaRPr>
            </a:p>
          </p:txBody>
        </p:sp>
      </p:grpSp>
      <p:grpSp>
        <p:nvGrpSpPr>
          <p:cNvPr id="8" name="Group 7">
            <a:extLst>
              <a:ext uri="{FF2B5EF4-FFF2-40B4-BE49-F238E27FC236}">
                <a16:creationId xmlns:a16="http://schemas.microsoft.com/office/drawing/2014/main" id="{31F6D69A-E977-714F-B57D-832F215329CC}"/>
              </a:ext>
            </a:extLst>
          </p:cNvPr>
          <p:cNvGrpSpPr/>
          <p:nvPr/>
        </p:nvGrpSpPr>
        <p:grpSpPr>
          <a:xfrm>
            <a:off x="6175548" y="4869160"/>
            <a:ext cx="3019553" cy="1386736"/>
            <a:chOff x="6175548" y="4869160"/>
            <a:chExt cx="3019553" cy="1386736"/>
          </a:xfrm>
        </p:grpSpPr>
        <p:sp>
          <p:nvSpPr>
            <p:cNvPr id="50" name="Oval 49">
              <a:extLst>
                <a:ext uri="{FF2B5EF4-FFF2-40B4-BE49-F238E27FC236}">
                  <a16:creationId xmlns:a16="http://schemas.microsoft.com/office/drawing/2014/main" id="{5242143C-EF46-794C-B1E1-5481AD35ECC1}"/>
                </a:ext>
              </a:extLst>
            </p:cNvPr>
            <p:cNvSpPr/>
            <p:nvPr/>
          </p:nvSpPr>
          <p:spPr bwMode="auto">
            <a:xfrm>
              <a:off x="6175548" y="4869160"/>
              <a:ext cx="144016" cy="144016"/>
            </a:xfrm>
            <a:prstGeom prst="ellipse">
              <a:avLst/>
            </a:prstGeom>
            <a:solidFill>
              <a:srgbClr val="FF0000">
                <a:alpha val="73000"/>
              </a:srgb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Arial" charset="0"/>
              </a:endParaRPr>
            </a:p>
          </p:txBody>
        </p:sp>
        <p:sp>
          <p:nvSpPr>
            <p:cNvPr id="53" name="TextBox 52">
              <a:extLst>
                <a:ext uri="{FF2B5EF4-FFF2-40B4-BE49-F238E27FC236}">
                  <a16:creationId xmlns:a16="http://schemas.microsoft.com/office/drawing/2014/main" id="{931AA142-65D0-9A42-AD14-080532440DE2}"/>
                </a:ext>
              </a:extLst>
            </p:cNvPr>
            <p:cNvSpPr txBox="1"/>
            <p:nvPr/>
          </p:nvSpPr>
          <p:spPr>
            <a:xfrm>
              <a:off x="7759724" y="5517232"/>
              <a:ext cx="1435377" cy="738664"/>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Gain = 0dB at around 1MHz</a:t>
              </a:r>
            </a:p>
          </p:txBody>
        </p:sp>
        <p:sp>
          <p:nvSpPr>
            <p:cNvPr id="54" name="Right Arrow 53">
              <a:extLst>
                <a:ext uri="{FF2B5EF4-FFF2-40B4-BE49-F238E27FC236}">
                  <a16:creationId xmlns:a16="http://schemas.microsoft.com/office/drawing/2014/main" id="{FD87B162-599E-0D44-9B01-5033E7D04D75}"/>
                </a:ext>
              </a:extLst>
            </p:cNvPr>
            <p:cNvSpPr/>
            <p:nvPr/>
          </p:nvSpPr>
          <p:spPr bwMode="auto">
            <a:xfrm rot="12059064">
              <a:off x="6337353" y="5124899"/>
              <a:ext cx="1490360" cy="335308"/>
            </a:xfrm>
            <a:prstGeom prst="rightArrow">
              <a:avLst/>
            </a:prstGeom>
            <a:solidFill>
              <a:srgbClr val="FF0000"/>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ndParaRPr>
            </a:p>
          </p:txBody>
        </p:sp>
      </p:grpSp>
      <p:sp>
        <p:nvSpPr>
          <p:cNvPr id="58" name="Oval 57">
            <a:extLst>
              <a:ext uri="{FF2B5EF4-FFF2-40B4-BE49-F238E27FC236}">
                <a16:creationId xmlns:a16="http://schemas.microsoft.com/office/drawing/2014/main" id="{7E39D124-4E2D-6147-A51F-7695BCF72CB1}"/>
              </a:ext>
            </a:extLst>
          </p:cNvPr>
          <p:cNvSpPr/>
          <p:nvPr/>
        </p:nvSpPr>
        <p:spPr bwMode="auto">
          <a:xfrm>
            <a:off x="4814571" y="3851155"/>
            <a:ext cx="144016" cy="144016"/>
          </a:xfrm>
          <a:prstGeom prst="ellipse">
            <a:avLst/>
          </a:prstGeom>
          <a:solidFill>
            <a:srgbClr val="FF3300">
              <a:alpha val="73000"/>
            </a:srgb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Arial" charset="0"/>
            </a:endParaRPr>
          </a:p>
        </p:txBody>
      </p:sp>
      <p:sp>
        <p:nvSpPr>
          <p:cNvPr id="55" name="TextBox 54">
            <a:extLst>
              <a:ext uri="{FF2B5EF4-FFF2-40B4-BE49-F238E27FC236}">
                <a16:creationId xmlns:a16="http://schemas.microsoft.com/office/drawing/2014/main" id="{FEE2A9AE-6C58-5F4F-AE2D-0143A13EBFC4}"/>
              </a:ext>
            </a:extLst>
          </p:cNvPr>
          <p:cNvSpPr txBox="1"/>
          <p:nvPr/>
        </p:nvSpPr>
        <p:spPr>
          <a:xfrm>
            <a:off x="7485393" y="1058883"/>
            <a:ext cx="1984038" cy="738664"/>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Gain-Bandwidth Product (GBP) = Gain x frequency</a:t>
            </a:r>
          </a:p>
        </p:txBody>
      </p:sp>
      <p:sp>
        <p:nvSpPr>
          <p:cNvPr id="56" name="TextBox 55">
            <a:extLst>
              <a:ext uri="{FF2B5EF4-FFF2-40B4-BE49-F238E27FC236}">
                <a16:creationId xmlns:a16="http://schemas.microsoft.com/office/drawing/2014/main" id="{574C74DD-243B-6542-81D1-7E6B1CD547CC}"/>
              </a:ext>
            </a:extLst>
          </p:cNvPr>
          <p:cNvSpPr txBox="1"/>
          <p:nvPr/>
        </p:nvSpPr>
        <p:spPr>
          <a:xfrm>
            <a:off x="8334890" y="2918725"/>
            <a:ext cx="1320514" cy="738664"/>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GBP for MCP6001 is 1MHz</a:t>
            </a:r>
          </a:p>
        </p:txBody>
      </p:sp>
      <p:sp>
        <p:nvSpPr>
          <p:cNvPr id="57" name="TextBox 56">
            <a:extLst>
              <a:ext uri="{FF2B5EF4-FFF2-40B4-BE49-F238E27FC236}">
                <a16:creationId xmlns:a16="http://schemas.microsoft.com/office/drawing/2014/main" id="{8A595CD8-56E9-7244-8D6C-769478DB9E3B}"/>
              </a:ext>
            </a:extLst>
          </p:cNvPr>
          <p:cNvSpPr txBox="1"/>
          <p:nvPr/>
        </p:nvSpPr>
        <p:spPr>
          <a:xfrm>
            <a:off x="5515291" y="1809306"/>
            <a:ext cx="1320514" cy="307777"/>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MCP6001</a:t>
            </a:r>
          </a:p>
        </p:txBody>
      </p:sp>
      <p:grpSp>
        <p:nvGrpSpPr>
          <p:cNvPr id="7" name="Group 6">
            <a:extLst>
              <a:ext uri="{FF2B5EF4-FFF2-40B4-BE49-F238E27FC236}">
                <a16:creationId xmlns:a16="http://schemas.microsoft.com/office/drawing/2014/main" id="{EE129A2E-AAD2-0F4B-A606-89252938BB74}"/>
              </a:ext>
            </a:extLst>
          </p:cNvPr>
          <p:cNvGrpSpPr/>
          <p:nvPr/>
        </p:nvGrpSpPr>
        <p:grpSpPr>
          <a:xfrm>
            <a:off x="1855068" y="1166605"/>
            <a:ext cx="1368152" cy="894243"/>
            <a:chOff x="1855068" y="1166605"/>
            <a:chExt cx="1368152" cy="894243"/>
          </a:xfrm>
        </p:grpSpPr>
        <p:sp>
          <p:nvSpPr>
            <p:cNvPr id="49" name="Oval 48">
              <a:extLst>
                <a:ext uri="{FF2B5EF4-FFF2-40B4-BE49-F238E27FC236}">
                  <a16:creationId xmlns:a16="http://schemas.microsoft.com/office/drawing/2014/main" id="{92E0C17C-6BAF-8E4E-95BB-E49A8E18B80B}"/>
                </a:ext>
              </a:extLst>
            </p:cNvPr>
            <p:cNvSpPr/>
            <p:nvPr/>
          </p:nvSpPr>
          <p:spPr bwMode="auto">
            <a:xfrm>
              <a:off x="2431132" y="1916832"/>
              <a:ext cx="144016" cy="144016"/>
            </a:xfrm>
            <a:prstGeom prst="ellipse">
              <a:avLst/>
            </a:prstGeom>
            <a:solidFill>
              <a:srgbClr val="FF0000">
                <a:alpha val="73000"/>
              </a:srgb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Arial" charset="0"/>
              </a:endParaRPr>
            </a:p>
          </p:txBody>
        </p:sp>
        <p:sp>
          <p:nvSpPr>
            <p:cNvPr id="51" name="TextBox 50">
              <a:extLst>
                <a:ext uri="{FF2B5EF4-FFF2-40B4-BE49-F238E27FC236}">
                  <a16:creationId xmlns:a16="http://schemas.microsoft.com/office/drawing/2014/main" id="{CDCF6FFB-EDCC-7141-89E2-57A68A5022B2}"/>
                </a:ext>
              </a:extLst>
            </p:cNvPr>
            <p:cNvSpPr txBox="1"/>
            <p:nvPr/>
          </p:nvSpPr>
          <p:spPr>
            <a:xfrm>
              <a:off x="1855068" y="1166605"/>
              <a:ext cx="1368152" cy="523220"/>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112dB gain up to 2Hz</a:t>
              </a:r>
            </a:p>
          </p:txBody>
        </p:sp>
        <p:sp>
          <p:nvSpPr>
            <p:cNvPr id="60" name="Right Arrow 59">
              <a:extLst>
                <a:ext uri="{FF2B5EF4-FFF2-40B4-BE49-F238E27FC236}">
                  <a16:creationId xmlns:a16="http://schemas.microsoft.com/office/drawing/2014/main" id="{E2D24B5B-2DBC-B74E-8C99-FC011AE68FCC}"/>
                </a:ext>
              </a:extLst>
            </p:cNvPr>
            <p:cNvSpPr/>
            <p:nvPr/>
          </p:nvSpPr>
          <p:spPr bwMode="auto">
            <a:xfrm rot="6875839">
              <a:off x="2510913" y="1647344"/>
              <a:ext cx="291639" cy="270828"/>
            </a:xfrm>
            <a:prstGeom prst="rightArrow">
              <a:avLst/>
            </a:prstGeom>
            <a:solidFill>
              <a:srgbClr val="FF0000"/>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ndParaRPr>
            </a:p>
          </p:txBody>
        </p:sp>
      </p:grpSp>
      <p:sp>
        <p:nvSpPr>
          <p:cNvPr id="19" name="Rectangle 2">
            <a:extLst>
              <a:ext uri="{FF2B5EF4-FFF2-40B4-BE49-F238E27FC236}">
                <a16:creationId xmlns:a16="http://schemas.microsoft.com/office/drawing/2014/main" id="{3EC54E30-E24B-F743-8372-6A82A7ADA807}"/>
              </a:ext>
            </a:extLst>
          </p:cNvPr>
          <p:cNvSpPr txBox="1">
            <a:spLocks noChangeArrowheads="1"/>
          </p:cNvSpPr>
          <p:nvPr/>
        </p:nvSpPr>
        <p:spPr bwMode="auto">
          <a:xfrm>
            <a:off x="918964" y="93865"/>
            <a:ext cx="8416925" cy="531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ctr" rtl="0" eaLnBrk="0" fontAlgn="base" hangingPunct="0">
              <a:spcBef>
                <a:spcPct val="0"/>
              </a:spcBef>
              <a:spcAft>
                <a:spcPct val="0"/>
              </a:spcAft>
              <a:defRPr sz="2800" b="1">
                <a:solidFill>
                  <a:schemeClr val="accent2"/>
                </a:solidFill>
                <a:latin typeface="Arial" charset="0"/>
              </a:defRPr>
            </a:lvl6pPr>
            <a:lvl7pPr marL="914400" algn="ctr" rtl="0" eaLnBrk="0" fontAlgn="base" hangingPunct="0">
              <a:spcBef>
                <a:spcPct val="0"/>
              </a:spcBef>
              <a:spcAft>
                <a:spcPct val="0"/>
              </a:spcAft>
              <a:defRPr sz="2800" b="1">
                <a:solidFill>
                  <a:schemeClr val="accent2"/>
                </a:solidFill>
                <a:latin typeface="Arial" charset="0"/>
              </a:defRPr>
            </a:lvl7pPr>
            <a:lvl8pPr marL="1371600" algn="ctr" rtl="0" eaLnBrk="0" fontAlgn="base" hangingPunct="0">
              <a:spcBef>
                <a:spcPct val="0"/>
              </a:spcBef>
              <a:spcAft>
                <a:spcPct val="0"/>
              </a:spcAft>
              <a:defRPr sz="2800" b="1">
                <a:solidFill>
                  <a:schemeClr val="accent2"/>
                </a:solidFill>
                <a:latin typeface="Arial" charset="0"/>
              </a:defRPr>
            </a:lvl8pPr>
            <a:lvl9pPr marL="1828800" algn="ctr" rtl="0" eaLnBrk="0" fontAlgn="base" hangingPunct="0">
              <a:spcBef>
                <a:spcPct val="0"/>
              </a:spcBef>
              <a:spcAft>
                <a:spcPct val="0"/>
              </a:spcAft>
              <a:defRPr sz="2800" b="1">
                <a:solidFill>
                  <a:schemeClr val="accent2"/>
                </a:solidFill>
                <a:latin typeface="Arial" charset="0"/>
              </a:defRPr>
            </a:lvl9pPr>
          </a:lstStyle>
          <a:p>
            <a:r>
              <a:rPr lang="en-GB" kern="0" dirty="0">
                <a:latin typeface="Arial" charset="0"/>
              </a:rPr>
              <a:t>Task 5 </a:t>
            </a:r>
            <a:r>
              <a:rPr lang="mr-IN" kern="0" dirty="0">
                <a:latin typeface="Arial" charset="0"/>
              </a:rPr>
              <a:t>–</a:t>
            </a:r>
            <a:r>
              <a:rPr lang="en-GB" kern="0" dirty="0">
                <a:latin typeface="Arial" charset="0"/>
              </a:rPr>
              <a:t> Gain-Bandwidth Product limit</a:t>
            </a:r>
          </a:p>
        </p:txBody>
      </p:sp>
    </p:spTree>
    <p:extLst>
      <p:ext uri="{BB962C8B-B14F-4D97-AF65-F5344CB8AC3E}">
        <p14:creationId xmlns:p14="http://schemas.microsoft.com/office/powerpoint/2010/main" val="110624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dissolve">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dissolve">
                                      <p:cBhvr>
                                        <p:cTn id="27" dur="500"/>
                                        <p:tgtEl>
                                          <p:spTgt spid="5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dissolve">
                                      <p:cBhvr>
                                        <p:cTn id="3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5" grpId="0" animBg="1"/>
      <p:bldP spid="56"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6 </a:t>
            </a:r>
            <a:r>
              <a:rPr lang="mr-IN" dirty="0">
                <a:latin typeface="Arial" charset="0"/>
              </a:rPr>
              <a:t>–</a:t>
            </a:r>
            <a:r>
              <a:rPr lang="en-GB" dirty="0">
                <a:latin typeface="Arial" charset="0"/>
              </a:rPr>
              <a:t> High gain amplifier in 2 stages (1)</a:t>
            </a:r>
          </a:p>
        </p:txBody>
      </p:sp>
      <p:sp>
        <p:nvSpPr>
          <p:cNvPr id="20482" name="Rectangle 3"/>
          <p:cNvSpPr>
            <a:spLocks noGrp="1" noChangeArrowheads="1"/>
          </p:cNvSpPr>
          <p:nvPr>
            <p:ph type="body" idx="1"/>
          </p:nvPr>
        </p:nvSpPr>
        <p:spPr>
          <a:xfrm>
            <a:off x="414908" y="764704"/>
            <a:ext cx="9073008" cy="504056"/>
          </a:xfrm>
        </p:spPr>
        <p:txBody>
          <a:bodyPr/>
          <a:lstStyle/>
          <a:p>
            <a:r>
              <a:rPr lang="en-US" dirty="0"/>
              <a:t>Stage 1: non-inverting amplifier with GAIN = 21</a:t>
            </a:r>
          </a:p>
          <a:p>
            <a:r>
              <a:rPr lang="en-US" dirty="0"/>
              <a:t>Replace R1 with a 10k ohm resistor.  Now gain is x21</a:t>
            </a:r>
          </a:p>
        </p:txBody>
      </p:sp>
      <p:pic>
        <p:nvPicPr>
          <p:cNvPr id="2" name="Picture 1">
            <a:extLst>
              <a:ext uri="{FF2B5EF4-FFF2-40B4-BE49-F238E27FC236}">
                <a16:creationId xmlns:a16="http://schemas.microsoft.com/office/drawing/2014/main" id="{43FDB290-6683-3A45-83B1-CA24A3F704EC}"/>
              </a:ext>
            </a:extLst>
          </p:cNvPr>
          <p:cNvPicPr>
            <a:picLocks noChangeAspect="1"/>
          </p:cNvPicPr>
          <p:nvPr/>
        </p:nvPicPr>
        <p:blipFill>
          <a:blip r:embed="rId3"/>
          <a:stretch>
            <a:fillRect/>
          </a:stretch>
        </p:blipFill>
        <p:spPr>
          <a:xfrm>
            <a:off x="1134988" y="1700808"/>
            <a:ext cx="7071320" cy="4692785"/>
          </a:xfrm>
          <a:prstGeom prst="rect">
            <a:avLst/>
          </a:prstGeom>
        </p:spPr>
      </p:pic>
    </p:spTree>
    <p:extLst>
      <p:ext uri="{BB962C8B-B14F-4D97-AF65-F5344CB8AC3E}">
        <p14:creationId xmlns:p14="http://schemas.microsoft.com/office/powerpoint/2010/main" val="3378280604"/>
      </p:ext>
    </p:extLst>
  </p:cSld>
  <p:clrMapOvr>
    <a:masterClrMapping/>
  </p:clrMapOvr>
  <p:transition>
    <p:checke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dirty="0">
                <a:latin typeface="Arial" charset="0"/>
              </a:rPr>
              <a:t>Task 6 </a:t>
            </a:r>
            <a:r>
              <a:rPr lang="mr-IN" dirty="0">
                <a:latin typeface="Arial" charset="0"/>
              </a:rPr>
              <a:t>–</a:t>
            </a:r>
            <a:r>
              <a:rPr lang="en-GB" dirty="0">
                <a:latin typeface="Arial" charset="0"/>
              </a:rPr>
              <a:t> x210 amplifier in 2 stages (2)</a:t>
            </a:r>
          </a:p>
        </p:txBody>
      </p:sp>
      <p:sp>
        <p:nvSpPr>
          <p:cNvPr id="20482" name="Rectangle 3"/>
          <p:cNvSpPr>
            <a:spLocks noGrp="1" noChangeArrowheads="1"/>
          </p:cNvSpPr>
          <p:nvPr>
            <p:ph type="body" idx="1"/>
          </p:nvPr>
        </p:nvSpPr>
        <p:spPr>
          <a:xfrm>
            <a:off x="414908" y="764704"/>
            <a:ext cx="9073008" cy="504056"/>
          </a:xfrm>
        </p:spPr>
        <p:txBody>
          <a:bodyPr/>
          <a:lstStyle/>
          <a:p>
            <a:r>
              <a:rPr lang="en-US" dirty="0"/>
              <a:t>Stage 2: inverting amplifier with GAIN = -10 (circuit in RED)</a:t>
            </a:r>
          </a:p>
          <a:p>
            <a:r>
              <a:rPr lang="en-US" dirty="0"/>
              <a:t>Now check Vo1 and Vo2</a:t>
            </a:r>
          </a:p>
        </p:txBody>
      </p:sp>
      <p:sp>
        <p:nvSpPr>
          <p:cNvPr id="6" name="TextBox 5"/>
          <p:cNvSpPr txBox="1"/>
          <p:nvPr/>
        </p:nvSpPr>
        <p:spPr>
          <a:xfrm>
            <a:off x="7831732" y="5949280"/>
            <a:ext cx="1728192" cy="307777"/>
          </a:xfrm>
          <a:prstGeom prst="rect">
            <a:avLst/>
          </a:prstGeom>
          <a:solidFill>
            <a:schemeClr val="tx1"/>
          </a:solidFill>
        </p:spPr>
        <p:txBody>
          <a:bodyPr wrap="square" rtlCol="0">
            <a:spAutoFit/>
          </a:bodyPr>
          <a:lstStyle/>
          <a:p>
            <a:pPr algn="ctr"/>
            <a:r>
              <a:rPr lang="en-US" sz="1400" dirty="0">
                <a:solidFill>
                  <a:schemeClr val="bg1"/>
                </a:solidFill>
                <a:latin typeface="Verdana"/>
                <a:cs typeface="Verdana"/>
              </a:rPr>
              <a:t>Topic 11 slide 8</a:t>
            </a:r>
          </a:p>
        </p:txBody>
      </p:sp>
      <p:graphicFrame>
        <p:nvGraphicFramePr>
          <p:cNvPr id="7" name="Object 6"/>
          <p:cNvGraphicFramePr>
            <a:graphicFrameLocks noChangeAspect="1"/>
          </p:cNvGraphicFramePr>
          <p:nvPr>
            <p:extLst>
              <p:ext uri="{D42A27DB-BD31-4B8C-83A1-F6EECF244321}">
                <p14:modId xmlns:p14="http://schemas.microsoft.com/office/powerpoint/2010/main" val="3833602171"/>
              </p:ext>
            </p:extLst>
          </p:nvPr>
        </p:nvGraphicFramePr>
        <p:xfrm>
          <a:off x="7255668" y="4869160"/>
          <a:ext cx="1458912" cy="647700"/>
        </p:xfrm>
        <a:graphic>
          <a:graphicData uri="http://schemas.openxmlformats.org/presentationml/2006/ole">
            <mc:AlternateContent xmlns:mc="http://schemas.openxmlformats.org/markup-compatibility/2006">
              <mc:Choice xmlns:v="urn:schemas-microsoft-com:vml" Requires="v">
                <p:oleObj spid="_x0000_s19467" name="Equation" r:id="rId4" imgW="914400" imgH="406400" progId="Equation.3">
                  <p:embed/>
                </p:oleObj>
              </mc:Choice>
              <mc:Fallback>
                <p:oleObj name="Equation" r:id="rId4" imgW="914400" imgH="406400" progId="Equation.3">
                  <p:embed/>
                  <p:pic>
                    <p:nvPicPr>
                      <p:cNvPr id="0" name=""/>
                      <p:cNvPicPr/>
                      <p:nvPr/>
                    </p:nvPicPr>
                    <p:blipFill>
                      <a:blip r:embed="rId5"/>
                      <a:stretch>
                        <a:fillRect/>
                      </a:stretch>
                    </p:blipFill>
                    <p:spPr>
                      <a:xfrm>
                        <a:off x="7255668" y="4869160"/>
                        <a:ext cx="1458912" cy="647700"/>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6014C273-0DD0-DD49-B979-1E1DD09C48FC}"/>
              </a:ext>
            </a:extLst>
          </p:cNvPr>
          <p:cNvPicPr>
            <a:picLocks noChangeAspect="1"/>
          </p:cNvPicPr>
          <p:nvPr/>
        </p:nvPicPr>
        <p:blipFill>
          <a:blip r:embed="rId6"/>
          <a:stretch>
            <a:fillRect/>
          </a:stretch>
        </p:blipFill>
        <p:spPr>
          <a:xfrm>
            <a:off x="-16530" y="1693212"/>
            <a:ext cx="9902825" cy="4256068"/>
          </a:xfrm>
          <a:prstGeom prst="rect">
            <a:avLst/>
          </a:prstGeom>
        </p:spPr>
      </p:pic>
    </p:spTree>
    <p:extLst>
      <p:ext uri="{BB962C8B-B14F-4D97-AF65-F5344CB8AC3E}">
        <p14:creationId xmlns:p14="http://schemas.microsoft.com/office/powerpoint/2010/main" val="610039108"/>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Task 7 </a:t>
            </a:r>
            <a:r>
              <a:rPr lang="mr-IN" sz="2400" dirty="0">
                <a:latin typeface="Arial" charset="0"/>
              </a:rPr>
              <a:t>–</a:t>
            </a:r>
            <a:r>
              <a:rPr lang="en-GB" sz="2400" dirty="0">
                <a:latin typeface="Arial" charset="0"/>
              </a:rPr>
              <a:t> Audio Amplifier for 8 ohm speaker</a:t>
            </a:r>
          </a:p>
        </p:txBody>
      </p:sp>
      <p:sp>
        <p:nvSpPr>
          <p:cNvPr id="5" name="Content Placeholder 4"/>
          <p:cNvSpPr>
            <a:spLocks noGrp="1"/>
          </p:cNvSpPr>
          <p:nvPr>
            <p:ph idx="1"/>
          </p:nvPr>
        </p:nvSpPr>
        <p:spPr>
          <a:xfrm>
            <a:off x="486916" y="764704"/>
            <a:ext cx="9073008" cy="1152128"/>
          </a:xfrm>
        </p:spPr>
        <p:txBody>
          <a:bodyPr/>
          <a:lstStyle/>
          <a:p>
            <a:r>
              <a:rPr lang="en-US" dirty="0"/>
              <a:t>Op-amp only can only deliver at most 20mA current at its output</a:t>
            </a:r>
          </a:p>
          <a:p>
            <a:r>
              <a:rPr lang="en-US" dirty="0"/>
              <a:t>Need special amplifier to drive 8 ohm speaker</a:t>
            </a:r>
          </a:p>
          <a:p>
            <a:r>
              <a:rPr lang="en-US" dirty="0"/>
              <a:t>Use special amplifier for this purpose</a:t>
            </a:r>
          </a:p>
        </p:txBody>
      </p:sp>
      <p:pic>
        <p:nvPicPr>
          <p:cNvPr id="2" name="Picture 1">
            <a:extLst>
              <a:ext uri="{FF2B5EF4-FFF2-40B4-BE49-F238E27FC236}">
                <a16:creationId xmlns:a16="http://schemas.microsoft.com/office/drawing/2014/main" id="{D1CBEA49-E287-924A-A31E-B99275D52607}"/>
              </a:ext>
            </a:extLst>
          </p:cNvPr>
          <p:cNvPicPr>
            <a:picLocks noChangeAspect="1"/>
          </p:cNvPicPr>
          <p:nvPr/>
        </p:nvPicPr>
        <p:blipFill>
          <a:blip r:embed="rId3"/>
          <a:stretch>
            <a:fillRect/>
          </a:stretch>
        </p:blipFill>
        <p:spPr>
          <a:xfrm>
            <a:off x="71436" y="2204864"/>
            <a:ext cx="9902825" cy="3792571"/>
          </a:xfrm>
          <a:prstGeom prst="rect">
            <a:avLst/>
          </a:prstGeom>
        </p:spPr>
      </p:pic>
    </p:spTree>
    <p:extLst>
      <p:ext uri="{BB962C8B-B14F-4D97-AF65-F5344CB8AC3E}">
        <p14:creationId xmlns:p14="http://schemas.microsoft.com/office/powerpoint/2010/main" val="3874952614"/>
      </p:ext>
    </p:extLst>
  </p:cSld>
  <p:clrMapOvr>
    <a:masterClrMapping/>
  </p:clrMapOvr>
  <p:transition>
    <p:checke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1 – Half-wave Rectifier</a:t>
            </a:r>
          </a:p>
        </p:txBody>
      </p:sp>
      <p:sp>
        <p:nvSpPr>
          <p:cNvPr id="5" name="Content Placeholder 4"/>
          <p:cNvSpPr>
            <a:spLocks noGrp="1"/>
          </p:cNvSpPr>
          <p:nvPr>
            <p:ph idx="1"/>
          </p:nvPr>
        </p:nvSpPr>
        <p:spPr>
          <a:xfrm>
            <a:off x="486916" y="764704"/>
            <a:ext cx="9073008" cy="1152128"/>
          </a:xfrm>
        </p:spPr>
        <p:txBody>
          <a:bodyPr/>
          <a:lstStyle/>
          <a:p>
            <a:r>
              <a:rPr lang="en-US" dirty="0"/>
              <a:t>Good half-wave rectifier</a:t>
            </a:r>
          </a:p>
        </p:txBody>
      </p:sp>
      <p:pic>
        <p:nvPicPr>
          <p:cNvPr id="3" name="Picture 2">
            <a:extLst>
              <a:ext uri="{FF2B5EF4-FFF2-40B4-BE49-F238E27FC236}">
                <a16:creationId xmlns:a16="http://schemas.microsoft.com/office/drawing/2014/main" id="{8EAAE19A-A7F4-F245-BC91-6EF52D20BF9D}"/>
              </a:ext>
            </a:extLst>
          </p:cNvPr>
          <p:cNvPicPr>
            <a:picLocks noChangeAspect="1"/>
          </p:cNvPicPr>
          <p:nvPr/>
        </p:nvPicPr>
        <p:blipFill>
          <a:blip r:embed="rId3"/>
          <a:stretch>
            <a:fillRect/>
          </a:stretch>
        </p:blipFill>
        <p:spPr>
          <a:xfrm>
            <a:off x="30151" y="2060848"/>
            <a:ext cx="9902825" cy="4416835"/>
          </a:xfrm>
          <a:prstGeom prst="rect">
            <a:avLst/>
          </a:prstGeom>
        </p:spPr>
      </p:pic>
    </p:spTree>
    <p:extLst>
      <p:ext uri="{BB962C8B-B14F-4D97-AF65-F5344CB8AC3E}">
        <p14:creationId xmlns:p14="http://schemas.microsoft.com/office/powerpoint/2010/main" val="4209257437"/>
      </p:ext>
    </p:extLst>
  </p:cSld>
  <p:clrMapOvr>
    <a:masterClrMapping/>
  </p:clrMapOvr>
  <p:transition>
    <p:checke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1 – Full-wave rectifier</a:t>
            </a:r>
          </a:p>
        </p:txBody>
      </p:sp>
      <p:sp>
        <p:nvSpPr>
          <p:cNvPr id="5" name="Content Placeholder 4"/>
          <p:cNvSpPr>
            <a:spLocks noGrp="1"/>
          </p:cNvSpPr>
          <p:nvPr>
            <p:ph idx="1"/>
          </p:nvPr>
        </p:nvSpPr>
        <p:spPr>
          <a:xfrm>
            <a:off x="486916" y="764704"/>
            <a:ext cx="9073008" cy="1152128"/>
          </a:xfrm>
        </p:spPr>
        <p:txBody>
          <a:bodyPr/>
          <a:lstStyle/>
          <a:p>
            <a:r>
              <a:rPr lang="en-US" dirty="0"/>
              <a:t>Poor full-wave rectifier</a:t>
            </a:r>
          </a:p>
        </p:txBody>
      </p:sp>
      <p:pic>
        <p:nvPicPr>
          <p:cNvPr id="2" name="Picture 1">
            <a:extLst>
              <a:ext uri="{FF2B5EF4-FFF2-40B4-BE49-F238E27FC236}">
                <a16:creationId xmlns:a16="http://schemas.microsoft.com/office/drawing/2014/main" id="{DD0A07C9-44D5-4140-805D-AC745F7378F3}"/>
              </a:ext>
            </a:extLst>
          </p:cNvPr>
          <p:cNvPicPr>
            <a:picLocks noChangeAspect="1"/>
          </p:cNvPicPr>
          <p:nvPr/>
        </p:nvPicPr>
        <p:blipFill>
          <a:blip r:embed="rId3"/>
          <a:stretch>
            <a:fillRect/>
          </a:stretch>
        </p:blipFill>
        <p:spPr>
          <a:xfrm>
            <a:off x="198885" y="1758182"/>
            <a:ext cx="9361040" cy="4335113"/>
          </a:xfrm>
          <a:prstGeom prst="rect">
            <a:avLst/>
          </a:prstGeom>
        </p:spPr>
      </p:pic>
    </p:spTree>
    <p:extLst>
      <p:ext uri="{BB962C8B-B14F-4D97-AF65-F5344CB8AC3E}">
        <p14:creationId xmlns:p14="http://schemas.microsoft.com/office/powerpoint/2010/main" val="427098966"/>
      </p:ext>
    </p:extLst>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1 – Peak detection</a:t>
            </a:r>
          </a:p>
        </p:txBody>
      </p:sp>
      <p:sp>
        <p:nvSpPr>
          <p:cNvPr id="5" name="Content Placeholder 4"/>
          <p:cNvSpPr>
            <a:spLocks noGrp="1"/>
          </p:cNvSpPr>
          <p:nvPr>
            <p:ph idx="1"/>
          </p:nvPr>
        </p:nvSpPr>
        <p:spPr>
          <a:xfrm>
            <a:off x="486916" y="764704"/>
            <a:ext cx="9073008" cy="1152128"/>
          </a:xfrm>
        </p:spPr>
        <p:txBody>
          <a:bodyPr/>
          <a:lstStyle/>
          <a:p>
            <a:r>
              <a:rPr lang="en-US" dirty="0"/>
              <a:t>Peak detecting</a:t>
            </a:r>
          </a:p>
        </p:txBody>
      </p:sp>
      <p:pic>
        <p:nvPicPr>
          <p:cNvPr id="3" name="Picture 2">
            <a:extLst>
              <a:ext uri="{FF2B5EF4-FFF2-40B4-BE49-F238E27FC236}">
                <a16:creationId xmlns:a16="http://schemas.microsoft.com/office/drawing/2014/main" id="{55DA5C77-FDEC-404E-A07F-17F1131DD1D8}"/>
              </a:ext>
            </a:extLst>
          </p:cNvPr>
          <p:cNvPicPr>
            <a:picLocks noChangeAspect="1"/>
          </p:cNvPicPr>
          <p:nvPr/>
        </p:nvPicPr>
        <p:blipFill>
          <a:blip r:embed="rId3"/>
          <a:stretch>
            <a:fillRect/>
          </a:stretch>
        </p:blipFill>
        <p:spPr>
          <a:xfrm>
            <a:off x="3351212" y="1416050"/>
            <a:ext cx="3200400" cy="4025900"/>
          </a:xfrm>
          <a:prstGeom prst="rect">
            <a:avLst/>
          </a:prstGeom>
        </p:spPr>
      </p:pic>
    </p:spTree>
    <p:extLst>
      <p:ext uri="{BB962C8B-B14F-4D97-AF65-F5344CB8AC3E}">
        <p14:creationId xmlns:p14="http://schemas.microsoft.com/office/powerpoint/2010/main" val="154495793"/>
      </p:ext>
    </p:extLst>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1 – Sound level detection</a:t>
            </a:r>
          </a:p>
        </p:txBody>
      </p:sp>
      <p:sp>
        <p:nvSpPr>
          <p:cNvPr id="5" name="Content Placeholder 4"/>
          <p:cNvSpPr>
            <a:spLocks noGrp="1"/>
          </p:cNvSpPr>
          <p:nvPr>
            <p:ph idx="1"/>
          </p:nvPr>
        </p:nvSpPr>
        <p:spPr>
          <a:xfrm>
            <a:off x="486916" y="764704"/>
            <a:ext cx="9073008" cy="1152128"/>
          </a:xfrm>
        </p:spPr>
        <p:txBody>
          <a:bodyPr/>
          <a:lstStyle/>
          <a:p>
            <a:r>
              <a:rPr lang="en-US" dirty="0"/>
              <a:t>R9 – estimate or measure, not easy to calculate</a:t>
            </a:r>
          </a:p>
        </p:txBody>
      </p:sp>
      <p:pic>
        <p:nvPicPr>
          <p:cNvPr id="2" name="Picture 1">
            <a:extLst>
              <a:ext uri="{FF2B5EF4-FFF2-40B4-BE49-F238E27FC236}">
                <a16:creationId xmlns:a16="http://schemas.microsoft.com/office/drawing/2014/main" id="{3E7B9329-3894-3745-996D-8B7605E06138}"/>
              </a:ext>
            </a:extLst>
          </p:cNvPr>
          <p:cNvPicPr>
            <a:picLocks noChangeAspect="1"/>
          </p:cNvPicPr>
          <p:nvPr/>
        </p:nvPicPr>
        <p:blipFill>
          <a:blip r:embed="rId3"/>
          <a:stretch>
            <a:fillRect/>
          </a:stretch>
        </p:blipFill>
        <p:spPr>
          <a:xfrm>
            <a:off x="-1" y="1574347"/>
            <a:ext cx="9902825" cy="3709306"/>
          </a:xfrm>
          <a:prstGeom prst="rect">
            <a:avLst/>
          </a:prstGeom>
        </p:spPr>
      </p:pic>
    </p:spTree>
    <p:extLst>
      <p:ext uri="{BB962C8B-B14F-4D97-AF65-F5344CB8AC3E}">
        <p14:creationId xmlns:p14="http://schemas.microsoft.com/office/powerpoint/2010/main" val="841408510"/>
      </p:ext>
    </p:extLst>
  </p:cSld>
  <p:clrMapOvr>
    <a:masterClrMapping/>
  </p:clrMapOvr>
  <p:transition>
    <p:checke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2 – Comparator with hysteresis</a:t>
            </a:r>
          </a:p>
        </p:txBody>
      </p:sp>
      <p:pic>
        <p:nvPicPr>
          <p:cNvPr id="3" name="Picture 2">
            <a:extLst>
              <a:ext uri="{FF2B5EF4-FFF2-40B4-BE49-F238E27FC236}">
                <a16:creationId xmlns:a16="http://schemas.microsoft.com/office/drawing/2014/main" id="{5A073786-841E-934B-B1D1-CC39B553F59E}"/>
              </a:ext>
            </a:extLst>
          </p:cNvPr>
          <p:cNvPicPr>
            <a:picLocks noChangeAspect="1"/>
          </p:cNvPicPr>
          <p:nvPr/>
        </p:nvPicPr>
        <p:blipFill>
          <a:blip r:embed="rId3"/>
          <a:stretch>
            <a:fillRect/>
          </a:stretch>
        </p:blipFill>
        <p:spPr>
          <a:xfrm>
            <a:off x="963612" y="1484784"/>
            <a:ext cx="7975600" cy="4457700"/>
          </a:xfrm>
          <a:prstGeom prst="rect">
            <a:avLst/>
          </a:prstGeom>
        </p:spPr>
      </p:pic>
    </p:spTree>
    <p:extLst>
      <p:ext uri="{BB962C8B-B14F-4D97-AF65-F5344CB8AC3E}">
        <p14:creationId xmlns:p14="http://schemas.microsoft.com/office/powerpoint/2010/main" val="3332462587"/>
      </p:ext>
    </p:extLst>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2 – Comparator to detect sound</a:t>
            </a:r>
          </a:p>
        </p:txBody>
      </p:sp>
      <p:pic>
        <p:nvPicPr>
          <p:cNvPr id="2" name="Picture 1">
            <a:extLst>
              <a:ext uri="{FF2B5EF4-FFF2-40B4-BE49-F238E27FC236}">
                <a16:creationId xmlns:a16="http://schemas.microsoft.com/office/drawing/2014/main" id="{E99CF027-0F58-F347-B24D-D2E4C23D197B}"/>
              </a:ext>
            </a:extLst>
          </p:cNvPr>
          <p:cNvPicPr>
            <a:picLocks noChangeAspect="1"/>
          </p:cNvPicPr>
          <p:nvPr/>
        </p:nvPicPr>
        <p:blipFill>
          <a:blip r:embed="rId3"/>
          <a:stretch>
            <a:fillRect/>
          </a:stretch>
        </p:blipFill>
        <p:spPr>
          <a:xfrm>
            <a:off x="1134988" y="966943"/>
            <a:ext cx="7848302" cy="4781394"/>
          </a:xfrm>
          <a:prstGeom prst="rect">
            <a:avLst/>
          </a:prstGeom>
        </p:spPr>
      </p:pic>
    </p:spTree>
    <p:extLst>
      <p:ext uri="{BB962C8B-B14F-4D97-AF65-F5344CB8AC3E}">
        <p14:creationId xmlns:p14="http://schemas.microsoft.com/office/powerpoint/2010/main" val="3818645307"/>
      </p:ext>
    </p:extLst>
  </p:cSld>
  <p:clrMapOvr>
    <a:masterClrMapping/>
  </p:clrMapOvr>
  <p:transition>
    <p:checke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3 – Function Generator</a:t>
            </a:r>
          </a:p>
        </p:txBody>
      </p:sp>
      <p:pic>
        <p:nvPicPr>
          <p:cNvPr id="3" name="Picture 2">
            <a:extLst>
              <a:ext uri="{FF2B5EF4-FFF2-40B4-BE49-F238E27FC236}">
                <a16:creationId xmlns:a16="http://schemas.microsoft.com/office/drawing/2014/main" id="{070ABF56-82FC-7A43-AE1F-336E18F131F5}"/>
              </a:ext>
            </a:extLst>
          </p:cNvPr>
          <p:cNvPicPr>
            <a:picLocks noChangeAspect="1"/>
          </p:cNvPicPr>
          <p:nvPr/>
        </p:nvPicPr>
        <p:blipFill>
          <a:blip r:embed="rId3"/>
          <a:stretch>
            <a:fillRect/>
          </a:stretch>
        </p:blipFill>
        <p:spPr>
          <a:xfrm>
            <a:off x="-1" y="1285572"/>
            <a:ext cx="9902825" cy="4286856"/>
          </a:xfrm>
          <a:prstGeom prst="rect">
            <a:avLst/>
          </a:prstGeom>
        </p:spPr>
      </p:pic>
    </p:spTree>
    <p:extLst>
      <p:ext uri="{BB962C8B-B14F-4D97-AF65-F5344CB8AC3E}">
        <p14:creationId xmlns:p14="http://schemas.microsoft.com/office/powerpoint/2010/main" val="2967300296"/>
      </p:ext>
    </p:extLst>
  </p:cSld>
  <p:clrMapOvr>
    <a:masterClrMapping/>
  </p:clrMapOvr>
  <p:transition>
    <p:checke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4 – Lowpass filter</a:t>
            </a:r>
          </a:p>
        </p:txBody>
      </p:sp>
      <p:pic>
        <p:nvPicPr>
          <p:cNvPr id="2" name="Picture 1">
            <a:extLst>
              <a:ext uri="{FF2B5EF4-FFF2-40B4-BE49-F238E27FC236}">
                <a16:creationId xmlns:a16="http://schemas.microsoft.com/office/drawing/2014/main" id="{96EDBE19-2F03-1D4D-B302-138226BACE08}"/>
              </a:ext>
            </a:extLst>
          </p:cNvPr>
          <p:cNvPicPr>
            <a:picLocks noChangeAspect="1"/>
          </p:cNvPicPr>
          <p:nvPr/>
        </p:nvPicPr>
        <p:blipFill>
          <a:blip r:embed="rId3"/>
          <a:stretch>
            <a:fillRect/>
          </a:stretch>
        </p:blipFill>
        <p:spPr>
          <a:xfrm>
            <a:off x="294081" y="980728"/>
            <a:ext cx="9314661" cy="4765401"/>
          </a:xfrm>
          <a:prstGeom prst="rect">
            <a:avLst/>
          </a:prstGeom>
        </p:spPr>
      </p:pic>
    </p:spTree>
    <p:extLst>
      <p:ext uri="{BB962C8B-B14F-4D97-AF65-F5344CB8AC3E}">
        <p14:creationId xmlns:p14="http://schemas.microsoft.com/office/powerpoint/2010/main" val="3438688387"/>
      </p:ext>
    </p:extLst>
  </p:cSld>
  <p:clrMapOvr>
    <a:masterClrMapping/>
  </p:clrMapOvr>
  <p:transition>
    <p:checke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5 – Pulse-width modulator</a:t>
            </a:r>
          </a:p>
        </p:txBody>
      </p:sp>
      <p:pic>
        <p:nvPicPr>
          <p:cNvPr id="3" name="Picture 2">
            <a:extLst>
              <a:ext uri="{FF2B5EF4-FFF2-40B4-BE49-F238E27FC236}">
                <a16:creationId xmlns:a16="http://schemas.microsoft.com/office/drawing/2014/main" id="{2942D008-764E-844C-96DB-09E0BA148DEB}"/>
              </a:ext>
            </a:extLst>
          </p:cNvPr>
          <p:cNvPicPr>
            <a:picLocks noChangeAspect="1"/>
          </p:cNvPicPr>
          <p:nvPr/>
        </p:nvPicPr>
        <p:blipFill>
          <a:blip r:embed="rId3"/>
          <a:stretch>
            <a:fillRect/>
          </a:stretch>
        </p:blipFill>
        <p:spPr>
          <a:xfrm>
            <a:off x="780569" y="1268760"/>
            <a:ext cx="8767837" cy="4946582"/>
          </a:xfrm>
          <a:prstGeom prst="rect">
            <a:avLst/>
          </a:prstGeom>
        </p:spPr>
      </p:pic>
    </p:spTree>
    <p:extLst>
      <p:ext uri="{BB962C8B-B14F-4D97-AF65-F5344CB8AC3E}">
        <p14:creationId xmlns:p14="http://schemas.microsoft.com/office/powerpoint/2010/main" val="2454625034"/>
      </p:ext>
    </p:extLst>
  </p:cSld>
  <p:clrMapOvr>
    <a:masterClrMapping/>
  </p:clrMapOvr>
  <p:transition>
    <p:checke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814387" y="88875"/>
            <a:ext cx="8416925" cy="531813"/>
          </a:xfrm>
          <a:noFill/>
        </p:spPr>
        <p:txBody>
          <a:bodyPr/>
          <a:lstStyle/>
          <a:p>
            <a:r>
              <a:rPr lang="en-GB" sz="2400" dirty="0">
                <a:latin typeface="Arial" charset="0"/>
              </a:rPr>
              <a:t>Lab 2 Task 5 – Pulse-width modulator</a:t>
            </a:r>
          </a:p>
        </p:txBody>
      </p:sp>
      <p:pic>
        <p:nvPicPr>
          <p:cNvPr id="3" name="Picture 2">
            <a:extLst>
              <a:ext uri="{FF2B5EF4-FFF2-40B4-BE49-F238E27FC236}">
                <a16:creationId xmlns:a16="http://schemas.microsoft.com/office/drawing/2014/main" id="{2942D008-764E-844C-96DB-09E0BA148DEB}"/>
              </a:ext>
            </a:extLst>
          </p:cNvPr>
          <p:cNvPicPr>
            <a:picLocks noChangeAspect="1"/>
          </p:cNvPicPr>
          <p:nvPr/>
        </p:nvPicPr>
        <p:blipFill>
          <a:blip r:embed="rId3"/>
          <a:stretch>
            <a:fillRect/>
          </a:stretch>
        </p:blipFill>
        <p:spPr>
          <a:xfrm>
            <a:off x="780569" y="1268760"/>
            <a:ext cx="8767837" cy="4946582"/>
          </a:xfrm>
          <a:prstGeom prst="rect">
            <a:avLst/>
          </a:prstGeom>
        </p:spPr>
      </p:pic>
    </p:spTree>
    <p:extLst>
      <p:ext uri="{BB962C8B-B14F-4D97-AF65-F5344CB8AC3E}">
        <p14:creationId xmlns:p14="http://schemas.microsoft.com/office/powerpoint/2010/main" val="4004982585"/>
      </p:ext>
    </p:extLst>
  </p:cSld>
  <p:clrMapOvr>
    <a:masterClrMapping/>
  </p:clrMapOvr>
  <p:transition>
    <p:checker/>
  </p:transition>
</p:sld>
</file>

<file path=ppt/theme/theme1.xml><?xml version="1.0" encoding="utf-8"?>
<a:theme xmlns:a="http://schemas.openxmlformats.org/drawingml/2006/main" name="lecture 1">
  <a:themeElements>
    <a:clrScheme name="lecture 1.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ecture 1.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defRPr>
        </a:defPPr>
      </a:lstStyle>
    </a:lnDef>
  </a:objectDefaults>
  <a:extraClrSchemeLst>
    <a:extraClrScheme>
      <a:clrScheme name="lecture 1.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 1.pp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lecture 1.pp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 1.pp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 1.pp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 1.pp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lecture 1.pp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H:\_Mywork\_ICTeaching\EE2 Computing\lecture 1.ppt</Template>
  <TotalTime>13625</TotalTime>
  <Words>1067</Words>
  <Application>Microsoft Macintosh PowerPoint</Application>
  <PresentationFormat>Custom</PresentationFormat>
  <Paragraphs>99</Paragraphs>
  <Slides>24</Slides>
  <Notes>24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Arial</vt:lpstr>
      <vt:lpstr>Calibri</vt:lpstr>
      <vt:lpstr>Monotype Sorts</vt:lpstr>
      <vt:lpstr>Symbol</vt:lpstr>
      <vt:lpstr>Times New Roman</vt:lpstr>
      <vt:lpstr>Verdana</vt:lpstr>
      <vt:lpstr>lecture 1</vt:lpstr>
      <vt:lpstr>Equation</vt:lpstr>
      <vt:lpstr>EE2 Circuits and Systems  Problem Class 3   Lab 1 &amp; 2 Explained</vt:lpstr>
      <vt:lpstr>Task 1 – Output impedance of PicoScope SigGen</vt:lpstr>
      <vt:lpstr>Task 2 – Using a Unity Gain Amplifier (2)</vt:lpstr>
      <vt:lpstr>Task 3 – x4 Amplifier Failure (1)</vt:lpstr>
      <vt:lpstr>Task 3 – x4 Amplifier Success (1)</vt:lpstr>
      <vt:lpstr>Task 3 – x4 Amplifier Success (2)</vt:lpstr>
      <vt:lpstr>Task 3 – x4 Amplifier Success (3)</vt:lpstr>
      <vt:lpstr>PowerPoint Presentation</vt:lpstr>
      <vt:lpstr>Task 4 – Better bias circuit (2)</vt:lpstr>
      <vt:lpstr>Task 5 – Large Gain amplifier failure</vt:lpstr>
      <vt:lpstr>PowerPoint Presentation</vt:lpstr>
      <vt:lpstr>Task 6 – High gain amplifier in 2 stages (1)</vt:lpstr>
      <vt:lpstr>Task 6 – x210 amplifier in 2 stages (2)</vt:lpstr>
      <vt:lpstr>Task 7 – Audio Amplifier for 8 ohm speaker</vt:lpstr>
      <vt:lpstr>Lab 2 Task 1 – Half-wave Rectifier</vt:lpstr>
      <vt:lpstr>Lab 2 Task 1 – Full-wave rectifier</vt:lpstr>
      <vt:lpstr>Lab 2 Task 1 – Peak detection</vt:lpstr>
      <vt:lpstr>Lab 2 Task 1 – Sound level detection</vt:lpstr>
      <vt:lpstr>Lab 2 Task 2 – Comparator with hysteresis</vt:lpstr>
      <vt:lpstr>Lab 2 Task 2 – Comparator to detect sound</vt:lpstr>
      <vt:lpstr>Lab 2 Task 3 – Function Generator</vt:lpstr>
      <vt:lpstr>Lab 2 Task 4 – Lowpass filter</vt:lpstr>
      <vt:lpstr>Lab 2 Task 5 – Pulse-width modulator</vt:lpstr>
      <vt:lpstr>Lab 2 Task 5 – Pulse-width modulator</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ASIC and all that!</dc:title>
  <dc:creator>peterc</dc:creator>
  <cp:lastModifiedBy>Cheung, Peter Y</cp:lastModifiedBy>
  <cp:revision>240</cp:revision>
  <cp:lastPrinted>2020-06-01T20:32:20Z</cp:lastPrinted>
  <dcterms:created xsi:type="dcterms:W3CDTF">1998-10-08T18:04:10Z</dcterms:created>
  <dcterms:modified xsi:type="dcterms:W3CDTF">2021-11-04T22:50:52Z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2</vt:i4>
  </property>
  <property fmtid="{D5CDD505-2E9C-101B-9397-08002B2CF9AE}" pid="4" name="Compression">
    <vt:i4>100</vt:i4>
  </property>
  <property fmtid="{D5CDD505-2E9C-101B-9397-08002B2CF9AE}" pid="5" name="ScreenSize">
    <vt:i4>3</vt:i4>
  </property>
  <property fmtid="{D5CDD505-2E9C-101B-9397-08002B2CF9AE}" pid="6" name="ScreenUsage">
    <vt:i4>2</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true</vt:bool>
  </property>
  <property fmtid="{D5CDD505-2E9C-101B-9397-08002B2CF9AE}" pid="12" name="UseBrowserColor">
    <vt:bool>true</vt:bool>
  </property>
  <property fmtid="{D5CDD505-2E9C-101B-9397-08002B2CF9AE}" pid="13" name="BackColor">
    <vt:i4>12632256</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true</vt:bool>
  </property>
  <property fmtid="{D5CDD505-2E9C-101B-9397-08002B2CF9AE}" pid="20" name="NavBtnPos">
    <vt:i4>1</vt:i4>
  </property>
  <property fmtid="{D5CDD505-2E9C-101B-9397-08002B2CF9AE}" pid="21" name="OutputDir">
    <vt:lpwstr>H:\_Mywork\_ICTeaching\ASIC\Notes 98</vt:lpwstr>
  </property>
</Properties>
</file>