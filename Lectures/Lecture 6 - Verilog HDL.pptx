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4"/>
  </p:notesMasterIdLst>
  <p:handoutMasterIdLst>
    <p:handoutMasterId r:id="rId35"/>
  </p:handoutMasterIdLst>
  <p:sldIdLst>
    <p:sldId id="282" r:id="rId2"/>
    <p:sldId id="284" r:id="rId3"/>
    <p:sldId id="295" r:id="rId4"/>
    <p:sldId id="304" r:id="rId5"/>
    <p:sldId id="300" r:id="rId6"/>
    <p:sldId id="301" r:id="rId7"/>
    <p:sldId id="303" r:id="rId8"/>
    <p:sldId id="305" r:id="rId9"/>
    <p:sldId id="306" r:id="rId10"/>
    <p:sldId id="308" r:id="rId11"/>
    <p:sldId id="309" r:id="rId12"/>
    <p:sldId id="296" r:id="rId13"/>
    <p:sldId id="297" r:id="rId14"/>
    <p:sldId id="298" r:id="rId15"/>
    <p:sldId id="312" r:id="rId16"/>
    <p:sldId id="299" r:id="rId17"/>
    <p:sldId id="311" r:id="rId18"/>
    <p:sldId id="313" r:id="rId19"/>
    <p:sldId id="331" r:id="rId20"/>
    <p:sldId id="325" r:id="rId21"/>
    <p:sldId id="332" r:id="rId22"/>
    <p:sldId id="333" r:id="rId23"/>
    <p:sldId id="316" r:id="rId24"/>
    <p:sldId id="317" r:id="rId25"/>
    <p:sldId id="318" r:id="rId26"/>
    <p:sldId id="320" r:id="rId27"/>
    <p:sldId id="321" r:id="rId28"/>
    <p:sldId id="322" r:id="rId29"/>
    <p:sldId id="323" r:id="rId30"/>
    <p:sldId id="326" r:id="rId31"/>
    <p:sldId id="327" r:id="rId32"/>
    <p:sldId id="328" r:id="rId33"/>
  </p:sldIdLst>
  <p:sldSz cx="9906000" cy="6858000" type="A4"/>
  <p:notesSz cx="6794500" cy="9906000"/>
  <p:defaultTextStyle>
    <a:defPPr>
      <a:defRPr lang="en-US"/>
    </a:defPPr>
    <a:lvl1pPr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32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448">
          <p15:clr>
            <a:srgbClr val="A4A3A4"/>
          </p15:clr>
        </p15:guide>
        <p15:guide id="2" pos="3075">
          <p15:clr>
            <a:srgbClr val="A4A3A4"/>
          </p15:clr>
        </p15:guide>
      </p15:sldGuideLst>
    </p:ext>
    <p:ext uri="{2D200454-40CA-4A62-9FC3-DE9A4176ACB9}">
      <p15:notesGuideLst xmlns:p15="http://schemas.microsoft.com/office/powerpoint/2012/main">
        <p15:guide id="1" orient="horz" pos="312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14"/>
    <p:restoredTop sz="93760"/>
  </p:normalViewPr>
  <p:slideViewPr>
    <p:cSldViewPr>
      <p:cViewPr varScale="1">
        <p:scale>
          <a:sx n="189" d="100"/>
          <a:sy n="189" d="100"/>
        </p:scale>
        <p:origin x="184" y="544"/>
      </p:cViewPr>
      <p:guideLst>
        <p:guide orient="horz" pos="2448"/>
        <p:guide pos="3075"/>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154" d="100"/>
          <a:sy n="154" d="100"/>
        </p:scale>
        <p:origin x="3832" y="224"/>
      </p:cViewPr>
      <p:guideLst>
        <p:guide orient="horz" pos="3120"/>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D1BC1C9-393D-0642-B30C-DB2E22EDB5D8}"/>
              </a:ext>
            </a:extLst>
          </p:cNvPr>
          <p:cNvSpPr>
            <a:spLocks noGrp="1" noChangeArrowheads="1"/>
          </p:cNvSpPr>
          <p:nvPr>
            <p:ph type="hdr" sz="quarter"/>
          </p:nvPr>
        </p:nvSpPr>
        <p:spPr bwMode="auto">
          <a:xfrm>
            <a:off x="0"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defTabSz="925513" eaLnBrk="0" hangingPunct="0">
              <a:defRPr sz="1200">
                <a:latin typeface="Arial" charset="0"/>
                <a:ea typeface="ＭＳ Ｐゴシック" charset="0"/>
                <a:cs typeface="ＭＳ Ｐゴシック" charset="0"/>
              </a:defRPr>
            </a:lvl1pPr>
          </a:lstStyle>
          <a:p>
            <a:pPr>
              <a:defRPr/>
            </a:pPr>
            <a:r>
              <a:rPr lang="en-US"/>
              <a:t>Digital IC Design</a:t>
            </a:r>
          </a:p>
        </p:txBody>
      </p:sp>
      <p:sp>
        <p:nvSpPr>
          <p:cNvPr id="25603" name="Rectangle 3">
            <a:extLst>
              <a:ext uri="{FF2B5EF4-FFF2-40B4-BE49-F238E27FC236}">
                <a16:creationId xmlns:a16="http://schemas.microsoft.com/office/drawing/2014/main" id="{5DB56B6A-FA9D-9641-B7B1-7C93DF38DF85}"/>
              </a:ext>
            </a:extLst>
          </p:cNvPr>
          <p:cNvSpPr>
            <a:spLocks noGrp="1" noChangeArrowheads="1"/>
          </p:cNvSpPr>
          <p:nvPr>
            <p:ph type="dt" sz="quarter" idx="1"/>
          </p:nvPr>
        </p:nvSpPr>
        <p:spPr bwMode="auto">
          <a:xfrm>
            <a:off x="3851275"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algn="r" defTabSz="925513">
              <a:defRPr sz="1200">
                <a:latin typeface="Arial" charset="0"/>
                <a:ea typeface="ＭＳ Ｐゴシック" charset="0"/>
                <a:cs typeface="ＭＳ Ｐゴシック" charset="0"/>
              </a:defRPr>
            </a:lvl1pPr>
          </a:lstStyle>
          <a:p>
            <a:pPr>
              <a:defRPr/>
            </a:pPr>
            <a:endParaRPr lang="en-US"/>
          </a:p>
        </p:txBody>
      </p:sp>
      <p:sp>
        <p:nvSpPr>
          <p:cNvPr id="25604" name="Rectangle 4">
            <a:extLst>
              <a:ext uri="{FF2B5EF4-FFF2-40B4-BE49-F238E27FC236}">
                <a16:creationId xmlns:a16="http://schemas.microsoft.com/office/drawing/2014/main" id="{4AE6B25A-750D-404C-84DA-307ABF784037}"/>
              </a:ext>
            </a:extLst>
          </p:cNvPr>
          <p:cNvSpPr>
            <a:spLocks noGrp="1" noChangeArrowheads="1"/>
          </p:cNvSpPr>
          <p:nvPr>
            <p:ph type="ftr" sz="quarter" idx="2"/>
          </p:nvPr>
        </p:nvSpPr>
        <p:spPr bwMode="auto">
          <a:xfrm>
            <a:off x="0"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defTabSz="925513" eaLnBrk="0" hangingPunct="0">
              <a:defRPr sz="1200">
                <a:latin typeface="Arial" charset="0"/>
                <a:ea typeface="ＭＳ Ｐゴシック" charset="0"/>
                <a:cs typeface="ＭＳ Ｐゴシック" charset="0"/>
              </a:defRPr>
            </a:lvl1pPr>
          </a:lstStyle>
          <a:p>
            <a:pPr>
              <a:defRPr/>
            </a:pPr>
            <a:r>
              <a:rPr lang="en-US"/>
              <a:t>Lecture 1 - Introduction</a:t>
            </a:r>
          </a:p>
        </p:txBody>
      </p:sp>
      <p:sp>
        <p:nvSpPr>
          <p:cNvPr id="25605" name="Rectangle 5">
            <a:extLst>
              <a:ext uri="{FF2B5EF4-FFF2-40B4-BE49-F238E27FC236}">
                <a16:creationId xmlns:a16="http://schemas.microsoft.com/office/drawing/2014/main" id="{E70681EC-AC41-F448-9C40-AB8DB8AB4C37}"/>
              </a:ext>
            </a:extLst>
          </p:cNvPr>
          <p:cNvSpPr>
            <a:spLocks noGrp="1" noChangeArrowheads="1"/>
          </p:cNvSpPr>
          <p:nvPr>
            <p:ph type="sldNum" sz="quarter" idx="3"/>
          </p:nvPr>
        </p:nvSpPr>
        <p:spPr bwMode="auto">
          <a:xfrm>
            <a:off x="3851275"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algn="r" defTabSz="925513">
              <a:defRPr sz="1200">
                <a:latin typeface="Arial" charset="0"/>
                <a:ea typeface="ＭＳ Ｐゴシック" charset="-128"/>
              </a:defRPr>
            </a:lvl1pPr>
          </a:lstStyle>
          <a:p>
            <a:pPr>
              <a:defRPr/>
            </a:pPr>
            <a:fld id="{481222FC-E6CE-F845-8AAD-AA35FFECF906}"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A7ADD2A-EE13-F34C-9606-5D30EE8AE088}"/>
              </a:ext>
            </a:extLst>
          </p:cNvPr>
          <p:cNvSpPr>
            <a:spLocks noGrp="1" noChangeArrowheads="1"/>
          </p:cNvSpPr>
          <p:nvPr>
            <p:ph type="hdr" sz="quarter"/>
          </p:nvPr>
        </p:nvSpPr>
        <p:spPr bwMode="auto">
          <a:xfrm>
            <a:off x="0"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defTabSz="925513">
              <a:defRPr sz="1200">
                <a:latin typeface="Arial" charset="0"/>
                <a:ea typeface="ＭＳ Ｐゴシック" charset="0"/>
                <a:cs typeface="ＭＳ Ｐゴシック" charset="0"/>
              </a:defRPr>
            </a:lvl1pPr>
          </a:lstStyle>
          <a:p>
            <a:pPr>
              <a:defRPr/>
            </a:pPr>
            <a:endParaRPr lang="en-US"/>
          </a:p>
        </p:txBody>
      </p:sp>
      <p:sp>
        <p:nvSpPr>
          <p:cNvPr id="27651" name="Rectangle 3">
            <a:extLst>
              <a:ext uri="{FF2B5EF4-FFF2-40B4-BE49-F238E27FC236}">
                <a16:creationId xmlns:a16="http://schemas.microsoft.com/office/drawing/2014/main" id="{BDC3A65D-3F4A-EA4B-B292-88B4E1AD0A5C}"/>
              </a:ext>
            </a:extLst>
          </p:cNvPr>
          <p:cNvSpPr>
            <a:spLocks noGrp="1" noChangeArrowheads="1"/>
          </p:cNvSpPr>
          <p:nvPr>
            <p:ph type="dt" idx="1"/>
          </p:nvPr>
        </p:nvSpPr>
        <p:spPr bwMode="auto">
          <a:xfrm>
            <a:off x="3851275" y="0"/>
            <a:ext cx="2943225" cy="4953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lvl1pPr algn="r" defTabSz="925513">
              <a:defRPr sz="1200">
                <a:latin typeface="Arial" charset="0"/>
                <a:ea typeface="ＭＳ Ｐゴシック" charset="0"/>
                <a:cs typeface="ＭＳ Ｐゴシック" charset="0"/>
              </a:defRPr>
            </a:lvl1pPr>
          </a:lstStyle>
          <a:p>
            <a:pPr>
              <a:defRPr/>
            </a:pPr>
            <a:endParaRPr lang="en-US"/>
          </a:p>
        </p:txBody>
      </p:sp>
      <p:sp>
        <p:nvSpPr>
          <p:cNvPr id="2052" name="Rectangle 4">
            <a:extLst>
              <a:ext uri="{FF2B5EF4-FFF2-40B4-BE49-F238E27FC236}">
                <a16:creationId xmlns:a16="http://schemas.microsoft.com/office/drawing/2014/main" id="{96BEDD35-379A-4642-9E20-D90B3F1C9298}"/>
              </a:ext>
            </a:extLst>
          </p:cNvPr>
          <p:cNvSpPr>
            <a:spLocks noGrp="1" noRot="1" noChangeAspect="1" noChangeArrowheads="1" noTextEdit="1"/>
          </p:cNvSpPr>
          <p:nvPr>
            <p:ph type="sldImg" idx="2"/>
          </p:nvPr>
        </p:nvSpPr>
        <p:spPr bwMode="auto">
          <a:xfrm>
            <a:off x="715963" y="742950"/>
            <a:ext cx="5364162" cy="3714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B965253A-F670-C24F-B9FB-3841D91B068B}"/>
              </a:ext>
            </a:extLst>
          </p:cNvPr>
          <p:cNvSpPr>
            <a:spLocks noGrp="1" noChangeArrowheads="1"/>
          </p:cNvSpPr>
          <p:nvPr>
            <p:ph type="body" sz="quarter" idx="3"/>
          </p:nvPr>
        </p:nvSpPr>
        <p:spPr bwMode="auto">
          <a:xfrm>
            <a:off x="906463" y="4705350"/>
            <a:ext cx="4981575" cy="4457700"/>
          </a:xfrm>
          <a:prstGeom prst="rect">
            <a:avLst/>
          </a:prstGeom>
          <a:noFill/>
          <a:ln w="12700">
            <a:noFill/>
            <a:miter lim="800000"/>
            <a:headEnd type="none" w="sm" len="sm"/>
            <a:tailEnd type="none" w="sm" len="sm"/>
          </a:ln>
          <a:effectLst/>
        </p:spPr>
        <p:txBody>
          <a:bodyPr vert="horz" wrap="square" lIns="92602" tIns="46301" rIns="92602" bIns="4630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7654" name="Rectangle 6">
            <a:extLst>
              <a:ext uri="{FF2B5EF4-FFF2-40B4-BE49-F238E27FC236}">
                <a16:creationId xmlns:a16="http://schemas.microsoft.com/office/drawing/2014/main" id="{690F6F73-F7BD-4C45-A4F5-A925438F1524}"/>
              </a:ext>
            </a:extLst>
          </p:cNvPr>
          <p:cNvSpPr>
            <a:spLocks noGrp="1" noChangeArrowheads="1"/>
          </p:cNvSpPr>
          <p:nvPr>
            <p:ph type="ftr" sz="quarter" idx="4"/>
          </p:nvPr>
        </p:nvSpPr>
        <p:spPr bwMode="auto">
          <a:xfrm>
            <a:off x="0" y="9410700"/>
            <a:ext cx="2943225" cy="4953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defTabSz="925513">
              <a:defRPr sz="1200">
                <a:latin typeface="Arial" charset="0"/>
                <a:ea typeface="ＭＳ Ｐゴシック" charset="0"/>
                <a:cs typeface="ＭＳ Ｐゴシック" charset="0"/>
              </a:defRPr>
            </a:lvl1pPr>
          </a:lstStyle>
          <a:p>
            <a:pPr>
              <a:defRPr/>
            </a:pPr>
            <a:endParaRPr lang="en-US"/>
          </a:p>
        </p:txBody>
      </p:sp>
      <p:sp>
        <p:nvSpPr>
          <p:cNvPr id="27655" name="Rectangle 7">
            <a:extLst>
              <a:ext uri="{FF2B5EF4-FFF2-40B4-BE49-F238E27FC236}">
                <a16:creationId xmlns:a16="http://schemas.microsoft.com/office/drawing/2014/main" id="{9D4560A9-7B97-5547-A6CC-F6CD1D444B4B}"/>
              </a:ext>
            </a:extLst>
          </p:cNvPr>
          <p:cNvSpPr>
            <a:spLocks noGrp="1" noChangeArrowheads="1"/>
          </p:cNvSpPr>
          <p:nvPr>
            <p:ph type="sldNum" sz="quarter" idx="5"/>
          </p:nvPr>
        </p:nvSpPr>
        <p:spPr bwMode="auto">
          <a:xfrm>
            <a:off x="2965450" y="9201150"/>
            <a:ext cx="2943225" cy="215900"/>
          </a:xfrm>
          <a:prstGeom prst="rect">
            <a:avLst/>
          </a:prstGeom>
          <a:noFill/>
          <a:ln w="12700">
            <a:noFill/>
            <a:miter lim="800000"/>
            <a:headEnd type="none" w="sm" len="sm"/>
            <a:tailEnd type="none" w="sm" len="sm"/>
          </a:ln>
          <a:effectLst/>
        </p:spPr>
        <p:txBody>
          <a:bodyPr vert="horz" wrap="square" lIns="92602" tIns="46301" rIns="92602" bIns="46301" numCol="1" anchor="b" anchorCtr="0" compatLnSpc="1">
            <a:prstTxWarp prst="textNoShape">
              <a:avLst/>
            </a:prstTxWarp>
          </a:bodyPr>
          <a:lstStyle>
            <a:lvl1pPr algn="r" defTabSz="925513">
              <a:defRPr sz="1200">
                <a:latin typeface="Arial" charset="0"/>
                <a:ea typeface="ＭＳ Ｐゴシック" charset="-128"/>
              </a:defRPr>
            </a:lvl1pPr>
          </a:lstStyle>
          <a:p>
            <a:pPr>
              <a:defRPr/>
            </a:pPr>
            <a:fld id="{7E0558BA-4236-5F48-BC83-398B2745D2DE}"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j-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j-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j-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image" Target="../media/image8.png"/></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7">
            <a:extLst>
              <a:ext uri="{FF2B5EF4-FFF2-40B4-BE49-F238E27FC236}">
                <a16:creationId xmlns:a16="http://schemas.microsoft.com/office/drawing/2014/main" id="{8822E7F5-9B53-0148-A643-0E3C416FF75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79E08F09-229E-1C43-880D-A42522EA033A}" type="slidenum">
              <a:rPr lang="en-US" altLang="en-US" sz="1200" smtClean="0"/>
              <a:pPr/>
              <a:t>1</a:t>
            </a:fld>
            <a:endParaRPr lang="en-US" altLang="en-US" sz="1200"/>
          </a:p>
        </p:txBody>
      </p:sp>
      <p:sp>
        <p:nvSpPr>
          <p:cNvPr id="5122" name="Rectangle 2">
            <a:extLst>
              <a:ext uri="{FF2B5EF4-FFF2-40B4-BE49-F238E27FC236}">
                <a16:creationId xmlns:a16="http://schemas.microsoft.com/office/drawing/2014/main" id="{D58B6B21-12DA-CA48-9694-801E26C7EE2C}"/>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2784733D-4A34-F040-841D-1B070DF6F0E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This lecture is about Verilog HDL, which, together with another language VHDL, are the most popular hardware languages used in industry.</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Verilog is only a tool; this course is about digital electronics.  Therefore, I will NOT be going through Verilog as in a programming course -  it would have been extremely boring for both you and me if I did.  Instead, you will learn about Verilog through examples. I will then point out various language features along the way.  What it means is that the treatment of Verilog is NOT going to be systematic or comprehensive </a:t>
            </a:r>
            <a:r>
              <a:rPr lang="mr-IN" altLang="en-US" sz="1100" dirty="0">
                <a:ea typeface="ＭＳ Ｐゴシック" panose="020B0600070205080204" pitchFamily="34" charset="-128"/>
              </a:rPr>
              <a:t>–</a:t>
            </a:r>
            <a:r>
              <a:rPr lang="en-US" altLang="en-US" sz="1100" dirty="0">
                <a:ea typeface="ＭＳ Ｐゴシック" panose="020B0600070205080204" pitchFamily="34" charset="-128"/>
              </a:rPr>
              <a:t> there will be lots of features you won</a:t>
            </a:r>
            <a:r>
              <a:rPr lang="ja-JP" altLang="en-US" sz="1100">
                <a:ea typeface="ＭＳ Ｐゴシック" panose="020B0600070205080204" pitchFamily="34" charset="-128"/>
              </a:rPr>
              <a:t>’</a:t>
            </a:r>
            <a:r>
              <a:rPr lang="en-US" altLang="ja-JP" sz="1100" dirty="0">
                <a:ea typeface="ＭＳ Ｐゴシック" panose="020B0600070205080204" pitchFamily="34" charset="-128"/>
              </a:rPr>
              <a:t>t know about Verilog.  However, you will learn enough to specify and design reasonably sophisticated digital circuits, and you should gain enough confidence to learn the rest by yourself.</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There are many useful online resources available on details of Verilog syntax etc..  Look it up as you need to and you will learn how to design digital circuit using Verilog through designing real circuits.</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7">
            <a:extLst>
              <a:ext uri="{FF2B5EF4-FFF2-40B4-BE49-F238E27FC236}">
                <a16:creationId xmlns:a16="http://schemas.microsoft.com/office/drawing/2014/main" id="{BFCF9BD2-F63E-9A45-99BE-B0B4D3BB31B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CB6A9052-33F5-C04D-B543-B18E74782C1F}" type="slidenum">
              <a:rPr lang="en-US" altLang="en-US" sz="1200" smtClean="0"/>
              <a:pPr/>
              <a:t>2</a:t>
            </a:fld>
            <a:endParaRPr lang="en-US" altLang="en-US" sz="1200"/>
          </a:p>
        </p:txBody>
      </p:sp>
      <p:sp>
        <p:nvSpPr>
          <p:cNvPr id="7170" name="Rectangle 2">
            <a:extLst>
              <a:ext uri="{FF2B5EF4-FFF2-40B4-BE49-F238E27FC236}">
                <a16:creationId xmlns:a16="http://schemas.microsoft.com/office/drawing/2014/main" id="{CA83E501-9AD8-B14A-A855-5A1D35BD3E0A}"/>
              </a:ext>
            </a:extLst>
          </p:cNvPr>
          <p:cNvSpPr>
            <a:spLocks noGrp="1" noRot="1" noChangeAspect="1" noChangeArrowheads="1" noTextEdit="1"/>
          </p:cNvSpPr>
          <p:nvPr>
            <p:ph type="sldImg"/>
          </p:nvPr>
        </p:nvSpPr>
        <p:spPr>
          <a:xfrm>
            <a:off x="714375" y="742950"/>
            <a:ext cx="5365750" cy="3714750"/>
          </a:xfrm>
          <a:ln/>
        </p:spPr>
      </p:sp>
      <p:sp>
        <p:nvSpPr>
          <p:cNvPr id="7171" name="Rectangle 3">
            <a:extLst>
              <a:ext uri="{FF2B5EF4-FFF2-40B4-BE49-F238E27FC236}">
                <a16:creationId xmlns:a16="http://schemas.microsoft.com/office/drawing/2014/main" id="{CA1436C4-015E-D248-BD70-A2337C6E68F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Here is a list of lecture objectives. They are provided for you to reflect on what you are supposed to learn, and not as an introduction to this lecture.  </a:t>
            </a:r>
          </a:p>
          <a:p>
            <a:r>
              <a:rPr lang="en-US" altLang="en-US" sz="1100" dirty="0">
                <a:ea typeface="ＭＳ Ｐゴシック" panose="020B0600070205080204" pitchFamily="34" charset="-128"/>
              </a:rPr>
              <a:t>I want, by the end of this lecture, to give you some idea about the basic </a:t>
            </a:r>
            <a:r>
              <a:rPr lang="en-US" altLang="en-US" sz="1100" b="1" dirty="0">
                <a:ea typeface="ＭＳ Ｐゴシック" panose="020B0600070205080204" pitchFamily="34" charset="-128"/>
              </a:rPr>
              <a:t>structure</a:t>
            </a:r>
            <a:r>
              <a:rPr lang="en-US" altLang="en-US" sz="1100" dirty="0">
                <a:ea typeface="ＭＳ Ｐゴシック" panose="020B0600070205080204" pitchFamily="34" charset="-128"/>
              </a:rPr>
              <a:t> and </a:t>
            </a:r>
            <a:r>
              <a:rPr lang="en-US" altLang="en-US" sz="1100" b="1" dirty="0">
                <a:ea typeface="ＭＳ Ｐゴシック" panose="020B0600070205080204" pitchFamily="34" charset="-128"/>
              </a:rPr>
              <a:t>syntax</a:t>
            </a:r>
            <a:r>
              <a:rPr lang="en-US" altLang="en-US" sz="1100" dirty="0">
                <a:ea typeface="ＭＳ Ｐゴシック" panose="020B0600070205080204" pitchFamily="34" charset="-128"/>
              </a:rPr>
              <a:t> of Verilog.  I want to convince you that schematic capture is NOT a good way to design digital circuits.  Finally, I want you to appreciate how to use Verilog to specify a piece of hardware at </a:t>
            </a:r>
            <a:r>
              <a:rPr lang="en-US" altLang="en-US" sz="1100" b="1" dirty="0">
                <a:ea typeface="ＭＳ Ｐゴシック" panose="020B0600070205080204" pitchFamily="34" charset="-128"/>
              </a:rPr>
              <a:t>different levels of abstraction</a:t>
            </a:r>
            <a:r>
              <a:rPr lang="en-US" altLang="en-US" sz="1100" dirty="0">
                <a:ea typeface="ＭＳ Ｐゴシック" panose="020B0600070205080204" pitchFamily="34" charset="-128"/>
              </a:rPr>
              <a:t>.</a:t>
            </a:r>
          </a:p>
          <a:p>
            <a:pPr>
              <a:buFontTx/>
              <a:buAutoNum type="arabicPeriod"/>
            </a:pPr>
            <a:endParaRPr lang="en-US" altLang="en-US" sz="1100" dirty="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a:extLst>
              <a:ext uri="{FF2B5EF4-FFF2-40B4-BE49-F238E27FC236}">
                <a16:creationId xmlns:a16="http://schemas.microsoft.com/office/drawing/2014/main" id="{F536BE87-91BF-1E4C-9774-7F1A7421046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45E33E4D-820A-634D-9B93-86FB6FC7FD78}" type="slidenum">
              <a:rPr lang="en-US" altLang="en-US" sz="1200" smtClean="0"/>
              <a:pPr/>
              <a:t>3</a:t>
            </a:fld>
            <a:endParaRPr lang="en-US" altLang="en-US" sz="1200"/>
          </a:p>
        </p:txBody>
      </p:sp>
      <p:sp>
        <p:nvSpPr>
          <p:cNvPr id="9218" name="Rectangle 2">
            <a:extLst>
              <a:ext uri="{FF2B5EF4-FFF2-40B4-BE49-F238E27FC236}">
                <a16:creationId xmlns:a16="http://schemas.microsoft.com/office/drawing/2014/main" id="{D1D7AC12-89AD-6A4B-9F8E-A57B4442AC93}"/>
              </a:ext>
            </a:extLst>
          </p:cNvPr>
          <p:cNvSpPr>
            <a:spLocks noGrp="1" noRot="1" noChangeAspect="1" noChangeArrowheads="1" noTextEdit="1"/>
          </p:cNvSpPr>
          <p:nvPr>
            <p:ph type="sldImg"/>
          </p:nvPr>
        </p:nvSpPr>
        <p:spPr>
          <a:xfrm>
            <a:off x="714375" y="742950"/>
            <a:ext cx="5365750" cy="3714750"/>
          </a:xfrm>
          <a:ln/>
        </p:spPr>
      </p:sp>
      <p:sp>
        <p:nvSpPr>
          <p:cNvPr id="9219" name="Rectangle 3">
            <a:extLst>
              <a:ext uri="{FF2B5EF4-FFF2-40B4-BE49-F238E27FC236}">
                <a16:creationId xmlns:a16="http://schemas.microsoft.com/office/drawing/2014/main" id="{F7D874F0-75E5-C942-874B-9E264B3D126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You are very familiar with schematic capture.   However modern digital design methods in general DO NOT use schematics.  Instead an engineer would specify the design requirement or the algorithm to be implemented in some form of computer language specially designed to describe hardware.  These are called “Hardware Description Languages” (HDLs).</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The most important advantages of HDL as a means of specifying your digital design are: 1) You can make the design take on parameters (such as number of bits in an adder); 2) it is much easier to use compilation and synthesis tools with a text file than with schematic; 3) it is very difficult to express an algorithm in diagram form, but it is very easy with a computer language; 4)  you can use various </a:t>
            </a:r>
            <a:r>
              <a:rPr lang="en-US" altLang="en-US" sz="1100" dirty="0" err="1">
                <a:ea typeface="ＭＳ Ｐゴシック" panose="020B0600070205080204" pitchFamily="34" charset="-128"/>
              </a:rPr>
              <a:t>datapath</a:t>
            </a:r>
            <a:r>
              <a:rPr lang="en-US" altLang="en-US" sz="1100" dirty="0">
                <a:ea typeface="ＭＳ Ｐゴシック" panose="020B0600070205080204" pitchFamily="34" charset="-128"/>
              </a:rPr>
              <a:t> operators such as +, * etc.; 5) you can easily edit, store and transmit a text file, and much hardware with a schematic diagram.</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For digital designs, schematic is NOT an option. Always use HDL.  In this lecture, I will demonstrate to you why with an example.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7">
            <a:extLst>
              <a:ext uri="{FF2B5EF4-FFF2-40B4-BE49-F238E27FC236}">
                <a16:creationId xmlns:a16="http://schemas.microsoft.com/office/drawing/2014/main" id="{F729CADD-A22A-8647-ACDA-49BAFABCA6C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308A2A8A-58DC-9C40-87EF-93E136C55EC5}" type="slidenum">
              <a:rPr lang="en-US" altLang="en-US" sz="1200" smtClean="0"/>
              <a:pPr/>
              <a:t>4</a:t>
            </a:fld>
            <a:endParaRPr lang="en-US" altLang="en-US" sz="1200"/>
          </a:p>
        </p:txBody>
      </p:sp>
      <p:sp>
        <p:nvSpPr>
          <p:cNvPr id="11266" name="Rectangle 2">
            <a:extLst>
              <a:ext uri="{FF2B5EF4-FFF2-40B4-BE49-F238E27FC236}">
                <a16:creationId xmlns:a16="http://schemas.microsoft.com/office/drawing/2014/main" id="{24BDA2ED-3B56-3F47-A3CA-24F088CBF645}"/>
              </a:ext>
            </a:extLst>
          </p:cNvPr>
          <p:cNvSpPr>
            <a:spLocks noGrp="1" noRot="1" noChangeAspect="1" noChangeArrowheads="1" noTextEdit="1"/>
          </p:cNvSpPr>
          <p:nvPr>
            <p:ph type="sldImg"/>
          </p:nvPr>
        </p:nvSpPr>
        <p:spPr>
          <a:xfrm>
            <a:off x="714375" y="742950"/>
            <a:ext cx="5365750" cy="3714750"/>
          </a:xfrm>
          <a:ln/>
        </p:spPr>
      </p:sp>
      <p:sp>
        <p:nvSpPr>
          <p:cNvPr id="11267" name="Rectangle 3">
            <a:extLst>
              <a:ext uri="{FF2B5EF4-FFF2-40B4-BE49-F238E27FC236}">
                <a16:creationId xmlns:a16="http://schemas.microsoft.com/office/drawing/2014/main" id="{BFCE88FD-B229-D247-B404-2A928998233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I have chosen to use Verilog HDL as the hardware description language for this module.  Verilog is very similar to the C language, which you should already know from last year.  However, you must always remember that YOU ARE USING IT TO DESCRIBE HARDWARE AND NOT AS A COMPUTER PROGRAMME.</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You can use Verilog to describe your digital hardware in three different level of abstraction:</a:t>
            </a:r>
          </a:p>
          <a:p>
            <a:pPr>
              <a:buFontTx/>
              <a:buAutoNum type="arabicParenR"/>
            </a:pPr>
            <a:r>
              <a:rPr lang="en-US" altLang="en-US" sz="1100" b="1" dirty="0">
                <a:ea typeface="ＭＳ Ｐゴシック" panose="020B0600070205080204" pitchFamily="34" charset="-128"/>
              </a:rPr>
              <a:t>  </a:t>
            </a:r>
            <a:r>
              <a:rPr lang="en-US" altLang="en-US" sz="1100" b="1" dirty="0" err="1">
                <a:ea typeface="ＭＳ Ｐゴシック" panose="020B0600070205080204" pitchFamily="34" charset="-128"/>
              </a:rPr>
              <a:t>Behavioural</a:t>
            </a:r>
            <a:r>
              <a:rPr lang="en-US" altLang="en-US" sz="1100" b="1" dirty="0">
                <a:ea typeface="ＭＳ Ｐゴシック" panose="020B0600070205080204" pitchFamily="34" charset="-128"/>
              </a:rPr>
              <a:t> Level</a:t>
            </a:r>
            <a:r>
              <a:rPr lang="en-US" altLang="en-US" sz="1100" dirty="0">
                <a:ea typeface="ＭＳ Ｐゴシック" panose="020B0600070205080204" pitchFamily="34" charset="-128"/>
              </a:rPr>
              <a:t> – you only describe how the hardware should behave without ANY reference to digital hardware.  </a:t>
            </a:r>
          </a:p>
          <a:p>
            <a:pPr>
              <a:buFontTx/>
              <a:buAutoNum type="arabicParenR"/>
            </a:pPr>
            <a:r>
              <a:rPr lang="en-US" altLang="en-US" sz="1100" b="1" dirty="0">
                <a:ea typeface="ＭＳ Ｐゴシック" panose="020B0600070205080204" pitchFamily="34" charset="-128"/>
              </a:rPr>
              <a:t>  Register-Transfer-Level </a:t>
            </a:r>
            <a:r>
              <a:rPr lang="en-US" altLang="en-US" sz="1100" dirty="0">
                <a:ea typeface="ＭＳ Ｐゴシック" panose="020B0600070205080204" pitchFamily="34" charset="-128"/>
              </a:rPr>
              <a:t>(RTL) – Here the description assumes the existence of registers and these are clocked by a clock signal.  Therefore digital data is transferred from one register to the next on successive clock cycles.  Timing (in terms of clock cycles) is therefore explicitly defined in the Verilog code.  This is the level of design we use most frequently in this course.</a:t>
            </a:r>
          </a:p>
          <a:p>
            <a:pPr>
              <a:buFontTx/>
              <a:buAutoNum type="arabicParenR"/>
            </a:pPr>
            <a:r>
              <a:rPr lang="en-US" altLang="en-US" sz="1100" b="1" dirty="0">
                <a:ea typeface="ＭＳ Ｐゴシック" panose="020B0600070205080204" pitchFamily="34" charset="-128"/>
              </a:rPr>
              <a:t>  Gate Level </a:t>
            </a:r>
            <a:r>
              <a:rPr lang="en-US" altLang="en-US" sz="1100" dirty="0">
                <a:ea typeface="ＭＳ Ｐゴシック" panose="020B0600070205080204" pitchFamily="34" charset="-128"/>
              </a:rPr>
              <a:t>– this is the lowest level description where each gate and its interconnection are explicitly specified.  </a:t>
            </a:r>
          </a:p>
          <a:p>
            <a:r>
              <a:rPr lang="en-US" altLang="en-US" sz="1100" dirty="0">
                <a:ea typeface="ＭＳ Ｐゴシック" panose="020B0600070205080204" pitchFamily="34" charset="-128"/>
              </a:rPr>
              <a:t>Verilog is not only a specification language which tells the CAD system what hardware is supposed to do, it also includes a complete simulation environment.  A Verilog compiler does more than mapping your code to hardware, it also can </a:t>
            </a:r>
            <a:r>
              <a:rPr lang="en-US" altLang="en-US" sz="1100" b="1" dirty="0">
                <a:ea typeface="ＭＳ Ｐゴシック" panose="020B0600070205080204" pitchFamily="34" charset="-128"/>
              </a:rPr>
              <a:t>simulate</a:t>
            </a:r>
            <a:r>
              <a:rPr lang="en-US" altLang="en-US" sz="1100" dirty="0">
                <a:ea typeface="ＭＳ Ｐゴシック" panose="020B0600070205080204" pitchFamily="34" charset="-128"/>
              </a:rPr>
              <a:t> (or execute) your design to predict the behaviour of your circuit.  It is the predominant language used for chip design.</a:t>
            </a:r>
          </a:p>
          <a:p>
            <a:r>
              <a:rPr lang="en-US" altLang="en-US" sz="1100" dirty="0">
                <a:ea typeface="ＭＳ Ｐゴシック" panose="020B0600070205080204" pitchFamily="34" charset="-128"/>
              </a:rPr>
              <a:t>You will learn Verilog through examples and exercises, not through lecture.  However, I will spend just this lecture to cover the basics of Verilog.  </a:t>
            </a:r>
          </a:p>
          <a:p>
            <a:endParaRPr lang="en-US" altLang="en-US" sz="1100" dirty="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a:extLst>
              <a:ext uri="{FF2B5EF4-FFF2-40B4-BE49-F238E27FC236}">
                <a16:creationId xmlns:a16="http://schemas.microsoft.com/office/drawing/2014/main" id="{2049FD91-69E1-EE4F-B7A4-D3F8EDEB173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D194B688-1A89-8F41-8F93-57FA5EB06846}" type="slidenum">
              <a:rPr lang="en-US" altLang="en-US" sz="1200" smtClean="0"/>
              <a:pPr/>
              <a:t>5</a:t>
            </a:fld>
            <a:endParaRPr lang="en-US" altLang="en-US" sz="1200"/>
          </a:p>
        </p:txBody>
      </p:sp>
      <p:sp>
        <p:nvSpPr>
          <p:cNvPr id="13314" name="Rectangle 2">
            <a:extLst>
              <a:ext uri="{FF2B5EF4-FFF2-40B4-BE49-F238E27FC236}">
                <a16:creationId xmlns:a16="http://schemas.microsoft.com/office/drawing/2014/main" id="{387D7E91-98EB-8C42-8668-4AF319EF5AFD}"/>
              </a:ext>
            </a:extLst>
          </p:cNvPr>
          <p:cNvSpPr>
            <a:spLocks noGrp="1" noRot="1" noChangeAspect="1" noChangeArrowheads="1" noTextEdit="1"/>
          </p:cNvSpPr>
          <p:nvPr>
            <p:ph type="sldImg"/>
          </p:nvPr>
        </p:nvSpPr>
        <p:spPr>
          <a:xfrm>
            <a:off x="714375" y="742950"/>
            <a:ext cx="5365750" cy="3714750"/>
          </a:xfrm>
          <a:ln/>
        </p:spPr>
      </p:sp>
      <p:sp>
        <p:nvSpPr>
          <p:cNvPr id="13315" name="Rectangle 3">
            <a:extLst>
              <a:ext uri="{FF2B5EF4-FFF2-40B4-BE49-F238E27FC236}">
                <a16:creationId xmlns:a16="http://schemas.microsoft.com/office/drawing/2014/main" id="{40669F20-EA15-AF48-828F-0729996805A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pPr>
              <a:spcBef>
                <a:spcPct val="0"/>
              </a:spcBef>
              <a:spcAft>
                <a:spcPts val="600"/>
              </a:spcAft>
            </a:pPr>
            <a:r>
              <a:rPr lang="en-US" altLang="en-US" sz="1100" dirty="0">
                <a:ea typeface="ＭＳ Ｐゴシック" panose="020B0600070205080204" pitchFamily="34" charset="-128"/>
              </a:rPr>
              <a:t>This is a Verilog module that specifies a 2-to-1 multiplexer.  It is rather similar to a C function (except for the </a:t>
            </a:r>
            <a:r>
              <a:rPr lang="en-US" altLang="en-US" sz="1100" b="1" dirty="0">
                <a:solidFill>
                  <a:srgbClr val="3366FF"/>
                </a:solidFill>
                <a:ea typeface="ＭＳ Ｐゴシック" panose="020B0600070205080204" pitchFamily="34" charset="-128"/>
              </a:rPr>
              <a:t>module</a:t>
            </a:r>
            <a:r>
              <a:rPr lang="en-US" altLang="en-US" sz="1100" dirty="0">
                <a:ea typeface="ＭＳ Ｐゴシック" panose="020B0600070205080204" pitchFamily="34" charset="-128"/>
              </a:rPr>
              <a:t> keyword).  </a:t>
            </a:r>
          </a:p>
          <a:p>
            <a:pPr>
              <a:spcBef>
                <a:spcPct val="0"/>
              </a:spcBef>
              <a:spcAft>
                <a:spcPts val="600"/>
              </a:spcAft>
            </a:pPr>
            <a:r>
              <a:rPr lang="en-US" altLang="en-US" sz="1100" dirty="0">
                <a:ea typeface="ＭＳ Ｐゴシック" panose="020B0600070205080204" pitchFamily="34" charset="-128"/>
              </a:rPr>
              <a:t>It is important to remember the basic structure of a Verilog module.  There is a module name: </a:t>
            </a:r>
            <a:r>
              <a:rPr lang="en-US" altLang="en-US" sz="1100" b="1" dirty="0">
                <a:ea typeface="ＭＳ Ｐゴシック" panose="020B0600070205080204" pitchFamily="34" charset="-128"/>
              </a:rPr>
              <a:t>mux2to1</a:t>
            </a:r>
            <a:r>
              <a:rPr lang="en-US" altLang="en-US" sz="1100" dirty="0">
                <a:ea typeface="ＭＳ Ｐゴシック" panose="020B0600070205080204" pitchFamily="34" charset="-128"/>
              </a:rPr>
              <a:t>.  There is a list of interface ports: 3 inputs </a:t>
            </a:r>
            <a:r>
              <a:rPr lang="en-US" altLang="en-US" sz="1100" b="1" dirty="0">
                <a:ea typeface="ＭＳ Ｐゴシック" panose="020B0600070205080204" pitchFamily="34" charset="-128"/>
              </a:rPr>
              <a:t>a</a:t>
            </a:r>
            <a:r>
              <a:rPr lang="en-US" altLang="en-US" sz="1100" dirty="0">
                <a:ea typeface="ＭＳ Ｐゴシック" panose="020B0600070205080204" pitchFamily="34" charset="-128"/>
              </a:rPr>
              <a:t>, </a:t>
            </a:r>
            <a:r>
              <a:rPr lang="en-US" altLang="en-US" sz="1100" b="1" dirty="0">
                <a:ea typeface="ＭＳ Ｐゴシック" panose="020B0600070205080204" pitchFamily="34" charset="-128"/>
              </a:rPr>
              <a:t>b</a:t>
            </a:r>
            <a:r>
              <a:rPr lang="en-US" altLang="en-US" sz="1100" dirty="0">
                <a:ea typeface="ＭＳ Ｐゴシック" panose="020B0600070205080204" pitchFamily="34" charset="-128"/>
              </a:rPr>
              <a:t> and </a:t>
            </a:r>
            <a:r>
              <a:rPr lang="en-US" altLang="en-US" sz="1100" b="1" dirty="0" err="1">
                <a:ea typeface="ＭＳ Ｐゴシック" panose="020B0600070205080204" pitchFamily="34" charset="-128"/>
              </a:rPr>
              <a:t>sel</a:t>
            </a:r>
            <a:r>
              <a:rPr lang="en-US" altLang="en-US" sz="1100" dirty="0">
                <a:ea typeface="ＭＳ Ｐゴシック" panose="020B0600070205080204" pitchFamily="34" charset="-128"/>
              </a:rPr>
              <a:t>, and 2 outputs </a:t>
            </a:r>
            <a:r>
              <a:rPr lang="en-US" altLang="en-US" sz="1100" b="1" dirty="0">
                <a:ea typeface="ＭＳ Ｐゴシック" panose="020B0600070205080204" pitchFamily="34" charset="-128"/>
              </a:rPr>
              <a:t>out</a:t>
            </a:r>
            <a:r>
              <a:rPr lang="en-US" altLang="en-US" sz="1100" dirty="0">
                <a:ea typeface="ＭＳ Ｐゴシック" panose="020B0600070205080204" pitchFamily="34" charset="-128"/>
              </a:rPr>
              <a:t> and </a:t>
            </a:r>
            <a:r>
              <a:rPr lang="en-US" altLang="en-US" sz="1100" b="1" dirty="0">
                <a:ea typeface="ＭＳ Ｐゴシック" panose="020B0600070205080204" pitchFamily="34" charset="-128"/>
              </a:rPr>
              <a:t>outbar</a:t>
            </a:r>
            <a:r>
              <a:rPr lang="en-US" altLang="en-US" sz="1100" dirty="0">
                <a:ea typeface="ＭＳ Ｐゴシック" panose="020B0600070205080204" pitchFamily="34" charset="-128"/>
              </a:rPr>
              <a:t>.  Always use meaningful names for both module name and variable names.</a:t>
            </a:r>
          </a:p>
          <a:p>
            <a:pPr>
              <a:spcBef>
                <a:spcPct val="0"/>
              </a:spcBef>
              <a:spcAft>
                <a:spcPts val="600"/>
              </a:spcAft>
            </a:pPr>
            <a:r>
              <a:rPr lang="en-US" altLang="en-US" sz="1100" dirty="0">
                <a:ea typeface="ＭＳ Ｐゴシック" panose="020B0600070205080204" pitchFamily="34" charset="-128"/>
              </a:rPr>
              <a:t>You must specify which port is input and which port is output, similar to the data type declaration in a C programme.</a:t>
            </a:r>
          </a:p>
          <a:p>
            <a:pPr>
              <a:spcBef>
                <a:spcPct val="0"/>
              </a:spcBef>
              <a:spcAft>
                <a:spcPts val="600"/>
              </a:spcAft>
            </a:pPr>
            <a:r>
              <a:rPr lang="en-US" altLang="en-US" sz="1100" dirty="0">
                <a:ea typeface="ＭＳ Ｐゴシック" panose="020B0600070205080204" pitchFamily="34" charset="-128"/>
              </a:rPr>
              <a:t>Finally, the 2-to-1 multiplexing function is specified in the </a:t>
            </a:r>
            <a:r>
              <a:rPr lang="en-US" altLang="en-US" sz="1100" b="1" dirty="0">
                <a:ea typeface="ＭＳ Ｐゴシック" panose="020B0600070205080204" pitchFamily="34" charset="-128"/>
              </a:rPr>
              <a:t>assign</a:t>
            </a:r>
            <a:r>
              <a:rPr lang="en-US" altLang="en-US" sz="1100" dirty="0">
                <a:ea typeface="ＭＳ Ｐゴシック" panose="020B0600070205080204" pitchFamily="34" charset="-128"/>
              </a:rPr>
              <a:t> statement with a construct that is found in C.  This is a </a:t>
            </a:r>
            <a:r>
              <a:rPr lang="en-US" altLang="en-US" sz="1100" b="1" dirty="0" err="1">
                <a:ea typeface="ＭＳ Ｐゴシック" panose="020B0600070205080204" pitchFamily="34" charset="-128"/>
              </a:rPr>
              <a:t>behavioural</a:t>
            </a:r>
            <a:r>
              <a:rPr lang="en-US" altLang="en-US" sz="1100" b="1" dirty="0">
                <a:ea typeface="ＭＳ Ｐゴシック" panose="020B0600070205080204" pitchFamily="34" charset="-128"/>
              </a:rPr>
              <a:t> </a:t>
            </a:r>
            <a:r>
              <a:rPr lang="en-US" altLang="en-US" sz="1100" dirty="0">
                <a:ea typeface="ＭＳ Ｐゴシック" panose="020B0600070205080204" pitchFamily="34" charset="-128"/>
              </a:rPr>
              <a:t>description of the multiplexer – no gates are involved.</a:t>
            </a:r>
          </a:p>
          <a:p>
            <a:pPr>
              <a:spcBef>
                <a:spcPct val="0"/>
              </a:spcBef>
              <a:spcAft>
                <a:spcPts val="600"/>
              </a:spcAft>
            </a:pPr>
            <a:r>
              <a:rPr lang="en-US" altLang="en-US" sz="1100" dirty="0">
                <a:ea typeface="ＭＳ Ｐゴシック" panose="020B0600070205080204" pitchFamily="34" charset="-128"/>
              </a:rPr>
              <a:t>The last statement specifies the relationship between </a:t>
            </a:r>
            <a:r>
              <a:rPr lang="en-US" altLang="en-US" sz="1100" b="1" dirty="0">
                <a:latin typeface="Courier" pitchFamily="2" charset="0"/>
                <a:ea typeface="ＭＳ Ｐゴシック" panose="020B0600070205080204" pitchFamily="34" charset="-128"/>
              </a:rPr>
              <a:t>out</a:t>
            </a:r>
            <a:r>
              <a:rPr lang="en-US" altLang="en-US" sz="1100" dirty="0">
                <a:ea typeface="ＭＳ Ｐゴシック" panose="020B0600070205080204" pitchFamily="34" charset="-128"/>
              </a:rPr>
              <a:t> and </a:t>
            </a:r>
            <a:r>
              <a:rPr lang="en-US" altLang="en-US" sz="1100" b="1" dirty="0">
                <a:latin typeface="Courier" pitchFamily="2" charset="0"/>
                <a:ea typeface="ＭＳ Ｐゴシック" panose="020B0600070205080204" pitchFamily="34" charset="-128"/>
              </a:rPr>
              <a:t>outbar</a:t>
            </a:r>
            <a:r>
              <a:rPr lang="en-US" altLang="en-US" sz="1100" dirty="0">
                <a:ea typeface="ＭＳ Ｐゴシック" panose="020B0600070205080204" pitchFamily="34" charset="-128"/>
              </a:rPr>
              <a:t>.  It is important to remember that Verilog describes HARDWARE not instruction code.  The two </a:t>
            </a:r>
            <a:r>
              <a:rPr lang="en-US" altLang="en-US" sz="1100" b="1" dirty="0">
                <a:ea typeface="ＭＳ Ｐゴシック" panose="020B0600070205080204" pitchFamily="34" charset="-128"/>
              </a:rPr>
              <a:t>assign</a:t>
            </a:r>
            <a:r>
              <a:rPr lang="en-US" altLang="en-US" sz="1100" dirty="0">
                <a:ea typeface="ＭＳ Ｐゴシック" panose="020B0600070205080204" pitchFamily="34" charset="-128"/>
              </a:rPr>
              <a:t> statements specify hardware that “execute” or perform the two hardware functions in parallel.  Therefore their </a:t>
            </a:r>
            <a:r>
              <a:rPr lang="en-US" altLang="en-US" sz="1100" b="1" dirty="0">
                <a:ea typeface="ＭＳ Ｐゴシック" panose="020B0600070205080204" pitchFamily="34" charset="-128"/>
              </a:rPr>
              <a:t>order does not matter</a:t>
            </a:r>
            <a:r>
              <a:rPr lang="en-US" altLang="en-US" sz="1100" dirty="0">
                <a:ea typeface="ＭＳ Ｐゴシック" panose="020B0600070205080204" pitchFamily="34" charset="-128"/>
              </a:rPr>
              <a:t>.</a:t>
            </a:r>
          </a:p>
          <a:p>
            <a:endParaRPr lang="en-US" altLang="en-US" sz="1100" dirty="0">
              <a:ea typeface="ＭＳ Ｐゴシック" panose="020B0600070205080204" pitchFamily="34" charset="-128"/>
            </a:endParaRPr>
          </a:p>
          <a:p>
            <a:endParaRPr lang="en-US" altLang="en-US" sz="1100" dirty="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2FB9C24A-1E12-5F40-B0AA-83EA5543206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A730B0FE-6144-7D47-9E7D-F1F943711D87}" type="slidenum">
              <a:rPr lang="en-US" altLang="en-US" sz="1200" smtClean="0"/>
              <a:pPr/>
              <a:t>6</a:t>
            </a:fld>
            <a:endParaRPr lang="en-US" altLang="en-US" sz="1200"/>
          </a:p>
        </p:txBody>
      </p:sp>
      <p:sp>
        <p:nvSpPr>
          <p:cNvPr id="15362" name="Rectangle 2">
            <a:extLst>
              <a:ext uri="{FF2B5EF4-FFF2-40B4-BE49-F238E27FC236}">
                <a16:creationId xmlns:a16="http://schemas.microsoft.com/office/drawing/2014/main" id="{BAD8A7A8-D36A-3446-87D3-6387D98D982B}"/>
              </a:ext>
            </a:extLst>
          </p:cNvPr>
          <p:cNvSpPr>
            <a:spLocks noGrp="1" noRot="1" noChangeAspect="1" noChangeArrowheads="1" noTextEdit="1"/>
          </p:cNvSpPr>
          <p:nvPr>
            <p:ph type="sldImg"/>
          </p:nvPr>
        </p:nvSpPr>
        <p:spPr>
          <a:xfrm>
            <a:off x="714375" y="742950"/>
            <a:ext cx="5365750" cy="3714750"/>
          </a:xfrm>
          <a:ln/>
        </p:spPr>
      </p:sp>
      <p:sp>
        <p:nvSpPr>
          <p:cNvPr id="15363" name="Rectangle 3">
            <a:extLst>
              <a:ext uri="{FF2B5EF4-FFF2-40B4-BE49-F238E27FC236}">
                <a16:creationId xmlns:a16="http://schemas.microsoft.com/office/drawing/2014/main" id="{A39991D5-3844-8D4D-BA9C-502A2C00CB5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Continuous assignment specifies combinational circuits – output is continuously reflecting the operations applied to the input, just like hardware.</a:t>
            </a:r>
          </a:p>
          <a:p>
            <a:r>
              <a:rPr lang="en-US" altLang="en-US" sz="1100" dirty="0">
                <a:ea typeface="ＭＳ Ｐゴシック" panose="020B0600070205080204" pitchFamily="34" charset="-128"/>
              </a:rPr>
              <a:t>Remember that unlike a programming language, the two continuous assignment statements here ARE specifying hardware in PARALLEL, not in series.</a:t>
            </a:r>
          </a:p>
          <a:p>
            <a:r>
              <a:rPr lang="en-US" altLang="en-US" sz="1100" dirty="0">
                <a:ea typeface="ＭＳ Ｐゴシック" panose="020B0600070205080204" pitchFamily="34" charset="-128"/>
              </a:rPr>
              <a:t>Here we also see the conditional statement that is found in C.  This maps perfectly to the function of a 2-to-1 multiplexer in hardware and is widely used in Verilog.</a:t>
            </a:r>
          </a:p>
          <a:p>
            <a:r>
              <a:rPr lang="en-US" altLang="en-US" sz="1100" dirty="0">
                <a:ea typeface="ＭＳ Ｐゴシック" panose="020B0600070205080204" pitchFamily="34" charset="-128"/>
              </a:rPr>
              <a:t>Furthermore, there are many other Boolean and arithmetic operators defined in Verilog (as in C). Here is a quick summary of all the Verilog operators (used in an expression).  </a:t>
            </a:r>
          </a:p>
          <a:p>
            <a:r>
              <a:rPr lang="en-US" altLang="en-US" sz="1100" dirty="0">
                <a:ea typeface="ＭＳ Ｐゴシック" panose="020B0600070205080204" pitchFamily="34" charset="-128"/>
              </a:rPr>
              <a:t>(What is  </a:t>
            </a:r>
            <a:r>
              <a:rPr lang="ja-JP" altLang="en-US" sz="1100">
                <a:ea typeface="ＭＳ Ｐゴシック" panose="020B0600070205080204" pitchFamily="34" charset="-128"/>
              </a:rPr>
              <a:t>“</a:t>
            </a:r>
            <a:r>
              <a:rPr lang="en-US" altLang="ja-JP" sz="1100" dirty="0">
                <a:ea typeface="ＭＳ Ｐゴシック" panose="020B0600070205080204" pitchFamily="34" charset="-128"/>
              </a:rPr>
              <a:t>reduction and &amp;</a:t>
            </a:r>
            <a:r>
              <a:rPr lang="ja-JP" altLang="en-US" sz="1100">
                <a:ea typeface="ＭＳ Ｐゴシック" panose="020B0600070205080204" pitchFamily="34" charset="-128"/>
              </a:rPr>
              <a:t>”</a:t>
            </a:r>
            <a:r>
              <a:rPr lang="en-US" altLang="ja-JP" sz="1100" dirty="0">
                <a:ea typeface="ＭＳ Ｐゴシック" panose="020B0600070205080204" pitchFamily="34" charset="-128"/>
              </a:rPr>
              <a:t>?  I want you to find this yourself online.)</a:t>
            </a:r>
            <a:endParaRPr lang="en-US" altLang="en-US" sz="1100" dirty="0">
              <a:ea typeface="ＭＳ Ｐゴシック" panose="020B0600070205080204" pitchFamily="34" charset="-128"/>
            </a:endParaRPr>
          </a:p>
        </p:txBody>
      </p:sp>
      <p:pic>
        <p:nvPicPr>
          <p:cNvPr id="15364" name="Picture 4">
            <a:extLst>
              <a:ext uri="{FF2B5EF4-FFF2-40B4-BE49-F238E27FC236}">
                <a16:creationId xmlns:a16="http://schemas.microsoft.com/office/drawing/2014/main" id="{E8FADDCA-87E9-804C-B2CD-0C64F16BD1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3788" y="6753225"/>
            <a:ext cx="2227262" cy="2663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15365" name="Picture 5">
            <a:extLst>
              <a:ext uri="{FF2B5EF4-FFF2-40B4-BE49-F238E27FC236}">
                <a16:creationId xmlns:a16="http://schemas.microsoft.com/office/drawing/2014/main" id="{60EAF5B6-9E8C-6F4C-ABF4-DAB6609341F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13150" y="6753225"/>
            <a:ext cx="1927225" cy="17287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B117FA39-CB81-4D48-94AF-F4110E8F1DD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D96197A9-639F-C24E-A075-D23BE674FC93}" type="slidenum">
              <a:rPr lang="en-US" altLang="en-US" sz="1200" smtClean="0"/>
              <a:pPr/>
              <a:t>7</a:t>
            </a:fld>
            <a:endParaRPr lang="en-US" altLang="en-US" sz="1200"/>
          </a:p>
        </p:txBody>
      </p:sp>
      <p:sp>
        <p:nvSpPr>
          <p:cNvPr id="17410" name="Rectangle 2">
            <a:extLst>
              <a:ext uri="{FF2B5EF4-FFF2-40B4-BE49-F238E27FC236}">
                <a16:creationId xmlns:a16="http://schemas.microsoft.com/office/drawing/2014/main" id="{EEE382D8-F5CA-B748-A8F1-A76FB437A6C8}"/>
              </a:ext>
            </a:extLst>
          </p:cNvPr>
          <p:cNvSpPr>
            <a:spLocks noGrp="1" noRot="1" noChangeAspect="1" noChangeArrowheads="1" noTextEdit="1"/>
          </p:cNvSpPr>
          <p:nvPr>
            <p:ph type="sldImg"/>
          </p:nvPr>
        </p:nvSpPr>
        <p:spPr>
          <a:xfrm>
            <a:off x="714375" y="742950"/>
            <a:ext cx="5365750" cy="3714750"/>
          </a:xfrm>
          <a:ln/>
        </p:spPr>
      </p:sp>
      <p:sp>
        <p:nvSpPr>
          <p:cNvPr id="17411" name="Rectangle 3">
            <a:extLst>
              <a:ext uri="{FF2B5EF4-FFF2-40B4-BE49-F238E27FC236}">
                <a16:creationId xmlns:a16="http://schemas.microsoft.com/office/drawing/2014/main" id="{AA7F20ED-3FDE-FB45-9AC3-A2518C4F3E0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While the previous Verilog code for the 2-to-1 mux only specifies “</a:t>
            </a:r>
            <a:r>
              <a:rPr lang="en-US" altLang="ja-JP" sz="1100" b="1">
                <a:ea typeface="ＭＳ Ｐゴシック" panose="020B0600070205080204" pitchFamily="34" charset="-128"/>
              </a:rPr>
              <a:t>behaviour</a:t>
            </a:r>
            <a:r>
              <a:rPr lang="en-US" altLang="en-US" sz="1100">
                <a:ea typeface="ＭＳ Ｐゴシック" panose="020B0600070205080204" pitchFamily="34" charset="-128"/>
              </a:rPr>
              <a:t>”</a:t>
            </a:r>
            <a:r>
              <a:rPr lang="en-US" altLang="ja-JP" sz="1100">
                <a:ea typeface="ＭＳ Ｐゴシック" panose="020B0600070205080204" pitchFamily="34" charset="-128"/>
              </a:rPr>
              <a:t>, here is one that specifies a gate implementation of the same circuit.  Three types of gates are used: </a:t>
            </a:r>
            <a:r>
              <a:rPr lang="en-US" altLang="ja-JP" sz="1100" b="1">
                <a:ea typeface="ＭＳ Ｐゴシック" panose="020B0600070205080204" pitchFamily="34" charset="-128"/>
              </a:rPr>
              <a:t>and</a:t>
            </a:r>
            <a:r>
              <a:rPr lang="en-US" altLang="ja-JP" sz="1100">
                <a:ea typeface="ＭＳ Ｐゴシック" panose="020B0600070205080204" pitchFamily="34" charset="-128"/>
              </a:rPr>
              <a:t>, </a:t>
            </a:r>
            <a:r>
              <a:rPr lang="en-US" altLang="ja-JP" sz="1100" b="1">
                <a:ea typeface="ＭＳ Ｐゴシック" panose="020B0600070205080204" pitchFamily="34" charset="-128"/>
              </a:rPr>
              <a:t>or</a:t>
            </a:r>
            <a:r>
              <a:rPr lang="en-US" altLang="ja-JP" sz="1100">
                <a:ea typeface="ＭＳ Ｐゴシック" panose="020B0600070205080204" pitchFamily="34" charset="-128"/>
              </a:rPr>
              <a:t> and </a:t>
            </a:r>
            <a:r>
              <a:rPr lang="en-US" altLang="ja-JP" sz="1100" b="1">
                <a:ea typeface="ＭＳ Ｐゴシック" panose="020B0600070205080204" pitchFamily="34" charset="-128"/>
              </a:rPr>
              <a:t>not</a:t>
            </a:r>
            <a:r>
              <a:rPr lang="en-US" altLang="ja-JP" sz="1100">
                <a:ea typeface="ＭＳ Ｐゴシック" panose="020B0600070205080204" pitchFamily="34" charset="-128"/>
              </a:rPr>
              <a:t> gates.  There are internal nets (declared as </a:t>
            </a:r>
            <a:r>
              <a:rPr lang="en-US" altLang="ja-JP" sz="1100" b="1">
                <a:ea typeface="ＭＳ Ｐゴシック" panose="020B0600070205080204" pitchFamily="34" charset="-128"/>
              </a:rPr>
              <a:t>wire</a:t>
            </a:r>
            <a:r>
              <a:rPr lang="en-US" altLang="ja-JP" sz="1100">
                <a:ea typeface="ＭＳ Ｐゴシック" panose="020B0600070205080204" pitchFamily="34" charset="-128"/>
              </a:rPr>
              <a:t>) which must also be declared and are used to connect gates together.</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Keywords such as </a:t>
            </a:r>
            <a:r>
              <a:rPr lang="en-US" altLang="en-US" sz="1100" b="1">
                <a:ea typeface="ＭＳ Ｐゴシック" panose="020B0600070205080204" pitchFamily="34" charset="-128"/>
              </a:rPr>
              <a:t>and</a:t>
            </a:r>
            <a:r>
              <a:rPr lang="en-US" altLang="en-US" sz="1100">
                <a:ea typeface="ＭＳ Ｐゴシック" panose="020B0600070205080204" pitchFamily="34" charset="-128"/>
              </a:rPr>
              <a:t>, </a:t>
            </a:r>
            <a:r>
              <a:rPr lang="en-US" altLang="en-US" sz="1100" b="1">
                <a:ea typeface="ＭＳ Ｐゴシック" panose="020B0600070205080204" pitchFamily="34" charset="-128"/>
              </a:rPr>
              <a:t>or</a:t>
            </a:r>
            <a:r>
              <a:rPr lang="en-US" altLang="en-US" sz="1100">
                <a:ea typeface="ＭＳ Ｐゴシック" panose="020B0600070205080204" pitchFamily="34" charset="-128"/>
              </a:rPr>
              <a:t> and </a:t>
            </a:r>
            <a:r>
              <a:rPr lang="en-US" altLang="en-US" sz="1100" b="1">
                <a:ea typeface="ＭＳ Ｐゴシック" panose="020B0600070205080204" pitchFamily="34" charset="-128"/>
              </a:rPr>
              <a:t>xor</a:t>
            </a:r>
            <a:r>
              <a:rPr lang="en-US" altLang="en-US" sz="1100">
                <a:ea typeface="ＭＳ Ｐゴシック" panose="020B0600070205080204" pitchFamily="34" charset="-128"/>
              </a:rPr>
              <a:t> are special – they specify actual logic gates.  They are also special in that the number of inputs to the and-gate can be 2, 3, 4, ….. Any length!</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Note that this module uses TWO AND gates, and they have different names: a1 and a2.  These are TWO </a:t>
            </a:r>
            <a:r>
              <a:rPr lang="en-US" altLang="en-US" sz="1100" b="1">
                <a:ea typeface="ＭＳ Ｐゴシック" panose="020B0600070205080204" pitchFamily="34" charset="-128"/>
              </a:rPr>
              <a:t>separate</a:t>
            </a:r>
            <a:r>
              <a:rPr lang="en-US" altLang="en-US" sz="1100">
                <a:ea typeface="ＭＳ Ｐゴシック" panose="020B0600070205080204" pitchFamily="34" charset="-128"/>
              </a:rPr>
              <a:t> </a:t>
            </a:r>
            <a:r>
              <a:rPr lang="en-US" altLang="en-US" sz="1100" b="1">
                <a:ea typeface="ＭＳ Ｐゴシック" panose="020B0600070205080204" pitchFamily="34" charset="-128"/>
              </a:rPr>
              <a:t>instances</a:t>
            </a:r>
            <a:r>
              <a:rPr lang="en-US" altLang="en-US" sz="1100">
                <a:ea typeface="ＭＳ Ｐゴシック" panose="020B0600070205080204" pitchFamily="34" charset="-128"/>
              </a:rPr>
              <a:t> of the AND gate.  In software, “calling” a function simple execute the same piece of programme code.   Here the two statements </a:t>
            </a:r>
            <a:r>
              <a:rPr lang="ja-JP" altLang="en-US" sz="1100">
                <a:ea typeface="ＭＳ Ｐゴシック" panose="020B0600070205080204" pitchFamily="34" charset="-128"/>
              </a:rPr>
              <a:t>”</a:t>
            </a:r>
            <a:r>
              <a:rPr lang="en-US" altLang="ja-JP" sz="1100" b="1">
                <a:ea typeface="ＭＳ Ｐゴシック" panose="020B0600070205080204" pitchFamily="34" charset="-128"/>
              </a:rPr>
              <a:t>and a1 (out1, </a:t>
            </a:r>
            <a:r>
              <a:rPr lang="en-US" altLang="ja-JP" sz="1100">
                <a:ea typeface="ＭＳ Ｐゴシック" panose="020B0600070205080204" pitchFamily="34" charset="-128"/>
              </a:rPr>
              <a:t>…</a:t>
            </a:r>
            <a:r>
              <a:rPr lang="en-US" altLang="en-US" sz="1100">
                <a:ea typeface="ＭＳ Ｐゴシック" panose="020B0600070205080204" pitchFamily="34" charset="-128"/>
              </a:rPr>
              <a:t>”</a:t>
            </a:r>
            <a:r>
              <a:rPr lang="en-US" altLang="ja-JP" sz="1100">
                <a:ea typeface="ＭＳ Ｐゴシック" panose="020B0600070205080204" pitchFamily="34" charset="-128"/>
              </a:rPr>
              <a:t> and </a:t>
            </a:r>
            <a:r>
              <a:rPr lang="en-US" altLang="en-US" sz="1100">
                <a:ea typeface="ＭＳ Ｐゴシック" panose="020B0600070205080204" pitchFamily="34" charset="-128"/>
              </a:rPr>
              <a:t>“</a:t>
            </a:r>
            <a:r>
              <a:rPr lang="en-US" altLang="ja-JP" sz="1100" b="1">
                <a:ea typeface="ＭＳ Ｐゴシック" panose="020B0600070205080204" pitchFamily="34" charset="-128"/>
              </a:rPr>
              <a:t>and a2 (out2 …</a:t>
            </a:r>
            <a:r>
              <a:rPr lang="en-US" altLang="en-US" sz="1100">
                <a:ea typeface="ＭＳ Ｐゴシック" panose="020B0600070205080204" pitchFamily="34" charset="-128"/>
              </a:rPr>
              <a:t>”</a:t>
            </a:r>
            <a:r>
              <a:rPr lang="en-US" altLang="ja-JP" sz="1100">
                <a:ea typeface="ＭＳ Ｐゴシック" panose="020B0600070205080204" pitchFamily="34" charset="-128"/>
              </a:rPr>
              <a:t> produce two separate piece of hardware.  We say that each line is </a:t>
            </a:r>
            <a:r>
              <a:rPr lang="en-US" altLang="en-US" sz="1100">
                <a:ea typeface="ＭＳ Ｐゴシック" panose="020B0600070205080204" pitchFamily="34" charset="-128"/>
              </a:rPr>
              <a:t>“</a:t>
            </a:r>
            <a:r>
              <a:rPr lang="en-US" altLang="ja-JP" sz="1100" b="1">
                <a:ea typeface="ＭＳ Ｐゴシック" panose="020B0600070205080204" pitchFamily="34" charset="-128"/>
              </a:rPr>
              <a:t>instantiating</a:t>
            </a:r>
            <a:r>
              <a:rPr lang="en-US" altLang="en-US" sz="1100">
                <a:ea typeface="ＭＳ Ｐゴシック" panose="020B0600070205080204" pitchFamily="34" charset="-128"/>
              </a:rPr>
              <a:t>”</a:t>
            </a:r>
            <a:r>
              <a:rPr lang="en-US" altLang="ja-JP" sz="1100">
                <a:ea typeface="ＭＳ Ｐゴシック" panose="020B0600070205080204" pitchFamily="34" charset="-128"/>
              </a:rPr>
              <a:t> an AND gate.</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Wiring up the gates is through the use of ports and wires, and depends on the positions of these “nets”.  For example, </a:t>
            </a:r>
            <a:r>
              <a:rPr lang="en-US" altLang="en-US" sz="1100" b="1">
                <a:ea typeface="ＭＳ Ｐゴシック" panose="020B0600070205080204" pitchFamily="34" charset="-128"/>
              </a:rPr>
              <a:t>out1</a:t>
            </a:r>
            <a:r>
              <a:rPr lang="en-US" altLang="en-US" sz="1100">
                <a:ea typeface="ＭＳ Ｐゴシック" panose="020B0600070205080204" pitchFamily="34" charset="-128"/>
              </a:rPr>
              <a:t> is the output net of the AND gate </a:t>
            </a:r>
            <a:r>
              <a:rPr lang="en-US" altLang="en-US" sz="1100" b="1">
                <a:ea typeface="ＭＳ Ｐゴシック" panose="020B0600070205080204" pitchFamily="34" charset="-128"/>
              </a:rPr>
              <a:t>a1</a:t>
            </a:r>
            <a:r>
              <a:rPr lang="en-US" altLang="en-US" sz="1100">
                <a:ea typeface="ＭＳ Ｐゴシック" panose="020B0600070205080204" pitchFamily="34" charset="-128"/>
              </a:rPr>
              <a:t>, and it is connected to the input of the </a:t>
            </a:r>
            <a:r>
              <a:rPr lang="en-US" altLang="en-US" sz="1100" b="1">
                <a:ea typeface="ＭＳ Ｐゴシック" panose="020B0600070205080204" pitchFamily="34" charset="-128"/>
              </a:rPr>
              <a:t>OR</a:t>
            </a:r>
            <a:r>
              <a:rPr lang="en-US" altLang="en-US" sz="1100">
                <a:ea typeface="ＭＳ Ｐゴシック" panose="020B0600070205080204" pitchFamily="34" charset="-128"/>
              </a:rPr>
              <a:t> gate </a:t>
            </a:r>
            <a:r>
              <a:rPr lang="en-US" altLang="en-US" sz="1100" b="1">
                <a:ea typeface="ＭＳ Ｐゴシック" panose="020B0600070205080204" pitchFamily="34" charset="-128"/>
              </a:rPr>
              <a:t>it</a:t>
            </a:r>
            <a:r>
              <a:rPr lang="en-US" altLang="en-US" sz="1100">
                <a:ea typeface="ＭＳ Ｐゴシック" panose="020B0600070205080204" pitchFamily="34" charset="-128"/>
              </a:rPr>
              <a:t>by virtual of its location in the gate port list.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33E6A776-E3A9-6544-AF0A-543C98C99BA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F45543A1-0CF4-EB40-BFE9-DDC587653A7D}" type="slidenum">
              <a:rPr lang="en-US" altLang="en-US" sz="1200" smtClean="0"/>
              <a:pPr/>
              <a:t>8</a:t>
            </a:fld>
            <a:endParaRPr lang="en-US" altLang="en-US" sz="1200"/>
          </a:p>
        </p:txBody>
      </p:sp>
      <p:sp>
        <p:nvSpPr>
          <p:cNvPr id="19458" name="Rectangle 2">
            <a:extLst>
              <a:ext uri="{FF2B5EF4-FFF2-40B4-BE49-F238E27FC236}">
                <a16:creationId xmlns:a16="http://schemas.microsoft.com/office/drawing/2014/main" id="{F1593EAE-99A6-254B-9C81-94784F5E9322}"/>
              </a:ext>
            </a:extLst>
          </p:cNvPr>
          <p:cNvSpPr>
            <a:spLocks noGrp="1" noRot="1" noChangeAspect="1" noChangeArrowheads="1" noTextEdit="1"/>
          </p:cNvSpPr>
          <p:nvPr>
            <p:ph type="sldImg"/>
          </p:nvPr>
        </p:nvSpPr>
        <p:spPr>
          <a:xfrm>
            <a:off x="714375" y="742950"/>
            <a:ext cx="5365750" cy="3714750"/>
          </a:xfrm>
          <a:solidFill>
            <a:schemeClr val="tx1"/>
          </a:solidFill>
          <a:ln/>
        </p:spPr>
      </p:sp>
      <p:sp>
        <p:nvSpPr>
          <p:cNvPr id="19459" name="Rectangle 3">
            <a:extLst>
              <a:ext uri="{FF2B5EF4-FFF2-40B4-BE49-F238E27FC236}">
                <a16:creationId xmlns:a16="http://schemas.microsoft.com/office/drawing/2014/main" id="{A439F6FA-4C0E-2B40-AF9A-79DC27906B1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So far we have used Verilog in very hardware specific way.  “assign” and using gate specification are special to Verilog.  You do not find these in C.</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Here is something that is more like C – and it is called “</a:t>
            </a:r>
            <a:r>
              <a:rPr lang="en-US" altLang="ja-JP" sz="1100" b="1" dirty="0">
                <a:ea typeface="ＭＳ Ｐゴシック" panose="020B0600070205080204" pitchFamily="34" charset="-128"/>
              </a:rPr>
              <a:t>procedural assignment</a:t>
            </a:r>
            <a:r>
              <a:rPr lang="en-US" altLang="en-US" sz="1100" dirty="0">
                <a:ea typeface="ＭＳ Ｐゴシック" panose="020B0600070205080204" pitchFamily="34" charset="-128"/>
              </a:rPr>
              <a:t>”</a:t>
            </a:r>
            <a:r>
              <a:rPr lang="en-US" altLang="ja-JP" sz="1100" dirty="0">
                <a:ea typeface="ＭＳ Ｐゴシック" panose="020B0600070205080204" pitchFamily="34" charset="-128"/>
              </a:rPr>
              <a:t>.  Typically we use something called </a:t>
            </a:r>
            <a:r>
              <a:rPr lang="en-US" altLang="en-US" sz="1100" dirty="0">
                <a:ea typeface="ＭＳ Ｐゴシック" panose="020B0600070205080204" pitchFamily="34" charset="-128"/>
              </a:rPr>
              <a:t>“</a:t>
            </a:r>
            <a:r>
              <a:rPr lang="en-US" altLang="ja-JP" sz="1100" b="1" dirty="0">
                <a:ea typeface="ＭＳ Ｐゴシック" panose="020B0600070205080204" pitchFamily="34" charset="-128"/>
              </a:rPr>
              <a:t>always</a:t>
            </a:r>
            <a:r>
              <a:rPr lang="en-US" altLang="en-US" sz="1100" dirty="0">
                <a:ea typeface="ＭＳ Ｐゴシック" panose="020B0600070205080204" pitchFamily="34" charset="-128"/>
              </a:rPr>
              <a:t>”</a:t>
            </a:r>
            <a:r>
              <a:rPr lang="en-US" altLang="ja-JP" sz="1100" dirty="0">
                <a:ea typeface="ＭＳ Ｐゴシック" panose="020B0600070205080204" pitchFamily="34" charset="-128"/>
              </a:rPr>
              <a:t> block to specify a </a:t>
            </a:r>
            <a:r>
              <a:rPr lang="en-US" altLang="en-US" sz="1100" dirty="0">
                <a:ea typeface="ＭＳ Ｐゴシック" panose="020B0600070205080204" pitchFamily="34" charset="-128"/>
              </a:rPr>
              <a:t>“</a:t>
            </a:r>
            <a:r>
              <a:rPr lang="en-US" altLang="ja-JP" sz="1100" b="1" dirty="0">
                <a:ea typeface="ＭＳ Ｐゴシック" panose="020B0600070205080204" pitchFamily="34" charset="-128"/>
              </a:rPr>
              <a:t>procedure</a:t>
            </a:r>
            <a:r>
              <a:rPr lang="en-US" altLang="en-US" sz="1100" dirty="0">
                <a:ea typeface="ＭＳ Ｐゴシック" panose="020B0600070205080204" pitchFamily="34" charset="-128"/>
              </a:rPr>
              <a:t>”</a:t>
            </a:r>
            <a:r>
              <a:rPr lang="en-US" altLang="ja-JP" sz="1100" dirty="0">
                <a:ea typeface="ＭＳ Ｐゴシック" panose="020B0600070205080204" pitchFamily="34" charset="-128"/>
              </a:rPr>
              <a:t>, i.e. a collection of sequential statements which are sandwiched between the </a:t>
            </a:r>
            <a:r>
              <a:rPr lang="en-US" altLang="ja-JP" sz="1100" b="1" dirty="0">
                <a:ea typeface="ＭＳ Ｐゴシック" panose="020B0600070205080204" pitchFamily="34" charset="-128"/>
              </a:rPr>
              <a:t>begin-end </a:t>
            </a:r>
            <a:r>
              <a:rPr lang="en-US" altLang="ja-JP" sz="1100" dirty="0">
                <a:ea typeface="ＭＳ Ｐゴシック" panose="020B0600070205080204" pitchFamily="34" charset="-128"/>
              </a:rPr>
              <a:t>construct.</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The </a:t>
            </a:r>
            <a:r>
              <a:rPr lang="en-US" altLang="en-US" sz="1100" b="1" dirty="0">
                <a:ea typeface="ＭＳ Ｐゴシック" panose="020B0600070205080204" pitchFamily="34" charset="-128"/>
              </a:rPr>
              <a:t>always</a:t>
            </a:r>
            <a:r>
              <a:rPr lang="en-US" altLang="en-US" sz="1100" dirty="0">
                <a:ea typeface="ＭＳ Ｐゴシック" panose="020B0600070205080204" pitchFamily="34" charset="-128"/>
              </a:rPr>
              <a:t> block needs a </a:t>
            </a:r>
            <a:r>
              <a:rPr lang="en-US" altLang="en-US" sz="1100" b="1" dirty="0">
                <a:ea typeface="ＭＳ Ｐゴシック" panose="020B0600070205080204" pitchFamily="34" charset="-128"/>
              </a:rPr>
              <a:t>sensitivity list </a:t>
            </a:r>
            <a:r>
              <a:rPr lang="en-US" altLang="en-US" sz="1100" dirty="0">
                <a:ea typeface="ＭＳ Ｐゴシック" panose="020B0600070205080204" pitchFamily="34" charset="-128"/>
              </a:rPr>
              <a:t>– a list of signals which, if ANY of these signals changes, the </a:t>
            </a:r>
            <a:r>
              <a:rPr lang="en-US" altLang="en-US" sz="1100" b="1" dirty="0">
                <a:ea typeface="ＭＳ Ｐゴシック" panose="020B0600070205080204" pitchFamily="34" charset="-128"/>
              </a:rPr>
              <a:t>always</a:t>
            </a:r>
            <a:r>
              <a:rPr lang="en-US" altLang="en-US" sz="1100" dirty="0">
                <a:ea typeface="ＭＳ Ｐゴシック" panose="020B0600070205080204" pitchFamily="34" charset="-128"/>
              </a:rPr>
              <a:t> block will be invoked.  You may read this block as:</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“always at any changes in nets </a:t>
            </a:r>
            <a:r>
              <a:rPr lang="en-US" altLang="en-US" sz="1100" b="1" dirty="0">
                <a:ea typeface="ＭＳ Ｐゴシック" panose="020B0600070205080204" pitchFamily="34" charset="-128"/>
              </a:rPr>
              <a:t>a</a:t>
            </a:r>
            <a:r>
              <a:rPr lang="en-US" altLang="en-US" sz="1100" dirty="0">
                <a:ea typeface="ＭＳ Ｐゴシック" panose="020B0600070205080204" pitchFamily="34" charset="-128"/>
              </a:rPr>
              <a:t>, </a:t>
            </a:r>
            <a:r>
              <a:rPr lang="en-US" altLang="en-US" sz="1100" b="1" dirty="0">
                <a:ea typeface="ＭＳ Ｐゴシック" panose="020B0600070205080204" pitchFamily="34" charset="-128"/>
              </a:rPr>
              <a:t>b</a:t>
            </a:r>
            <a:r>
              <a:rPr lang="en-US" altLang="en-US" sz="1100" dirty="0">
                <a:ea typeface="ＭＳ Ｐゴシック" panose="020B0600070205080204" pitchFamily="34" charset="-128"/>
              </a:rPr>
              <a:t> or </a:t>
            </a:r>
            <a:r>
              <a:rPr lang="en-US" altLang="en-US" sz="1100" b="1" dirty="0" err="1">
                <a:ea typeface="ＭＳ Ｐゴシック" panose="020B0600070205080204" pitchFamily="34" charset="-128"/>
              </a:rPr>
              <a:t>sel</a:t>
            </a:r>
            <a:r>
              <a:rPr lang="en-US" altLang="en-US" sz="1100" dirty="0">
                <a:ea typeface="ＭＳ Ｐゴシック" panose="020B0600070205080204" pitchFamily="34" charset="-128"/>
              </a:rPr>
              <a:t>, do the bits between </a:t>
            </a:r>
            <a:r>
              <a:rPr lang="en-US" altLang="en-US" sz="1100" b="1" dirty="0">
                <a:ea typeface="ＭＳ Ｐゴシック" panose="020B0600070205080204" pitchFamily="34" charset="-128"/>
              </a:rPr>
              <a:t>begin </a:t>
            </a:r>
            <a:r>
              <a:rPr lang="en-US" altLang="en-US" sz="1100" dirty="0">
                <a:ea typeface="ＭＳ Ｐゴシック" panose="020B0600070205080204" pitchFamily="34" charset="-128"/>
              </a:rPr>
              <a:t>and</a:t>
            </a:r>
            <a:r>
              <a:rPr lang="en-US" altLang="en-US" sz="1100" b="1" dirty="0">
                <a:ea typeface="ＭＳ Ｐゴシック" panose="020B0600070205080204" pitchFamily="34" charset="-128"/>
              </a:rPr>
              <a:t> end</a:t>
            </a:r>
            <a:r>
              <a:rPr lang="en-US" altLang="en-US" sz="1100" dirty="0">
                <a:ea typeface="ＭＳ Ｐゴシック" panose="020B0600070205080204" pitchFamily="34" charset="-128"/>
              </a:rPr>
              <a:t>”.</a:t>
            </a:r>
          </a:p>
          <a:p>
            <a:r>
              <a:rPr lang="en-US" altLang="en-US" sz="1100" dirty="0">
                <a:ea typeface="ＭＳ Ｐゴシック" panose="020B0600070205080204" pitchFamily="34" charset="-128"/>
              </a:rPr>
              <a:t>Actually, if you are defining a combinational circuit module, an even better way to define the always block is to use:</a:t>
            </a:r>
          </a:p>
          <a:p>
            <a:pPr lvl="1"/>
            <a:r>
              <a:rPr lang="en-US" altLang="en-US" sz="1100" dirty="0">
                <a:ea typeface="ＭＳ Ｐゴシック" panose="020B0600070205080204" pitchFamily="34" charset="-128"/>
              </a:rPr>
              <a:t> </a:t>
            </a:r>
            <a:r>
              <a:rPr lang="is-IS" altLang="en-US" sz="1100" dirty="0">
                <a:solidFill>
                  <a:srgbClr val="FF0000"/>
                </a:solidFill>
                <a:ea typeface="ＭＳ Ｐゴシック" panose="020B0600070205080204" pitchFamily="34" charset="-128"/>
              </a:rPr>
              <a:t>…..  </a:t>
            </a:r>
            <a:r>
              <a:rPr lang="en-US" altLang="en-US" sz="1100" dirty="0">
                <a:solidFill>
                  <a:srgbClr val="FF0000"/>
                </a:solidFill>
                <a:ea typeface="ＭＳ Ｐゴシック" panose="020B0600070205080204" pitchFamily="34" charset="-128"/>
              </a:rPr>
              <a:t>a</a:t>
            </a:r>
            <a:r>
              <a:rPr lang="is-IS" altLang="en-US" sz="1100" dirty="0">
                <a:solidFill>
                  <a:srgbClr val="FF0000"/>
                </a:solidFill>
                <a:ea typeface="ＭＳ Ｐゴシック" panose="020B0600070205080204" pitchFamily="34" charset="-128"/>
              </a:rPr>
              <a:t>lways   @ (*)  ....    // always at any change with any input signal</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Inside the </a:t>
            </a:r>
            <a:r>
              <a:rPr lang="en-US" altLang="en-US" sz="1100" b="1" dirty="0">
                <a:ea typeface="ＭＳ Ｐゴシック" panose="020B0600070205080204" pitchFamily="34" charset="-128"/>
              </a:rPr>
              <a:t>begin-end </a:t>
            </a:r>
            <a:r>
              <a:rPr lang="en-US" altLang="en-US" sz="1100" dirty="0">
                <a:ea typeface="ＭＳ Ｐゴシック" panose="020B0600070205080204" pitchFamily="34" charset="-128"/>
              </a:rPr>
              <a:t>block, you are allowed to use C-like statements. In this case, we use the </a:t>
            </a:r>
            <a:r>
              <a:rPr lang="en-US" altLang="en-US" sz="1100" b="1" dirty="0">
                <a:ea typeface="ＭＳ Ｐゴシック" panose="020B0600070205080204" pitchFamily="34" charset="-128"/>
              </a:rPr>
              <a:t>if-else </a:t>
            </a:r>
            <a:r>
              <a:rPr lang="en-US" altLang="en-US" sz="1100" dirty="0">
                <a:ea typeface="ＭＳ Ｐゴシック" panose="020B0600070205080204" pitchFamily="34" charset="-128"/>
              </a:rPr>
              <a:t>statement.  All statements inside the </a:t>
            </a:r>
            <a:r>
              <a:rPr lang="en-US" altLang="en-US" sz="1100" b="1" dirty="0">
                <a:ea typeface="ＭＳ Ｐゴシック" panose="020B0600070205080204" pitchFamily="34" charset="-128"/>
              </a:rPr>
              <a:t>begin-end </a:t>
            </a:r>
            <a:r>
              <a:rPr lang="en-US" altLang="en-US" sz="1100" dirty="0">
                <a:ea typeface="ＭＳ Ｐゴシック" panose="020B0600070205080204" pitchFamily="34" charset="-128"/>
              </a:rPr>
              <a:t>block are </a:t>
            </a:r>
            <a:r>
              <a:rPr lang="en-US" altLang="en-US" sz="1100" b="1" dirty="0">
                <a:ea typeface="ＭＳ Ｐゴシック" panose="020B0600070205080204" pitchFamily="34" charset="-128"/>
              </a:rPr>
              <a:t>executed</a:t>
            </a:r>
            <a:r>
              <a:rPr lang="en-US" altLang="en-US" sz="1100" dirty="0">
                <a:ea typeface="ＭＳ Ｐゴシック" panose="020B0600070205080204" pitchFamily="34" charset="-128"/>
              </a:rPr>
              <a:t> </a:t>
            </a:r>
            <a:r>
              <a:rPr lang="en-US" altLang="en-US" sz="1100" b="1" dirty="0">
                <a:ea typeface="ＭＳ Ｐゴシック" panose="020B0600070205080204" pitchFamily="34" charset="-128"/>
              </a:rPr>
              <a:t>sequentially</a:t>
            </a:r>
            <a:r>
              <a:rPr lang="en-US" altLang="en-US" sz="1100" dirty="0">
                <a:ea typeface="ＭＳ Ｐゴシック" panose="020B0600070205080204" pitchFamily="34" charset="-128"/>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B7FCF122-0F13-5D40-9F71-EF520A83640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AB85BF02-57E0-2044-B6F7-F9C77C5C9BBA}" type="slidenum">
              <a:rPr lang="en-US" altLang="en-US" sz="1200" smtClean="0"/>
              <a:pPr/>
              <a:t>9</a:t>
            </a:fld>
            <a:endParaRPr lang="en-US" altLang="en-US" sz="1200"/>
          </a:p>
        </p:txBody>
      </p:sp>
      <p:sp>
        <p:nvSpPr>
          <p:cNvPr id="21506" name="Rectangle 2">
            <a:extLst>
              <a:ext uri="{FF2B5EF4-FFF2-40B4-BE49-F238E27FC236}">
                <a16:creationId xmlns:a16="http://schemas.microsoft.com/office/drawing/2014/main" id="{524774C5-0E95-0644-A0AD-763B8BB2CC75}"/>
              </a:ext>
            </a:extLst>
          </p:cNvPr>
          <p:cNvSpPr>
            <a:spLocks noGrp="1" noRot="1" noChangeAspect="1" noChangeArrowheads="1" noTextEdit="1"/>
          </p:cNvSpPr>
          <p:nvPr>
            <p:ph type="sldImg"/>
          </p:nvPr>
        </p:nvSpPr>
        <p:spPr>
          <a:xfrm>
            <a:off x="714375" y="742950"/>
            <a:ext cx="5365750" cy="3714750"/>
          </a:xfrm>
          <a:ln/>
        </p:spPr>
      </p:sp>
      <p:sp>
        <p:nvSpPr>
          <p:cNvPr id="21507" name="Rectangle 3">
            <a:extLst>
              <a:ext uri="{FF2B5EF4-FFF2-40B4-BE49-F238E27FC236}">
                <a16:creationId xmlns:a16="http://schemas.microsoft.com/office/drawing/2014/main" id="{649661CC-6F72-6742-9150-6006D72A93E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Note that Verilog keyword </a:t>
            </a:r>
            <a:r>
              <a:rPr lang="en-US" altLang="en-US" sz="1100" b="1" dirty="0">
                <a:ea typeface="ＭＳ Ｐゴシック" panose="020B0600070205080204" pitchFamily="34" charset="-128"/>
              </a:rPr>
              <a:t>reg</a:t>
            </a:r>
            <a:r>
              <a:rPr lang="en-US" altLang="en-US" sz="1100" dirty="0">
                <a:ea typeface="ＭＳ Ｐゴシック" panose="020B0600070205080204" pitchFamily="34" charset="-128"/>
              </a:rPr>
              <a:t> does not implies that there is a register created in the hardware.  It is much more like declaring a variable that holds a value.  It is a rule in Verilog that if you perform an </a:t>
            </a:r>
            <a:r>
              <a:rPr lang="en-US" altLang="en-US" sz="1100" b="1" dirty="0">
                <a:ea typeface="ＭＳ Ｐゴシック" panose="020B0600070205080204" pitchFamily="34" charset="-128"/>
              </a:rPr>
              <a:t>assignment </a:t>
            </a:r>
            <a:r>
              <a:rPr lang="en-US" altLang="en-US" sz="1100" dirty="0">
                <a:ea typeface="ＭＳ Ｐゴシック" panose="020B0600070205080204" pitchFamily="34" charset="-128"/>
              </a:rPr>
              <a:t>to a variable </a:t>
            </a:r>
            <a:r>
              <a:rPr lang="en-US" altLang="en-US" sz="1100" b="1" dirty="0">
                <a:ea typeface="ＭＳ Ｐゴシック" panose="020B0600070205080204" pitchFamily="34" charset="-128"/>
              </a:rPr>
              <a:t>INSIDE </a:t>
            </a:r>
            <a:r>
              <a:rPr lang="en-US" altLang="en-US" sz="1100" dirty="0">
                <a:ea typeface="ＭＳ Ｐゴシック" panose="020B0600070205080204" pitchFamily="34" charset="-128"/>
              </a:rPr>
              <a:t>an </a:t>
            </a:r>
            <a:r>
              <a:rPr lang="en-US" altLang="en-US" sz="1100" b="1" dirty="0">
                <a:ea typeface="ＭＳ Ｐゴシック" panose="020B0600070205080204" pitchFamily="34" charset="-128"/>
              </a:rPr>
              <a:t>always </a:t>
            </a:r>
            <a:r>
              <a:rPr lang="en-US" altLang="en-US" sz="1100" dirty="0">
                <a:ea typeface="ＭＳ Ｐゴシック" panose="020B0600070205080204" pitchFamily="34" charset="-128"/>
              </a:rPr>
              <a:t>block, that variable </a:t>
            </a:r>
            <a:r>
              <a:rPr lang="en-US" altLang="en-US" sz="1100" b="1" dirty="0">
                <a:ea typeface="ＭＳ Ｐゴシック" panose="020B0600070205080204" pitchFamily="34" charset="-128"/>
              </a:rPr>
              <a:t>MUST be declared a reg</a:t>
            </a:r>
            <a:r>
              <a:rPr lang="en-US" altLang="en-US" sz="1100" dirty="0">
                <a:ea typeface="ＭＳ Ｐゴシック" panose="020B0600070205080204" pitchFamily="34" charset="-128"/>
              </a:rPr>
              <a:t>, and NOT a net (</a:t>
            </a:r>
            <a:r>
              <a:rPr lang="en-US" altLang="en-US" sz="1100" b="1" dirty="0">
                <a:ea typeface="ＭＳ Ｐゴシック" panose="020B0600070205080204" pitchFamily="34" charset="-128"/>
              </a:rPr>
              <a:t>wire</a:t>
            </a:r>
            <a:r>
              <a:rPr lang="en-US" altLang="en-US" sz="1100" dirty="0">
                <a:ea typeface="ＭＳ Ｐゴシック" panose="020B0600070205080204" pitchFamily="34" charset="-128"/>
              </a:rPr>
              <a:t>).  This is one of the few peculiarities of Verilog that can be confusing to students.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AABFC3A6-A3AD-B640-99F9-B693E78F897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2BB7576D-5DF0-9B44-86B1-A8B7E8D99F73}" type="slidenum">
              <a:rPr lang="en-US" altLang="en-US" sz="1200" smtClean="0"/>
              <a:pPr/>
              <a:t>10</a:t>
            </a:fld>
            <a:endParaRPr lang="en-US" altLang="en-US" sz="1200"/>
          </a:p>
        </p:txBody>
      </p:sp>
      <p:sp>
        <p:nvSpPr>
          <p:cNvPr id="25602" name="Rectangle 2">
            <a:extLst>
              <a:ext uri="{FF2B5EF4-FFF2-40B4-BE49-F238E27FC236}">
                <a16:creationId xmlns:a16="http://schemas.microsoft.com/office/drawing/2014/main" id="{EAD5CDA7-7F48-A94F-B8DC-82666766B955}"/>
              </a:ext>
            </a:extLst>
          </p:cNvPr>
          <p:cNvSpPr>
            <a:spLocks noGrp="1" noRot="1" noChangeAspect="1" noChangeArrowheads="1" noTextEdit="1"/>
          </p:cNvSpPr>
          <p:nvPr>
            <p:ph type="sldImg"/>
          </p:nvPr>
        </p:nvSpPr>
        <p:spPr>
          <a:xfrm>
            <a:off x="714375" y="742950"/>
            <a:ext cx="5365750" cy="3714750"/>
          </a:xfrm>
          <a:ln/>
        </p:spPr>
      </p:sp>
      <p:sp>
        <p:nvSpPr>
          <p:cNvPr id="25603" name="Rectangle 3">
            <a:extLst>
              <a:ext uri="{FF2B5EF4-FFF2-40B4-BE49-F238E27FC236}">
                <a16:creationId xmlns:a16="http://schemas.microsoft.com/office/drawing/2014/main" id="{60304B6B-BC5F-1B4A-862B-0F4DB4C3276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This is yet another way to specify the MUX circuit.  It is still a procedural assignment with the </a:t>
            </a:r>
            <a:r>
              <a:rPr lang="en-US" altLang="en-US" sz="1100" b="1" dirty="0">
                <a:solidFill>
                  <a:srgbClr val="3366FF"/>
                </a:solidFill>
                <a:ea typeface="ＭＳ Ｐゴシック" panose="020B0600070205080204" pitchFamily="34" charset="-128"/>
              </a:rPr>
              <a:t>always</a:t>
            </a:r>
            <a:r>
              <a:rPr lang="en-US" altLang="en-US" sz="1100" dirty="0">
                <a:solidFill>
                  <a:srgbClr val="3366FF"/>
                </a:solidFill>
                <a:ea typeface="ＭＳ Ｐゴシック" panose="020B0600070205080204" pitchFamily="34" charset="-128"/>
              </a:rPr>
              <a:t> </a:t>
            </a:r>
            <a:r>
              <a:rPr lang="en-US" altLang="en-US" sz="1100" dirty="0">
                <a:ea typeface="ＭＳ Ｐゴシック" panose="020B0600070205080204" pitchFamily="34" charset="-128"/>
              </a:rPr>
              <a:t>block.  However, we replace the </a:t>
            </a:r>
            <a:r>
              <a:rPr lang="en-US" altLang="en-US" sz="1100" b="1" dirty="0">
                <a:solidFill>
                  <a:srgbClr val="3366FF"/>
                </a:solidFill>
                <a:ea typeface="ＭＳ Ｐゴシック" panose="020B0600070205080204" pitchFamily="34" charset="-128"/>
              </a:rPr>
              <a:t>if-else </a:t>
            </a:r>
            <a:r>
              <a:rPr lang="en-US" altLang="en-US" sz="1100" dirty="0">
                <a:ea typeface="ＭＳ Ｐゴシック" panose="020B0600070205080204" pitchFamily="34" charset="-128"/>
              </a:rPr>
              <a:t>statement with a “</a:t>
            </a:r>
            <a:r>
              <a:rPr lang="en-US" altLang="ja-JP" sz="1100" b="1" dirty="0">
                <a:solidFill>
                  <a:srgbClr val="3366FF"/>
                </a:solidFill>
                <a:ea typeface="ＭＳ Ｐゴシック" panose="020B0600070205080204" pitchFamily="34" charset="-128"/>
              </a:rPr>
              <a:t>case</a:t>
            </a:r>
            <a:r>
              <a:rPr lang="en-US" altLang="en-US" sz="1100" dirty="0">
                <a:ea typeface="ＭＳ Ｐゴシック" panose="020B0600070205080204" pitchFamily="34" charset="-128"/>
              </a:rPr>
              <a:t>”</a:t>
            </a:r>
            <a:r>
              <a:rPr lang="en-US" altLang="ja-JP" sz="1100" dirty="0">
                <a:ea typeface="ＭＳ Ｐゴシック" panose="020B0600070205080204" pitchFamily="34" charset="-128"/>
              </a:rPr>
              <a:t> statement.  The case variable is </a:t>
            </a:r>
            <a:r>
              <a:rPr lang="en-US" altLang="ja-JP" sz="1100" b="1" dirty="0">
                <a:ea typeface="ＭＳ Ｐゴシック" panose="020B0600070205080204" pitchFamily="34" charset="-128"/>
              </a:rPr>
              <a:t>sel</a:t>
            </a:r>
            <a:r>
              <a:rPr lang="en-US" altLang="ja-JP" sz="1100" dirty="0">
                <a:ea typeface="ＭＳ Ｐゴシック" panose="020B0600070205080204" pitchFamily="34" charset="-128"/>
              </a:rPr>
              <a:t>.  Since </a:t>
            </a:r>
            <a:r>
              <a:rPr lang="en-US" altLang="ja-JP" sz="1100" b="1" dirty="0" err="1">
                <a:ea typeface="ＭＳ Ｐゴシック" panose="020B0600070205080204" pitchFamily="34" charset="-128"/>
              </a:rPr>
              <a:t>sel</a:t>
            </a:r>
            <a:r>
              <a:rPr lang="en-US" altLang="ja-JP" sz="1100" dirty="0">
                <a:ea typeface="ＭＳ Ｐゴシック" panose="020B0600070205080204" pitchFamily="34" charset="-128"/>
              </a:rPr>
              <a:t> is a 1-bit signal (or net), it can only take on 0 or 1.</a:t>
            </a:r>
          </a:p>
          <a:p>
            <a:endParaRPr lang="en-US" altLang="en-US" sz="1100" dirty="0">
              <a:ea typeface="ＭＳ Ｐゴシック" panose="020B0600070205080204" pitchFamily="34" charset="-128"/>
            </a:endParaRPr>
          </a:p>
          <a:p>
            <a:r>
              <a:rPr lang="en-US" altLang="en-US" sz="1100" dirty="0">
                <a:ea typeface="ＭＳ Ｐゴシック" panose="020B0600070205080204" pitchFamily="34" charset="-128"/>
              </a:rPr>
              <a:t>Note that the various case values can be expressed in different number formats as shown in the slide.  For example, consider </a:t>
            </a:r>
            <a:r>
              <a:rPr lang="en-US" altLang="en-US" sz="1100" b="1" dirty="0">
                <a:ea typeface="ＭＳ Ｐゴシック" panose="020B0600070205080204" pitchFamily="34" charset="-128"/>
              </a:rPr>
              <a:t>2’b10</a:t>
            </a:r>
            <a:r>
              <a:rPr lang="en-US" altLang="en-US" sz="1100" dirty="0">
                <a:ea typeface="ＭＳ Ｐゴシック" panose="020B0600070205080204" pitchFamily="34" charset="-128"/>
              </a:rPr>
              <a:t>.  The 2 is the number of bits in this number. </a:t>
            </a:r>
            <a:r>
              <a:rPr lang="en-US" altLang="en-US" sz="1100" b="1" dirty="0">
                <a:ea typeface="ＭＳ Ｐゴシック" panose="020B0600070205080204" pitchFamily="34" charset="-128"/>
              </a:rPr>
              <a:t>‘b </a:t>
            </a:r>
            <a:r>
              <a:rPr lang="en-US" altLang="en-US" sz="1100" dirty="0">
                <a:ea typeface="ＭＳ Ｐゴシック" panose="020B0600070205080204" pitchFamily="34" charset="-128"/>
              </a:rPr>
              <a:t>means it is specified in binary format.  The value of this number is </a:t>
            </a:r>
            <a:r>
              <a:rPr lang="en-US" altLang="en-US" sz="1100" b="1" dirty="0">
                <a:ea typeface="ＭＳ Ｐゴシック" panose="020B0600070205080204" pitchFamily="34" charset="-128"/>
              </a:rPr>
              <a:t>10</a:t>
            </a:r>
            <a:r>
              <a:rPr lang="en-US" altLang="en-US" sz="1100" dirty="0">
                <a:ea typeface="ＭＳ Ｐゴシック" panose="020B0600070205080204" pitchFamily="34" charset="-128"/>
              </a:rPr>
              <a:t> in binary.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B3C6FC0F-9BED-8245-BB67-82CEAE28C1B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40CF38A8-466A-7248-B894-E9C78C254952}" type="slidenum">
              <a:rPr lang="en-US" altLang="en-US" sz="1200" smtClean="0"/>
              <a:pPr/>
              <a:t>11</a:t>
            </a:fld>
            <a:endParaRPr lang="en-US" altLang="en-US" sz="1200"/>
          </a:p>
        </p:txBody>
      </p:sp>
      <p:sp>
        <p:nvSpPr>
          <p:cNvPr id="27650" name="Rectangle 2">
            <a:extLst>
              <a:ext uri="{FF2B5EF4-FFF2-40B4-BE49-F238E27FC236}">
                <a16:creationId xmlns:a16="http://schemas.microsoft.com/office/drawing/2014/main" id="{0FADECBA-2970-EB4A-86D1-A38B1FA3B8BE}"/>
              </a:ext>
            </a:extLst>
          </p:cNvPr>
          <p:cNvSpPr>
            <a:spLocks noGrp="1" noRot="1" noChangeAspect="1" noChangeArrowheads="1" noTextEdit="1"/>
          </p:cNvSpPr>
          <p:nvPr>
            <p:ph type="sldImg"/>
          </p:nvPr>
        </p:nvSpPr>
        <p:spPr>
          <a:xfrm>
            <a:off x="714375" y="742950"/>
            <a:ext cx="5365750" cy="3714750"/>
          </a:xfrm>
          <a:ln/>
        </p:spPr>
      </p:sp>
      <p:sp>
        <p:nvSpPr>
          <p:cNvPr id="27651" name="Rectangle 3">
            <a:extLst>
              <a:ext uri="{FF2B5EF4-FFF2-40B4-BE49-F238E27FC236}">
                <a16:creationId xmlns:a16="http://schemas.microsoft.com/office/drawing/2014/main" id="{AB98BAAC-7A3A-2248-A78F-CB7B9A3F68C4}"/>
              </a:ext>
            </a:extLst>
          </p:cNvPr>
          <p:cNvSpPr>
            <a:spLocks noGrp="1" noChangeArrowheads="1"/>
          </p:cNvSpPr>
          <p:nvPr>
            <p:ph type="body" idx="1"/>
          </p:nvPr>
        </p:nvSpPr>
        <p:spPr>
          <a:xfrm>
            <a:off x="906463" y="4705350"/>
            <a:ext cx="5227637" cy="44577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This slide demonstrates why language specification of hardware is so much better than schematic diagram.  By simply declaring the signals as a multi-bit bus (8 bits [7:0]), we change this module to one that specifies 8 separate 2-to-1 multiplexers.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Another useful way to specify a bus is using the concatenation operator:  { …. } as shown above.</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The concatenation operator is particularly useful in converting digital signals from one word length (i.e. number of bits in a word) to another.  For example, to convert an 8-bit unsigned number a[7:0] to a 13-bit unsigned number b[12:0], you can simple do this:</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	</a:t>
            </a:r>
            <a:r>
              <a:rPr lang="en-US" altLang="en-US">
                <a:latin typeface="Courier" pitchFamily="2" charset="0"/>
                <a:ea typeface="ＭＳ Ｐゴシック" panose="020B0600070205080204" pitchFamily="34" charset="-128"/>
              </a:rPr>
              <a:t>assign   b[12:0] = {5’b0, a[7:0]};</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FBB495E8-FEC3-2540-A5C6-D910D292FA6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FCF730F6-8EEB-0E48-B5D6-B63DA5831041}" type="slidenum">
              <a:rPr lang="en-US" altLang="en-US" sz="1200" smtClean="0"/>
              <a:pPr/>
              <a:t>12</a:t>
            </a:fld>
            <a:endParaRPr lang="en-US" altLang="en-US" sz="1200"/>
          </a:p>
        </p:txBody>
      </p:sp>
      <p:sp>
        <p:nvSpPr>
          <p:cNvPr id="29698" name="Rectangle 2">
            <a:extLst>
              <a:ext uri="{FF2B5EF4-FFF2-40B4-BE49-F238E27FC236}">
                <a16:creationId xmlns:a16="http://schemas.microsoft.com/office/drawing/2014/main" id="{A3945274-800F-5C4A-B300-08210ED786A5}"/>
              </a:ext>
            </a:extLst>
          </p:cNvPr>
          <p:cNvSpPr>
            <a:spLocks noGrp="1" noRot="1" noChangeAspect="1" noChangeArrowheads="1" noTextEdit="1"/>
          </p:cNvSpPr>
          <p:nvPr>
            <p:ph type="sldImg"/>
          </p:nvPr>
        </p:nvSpPr>
        <p:spPr>
          <a:xfrm>
            <a:off x="714375" y="742950"/>
            <a:ext cx="5365750" cy="3714750"/>
          </a:xfrm>
          <a:ln/>
        </p:spPr>
      </p:sp>
      <p:sp>
        <p:nvSpPr>
          <p:cNvPr id="29699" name="Rectangle 3">
            <a:extLst>
              <a:ext uri="{FF2B5EF4-FFF2-40B4-BE49-F238E27FC236}">
                <a16:creationId xmlns:a16="http://schemas.microsoft.com/office/drawing/2014/main" id="{9DF70FAC-2450-414A-8707-DBAF8651774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Here is a simple example: the </a:t>
            </a:r>
            <a:r>
              <a:rPr lang="en-US" altLang="en-US" sz="1000">
                <a:ea typeface="ＭＳ Ｐゴシック" panose="020B0600070205080204" pitchFamily="34" charset="-128"/>
              </a:rPr>
              <a:t>design</a:t>
            </a:r>
            <a:r>
              <a:rPr lang="en-US" altLang="en-US" sz="1100">
                <a:ea typeface="ＭＳ Ｐゴシック" panose="020B0600070205080204" pitchFamily="34" charset="-128"/>
              </a:rPr>
              <a:t> of a 4-bit hex code to 7 segment decoder.    You can express the function of this 7-segment decoder in three forms: 1) as a truth table (note that the segments are low active); 2) as 7 separate K-maps (shown here is for </a:t>
            </a:r>
            <a:r>
              <a:rPr lang="en-US" altLang="en-US" sz="1100" b="1">
                <a:ea typeface="ＭＳ Ｐゴシック" panose="020B0600070205080204" pitchFamily="34" charset="-128"/>
              </a:rPr>
              <a:t>out[6]</a:t>
            </a:r>
            <a:r>
              <a:rPr lang="en-US" altLang="en-US" sz="1100">
                <a:ea typeface="ＭＳ Ｐゴシック" panose="020B0600070205080204" pitchFamily="34" charset="-128"/>
              </a:rPr>
              <a:t> segment only); 3) as Boolean equations.</a:t>
            </a:r>
          </a:p>
          <a:p>
            <a:r>
              <a:rPr lang="en-US" altLang="en-US" sz="1100">
                <a:ea typeface="ＭＳ Ｐゴシック" panose="020B0600070205080204" pitchFamily="34" charset="-128"/>
              </a:rPr>
              <a:t>This is probably the last time you see K-maps.  In practical digital design, you would rely heavily on CAD tools.  In which case, logic simplifications are done for you automatically – you never need to use K-maps to do Boolean simplification manually!</a:t>
            </a:r>
          </a:p>
          <a:p>
            <a:endParaRPr lang="en-US" altLang="en-US" sz="1100">
              <a:ea typeface="ＭＳ Ｐゴシック" panose="020B0600070205080204" pitchFamily="34" charset="-128"/>
            </a:endParaRPr>
          </a:p>
          <a:p>
            <a:endParaRPr lang="en-US" altLang="en-US" sz="110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AEFE4C7C-B86E-3B49-A5EE-441F66E4C17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C85ED5C3-DF68-1A4B-87FE-811CCDF590BD}" type="slidenum">
              <a:rPr lang="en-US" altLang="en-US" sz="1200" smtClean="0"/>
              <a:pPr/>
              <a:t>13</a:t>
            </a:fld>
            <a:endParaRPr lang="en-US" altLang="en-US" sz="1200"/>
          </a:p>
        </p:txBody>
      </p:sp>
      <p:sp>
        <p:nvSpPr>
          <p:cNvPr id="31746" name="Rectangle 2">
            <a:extLst>
              <a:ext uri="{FF2B5EF4-FFF2-40B4-BE49-F238E27FC236}">
                <a16:creationId xmlns:a16="http://schemas.microsoft.com/office/drawing/2014/main" id="{6B09EB2E-1BB2-E64B-A36A-F338029EB91A}"/>
              </a:ext>
            </a:extLst>
          </p:cNvPr>
          <p:cNvSpPr>
            <a:spLocks noGrp="1" noRot="1" noChangeAspect="1" noChangeArrowheads="1" noTextEdit="1"/>
          </p:cNvSpPr>
          <p:nvPr>
            <p:ph type="sldImg"/>
          </p:nvPr>
        </p:nvSpPr>
        <p:spPr>
          <a:xfrm>
            <a:off x="714375" y="742950"/>
            <a:ext cx="5365750" cy="3714750"/>
          </a:xfrm>
          <a:ln/>
        </p:spPr>
      </p:sp>
      <p:sp>
        <p:nvSpPr>
          <p:cNvPr id="31747" name="Rectangle 3">
            <a:extLst>
              <a:ext uri="{FF2B5EF4-FFF2-40B4-BE49-F238E27FC236}">
                <a16:creationId xmlns:a16="http://schemas.microsoft.com/office/drawing/2014/main" id="{C372D469-55EF-6546-85C2-B15127432CE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Here is a tedious implementation in the form of schematic diagram of the 7 segment decoder as interconnected gates.  Very hard to do and very prone to errors.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CF1C3169-120A-5641-BAA8-DC9EF85098B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C004CD6E-9458-0548-B6EC-7E0562BD9D9D}" type="slidenum">
              <a:rPr lang="en-US" altLang="en-US" sz="1200" smtClean="0"/>
              <a:pPr/>
              <a:t>14</a:t>
            </a:fld>
            <a:endParaRPr lang="en-US" altLang="en-US" sz="1200"/>
          </a:p>
        </p:txBody>
      </p:sp>
      <p:sp>
        <p:nvSpPr>
          <p:cNvPr id="33794" name="Rectangle 2">
            <a:extLst>
              <a:ext uri="{FF2B5EF4-FFF2-40B4-BE49-F238E27FC236}">
                <a16:creationId xmlns:a16="http://schemas.microsoft.com/office/drawing/2014/main" id="{696F893C-C690-F844-848F-71570EB8EF5E}"/>
              </a:ext>
            </a:extLst>
          </p:cNvPr>
          <p:cNvSpPr>
            <a:spLocks noGrp="1" noRot="1" noChangeAspect="1" noChangeArrowheads="1" noTextEdit="1"/>
          </p:cNvSpPr>
          <p:nvPr>
            <p:ph type="sldImg"/>
          </p:nvPr>
        </p:nvSpPr>
        <p:spPr>
          <a:xfrm>
            <a:off x="714375" y="742950"/>
            <a:ext cx="5365750" cy="3714750"/>
          </a:xfrm>
          <a:ln/>
        </p:spPr>
      </p:sp>
      <p:sp>
        <p:nvSpPr>
          <p:cNvPr id="33795" name="Rectangle 3">
            <a:extLst>
              <a:ext uri="{FF2B5EF4-FFF2-40B4-BE49-F238E27FC236}">
                <a16:creationId xmlns:a16="http://schemas.microsoft.com/office/drawing/2014/main" id="{AB6B5F76-4191-474F-9C36-B09F2A18553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One could take a group of gates and specify the gates in Verilog gate primitives such as </a:t>
            </a:r>
            <a:r>
              <a:rPr lang="en-US" altLang="en-US" sz="1100" b="1">
                <a:ea typeface="ＭＳ Ｐゴシック" panose="020B0600070205080204" pitchFamily="34" charset="-128"/>
              </a:rPr>
              <a:t>and</a:t>
            </a:r>
            <a:r>
              <a:rPr lang="en-US" altLang="en-US" sz="1100">
                <a:ea typeface="ＭＳ Ｐゴシック" panose="020B0600070205080204" pitchFamily="34" charset="-128"/>
              </a:rPr>
              <a:t>, </a:t>
            </a:r>
            <a:r>
              <a:rPr lang="en-US" altLang="en-US" sz="1100" b="1">
                <a:ea typeface="ＭＳ Ｐゴシック" panose="020B0600070205080204" pitchFamily="34" charset="-128"/>
              </a:rPr>
              <a:t>or</a:t>
            </a:r>
            <a:r>
              <a:rPr lang="en-US" altLang="en-US" sz="1100">
                <a:ea typeface="ＭＳ Ｐゴシック" panose="020B0600070205080204" pitchFamily="34" charset="-128"/>
              </a:rPr>
              <a:t> etc.  Still very tedious.  Here is the implementation for the </a:t>
            </a:r>
            <a:r>
              <a:rPr lang="en-US" altLang="en-US" sz="1100" b="1">
                <a:ea typeface="ＭＳ Ｐゴシック" panose="020B0600070205080204" pitchFamily="34" charset="-128"/>
              </a:rPr>
              <a:t>out[6]</a:t>
            </a:r>
            <a:r>
              <a:rPr lang="en-US" altLang="en-US" sz="1100">
                <a:ea typeface="ＭＳ Ｐゴシック" panose="020B0600070205080204" pitchFamily="34" charset="-128"/>
              </a:rPr>
              <a:t> output.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AC2F4408-41C6-0249-AEEA-F6B4C92850E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4289C679-EDB5-E143-8F0C-499EBD0BEB07}" type="slidenum">
              <a:rPr lang="en-US" altLang="en-US" sz="1200" smtClean="0"/>
              <a:pPr/>
              <a:t>15</a:t>
            </a:fld>
            <a:endParaRPr lang="en-US" altLang="en-US" sz="1200"/>
          </a:p>
        </p:txBody>
      </p:sp>
      <p:sp>
        <p:nvSpPr>
          <p:cNvPr id="35842" name="Rectangle 2">
            <a:extLst>
              <a:ext uri="{FF2B5EF4-FFF2-40B4-BE49-F238E27FC236}">
                <a16:creationId xmlns:a16="http://schemas.microsoft.com/office/drawing/2014/main" id="{E2B0AB02-472B-AE43-A35E-209EAA1821E7}"/>
              </a:ext>
            </a:extLst>
          </p:cNvPr>
          <p:cNvSpPr>
            <a:spLocks noGrp="1" noRot="1" noChangeAspect="1" noChangeArrowheads="1" noTextEdit="1"/>
          </p:cNvSpPr>
          <p:nvPr>
            <p:ph type="sldImg"/>
          </p:nvPr>
        </p:nvSpPr>
        <p:spPr>
          <a:xfrm>
            <a:off x="714375" y="742950"/>
            <a:ext cx="5365750" cy="3714750"/>
          </a:xfrm>
          <a:ln/>
        </p:spPr>
      </p:sp>
      <p:sp>
        <p:nvSpPr>
          <p:cNvPr id="35843" name="Rectangle 3">
            <a:extLst>
              <a:ext uri="{FF2B5EF4-FFF2-40B4-BE49-F238E27FC236}">
                <a16:creationId xmlns:a16="http://schemas.microsoft.com/office/drawing/2014/main" id="{40E21DE0-402B-B342-9537-823C5AA670E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Instead of specifying each gate separately, here is using continuous assignment statement, mapping the </a:t>
            </a:r>
            <a:r>
              <a:rPr lang="en-US" altLang="en-US" sz="1100" b="1">
                <a:ea typeface="ＭＳ Ｐゴシック" panose="020B0600070205080204" pitchFamily="34" charset="-128"/>
              </a:rPr>
              <a:t>Boolean equation </a:t>
            </a:r>
            <a:r>
              <a:rPr lang="en-US" altLang="en-US" sz="1100">
                <a:ea typeface="ＭＳ Ｐゴシック" panose="020B0600070205080204" pitchFamily="34" charset="-128"/>
              </a:rPr>
              <a:t>direction to a single Verilog statement.  This is better.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A8C3A990-B6A5-0F4D-8228-75B08A3D381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161B641F-7A32-C148-82B2-4B0CC909E944}" type="slidenum">
              <a:rPr lang="en-US" altLang="en-US" sz="1200" smtClean="0"/>
              <a:pPr/>
              <a:t>16</a:t>
            </a:fld>
            <a:endParaRPr lang="en-US" altLang="en-US" sz="1200"/>
          </a:p>
        </p:txBody>
      </p:sp>
      <p:sp>
        <p:nvSpPr>
          <p:cNvPr id="37890" name="Rectangle 2">
            <a:extLst>
              <a:ext uri="{FF2B5EF4-FFF2-40B4-BE49-F238E27FC236}">
                <a16:creationId xmlns:a16="http://schemas.microsoft.com/office/drawing/2014/main" id="{0E20AF43-6C5A-3843-9BA8-5BDF033FF38C}"/>
              </a:ext>
            </a:extLst>
          </p:cNvPr>
          <p:cNvSpPr>
            <a:spLocks noGrp="1" noRot="1" noChangeAspect="1" noChangeArrowheads="1" noTextEdit="1"/>
          </p:cNvSpPr>
          <p:nvPr>
            <p:ph type="sldImg"/>
          </p:nvPr>
        </p:nvSpPr>
        <p:spPr>
          <a:xfrm>
            <a:off x="714375" y="742950"/>
            <a:ext cx="5365750" cy="3714750"/>
          </a:xfrm>
          <a:ln/>
        </p:spPr>
      </p:sp>
      <p:sp>
        <p:nvSpPr>
          <p:cNvPr id="37891" name="Rectangle 3">
            <a:extLst>
              <a:ext uri="{FF2B5EF4-FFF2-40B4-BE49-F238E27FC236}">
                <a16:creationId xmlns:a16="http://schemas.microsoft.com/office/drawing/2014/main" id="{D2AB9F0F-D0D1-E346-A7A6-4623A7DD000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Here is the complete specification of the hex_to_7seg module using </a:t>
            </a:r>
            <a:r>
              <a:rPr lang="en-US" altLang="en-US" sz="1100" b="1">
                <a:ea typeface="ＭＳ Ｐゴシック" panose="020B0600070205080204" pitchFamily="34" charset="-128"/>
              </a:rPr>
              <a:t>continuous</a:t>
            </a:r>
            <a:r>
              <a:rPr lang="en-US" altLang="en-US" sz="1100">
                <a:ea typeface="ＭＳ Ｐゴシック" panose="020B0600070205080204" pitchFamily="34" charset="-128"/>
              </a:rPr>
              <a:t> </a:t>
            </a:r>
            <a:r>
              <a:rPr lang="en-US" altLang="en-US" sz="1100" b="1">
                <a:ea typeface="ＭＳ Ｐゴシック" panose="020B0600070205080204" pitchFamily="34" charset="-128"/>
              </a:rPr>
              <a:t>assignment</a:t>
            </a:r>
            <a:r>
              <a:rPr lang="en-US" altLang="en-US" sz="1100">
                <a:ea typeface="ＭＳ Ｐゴシック" panose="020B0600070205080204" pitchFamily="34" charset="-128"/>
              </a:rPr>
              <a:t> statements.  It shows how one should write Verilog code with good comments and clear documentation of input and output ports.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084896C4-F6C0-D344-8D93-9AD099EEFF2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B54E696F-A756-0744-969F-4978FC9126F5}" type="slidenum">
              <a:rPr lang="en-US" altLang="en-US" sz="1200" smtClean="0"/>
              <a:pPr/>
              <a:t>17</a:t>
            </a:fld>
            <a:endParaRPr lang="en-US" altLang="en-US" sz="1200"/>
          </a:p>
        </p:txBody>
      </p:sp>
      <p:sp>
        <p:nvSpPr>
          <p:cNvPr id="39938" name="Rectangle 2">
            <a:extLst>
              <a:ext uri="{FF2B5EF4-FFF2-40B4-BE49-F238E27FC236}">
                <a16:creationId xmlns:a16="http://schemas.microsoft.com/office/drawing/2014/main" id="{BEDEE3BF-9DF5-DD48-84E3-B9BE0A05B1FD}"/>
              </a:ext>
            </a:extLst>
          </p:cNvPr>
          <p:cNvSpPr>
            <a:spLocks noGrp="1" noRot="1" noChangeAspect="1" noChangeArrowheads="1" noTextEdit="1"/>
          </p:cNvSpPr>
          <p:nvPr>
            <p:ph type="sldImg"/>
          </p:nvPr>
        </p:nvSpPr>
        <p:spPr>
          <a:xfrm>
            <a:off x="714375" y="742950"/>
            <a:ext cx="5365750" cy="3714750"/>
          </a:xfrm>
          <a:ln/>
        </p:spPr>
      </p:sp>
      <p:sp>
        <p:nvSpPr>
          <p:cNvPr id="39939" name="Rectangle 3">
            <a:extLst>
              <a:ext uri="{FF2B5EF4-FFF2-40B4-BE49-F238E27FC236}">
                <a16:creationId xmlns:a16="http://schemas.microsoft.com/office/drawing/2014/main" id="{09536873-F9F1-164F-B188-1389A3EA608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Finally the 4</a:t>
            </a:r>
            <a:r>
              <a:rPr lang="en-US" altLang="en-US" sz="1100" baseline="30000">
                <a:ea typeface="ＭＳ Ｐゴシック" panose="020B0600070205080204" pitchFamily="34" charset="-128"/>
              </a:rPr>
              <a:t>th</a:t>
            </a:r>
            <a:r>
              <a:rPr lang="en-US" altLang="en-US" sz="1100">
                <a:ea typeface="ＭＳ Ｐゴシック" panose="020B0600070205080204" pitchFamily="34" charset="-128"/>
              </a:rPr>
              <a:t> method is the best.  We use the </a:t>
            </a:r>
            <a:r>
              <a:rPr lang="en-US" altLang="en-US" sz="1100" b="1">
                <a:solidFill>
                  <a:srgbClr val="3366FF"/>
                </a:solidFill>
                <a:ea typeface="ＭＳ Ｐゴシック" panose="020B0600070205080204" pitchFamily="34" charset="-128"/>
              </a:rPr>
              <a:t>case</a:t>
            </a:r>
            <a:r>
              <a:rPr lang="en-US" altLang="en-US" sz="1100">
                <a:solidFill>
                  <a:srgbClr val="3366FF"/>
                </a:solidFill>
                <a:ea typeface="ＭＳ Ｐゴシック" panose="020B0600070205080204" pitchFamily="34" charset="-128"/>
              </a:rPr>
              <a:t> </a:t>
            </a:r>
            <a:r>
              <a:rPr lang="en-US" altLang="en-US" sz="1100">
                <a:ea typeface="ＭＳ Ｐゴシック" panose="020B0600070205080204" pitchFamily="34" charset="-128"/>
              </a:rPr>
              <a:t>construct to specify the behaviour of the decoder.  Here one directly maps the truth table to </a:t>
            </a:r>
            <a:r>
              <a:rPr lang="en-US" altLang="en-US" sz="1100" b="1">
                <a:ea typeface="ＭＳ Ｐゴシック" panose="020B0600070205080204" pitchFamily="34" charset="-128"/>
              </a:rPr>
              <a:t>the </a:t>
            </a:r>
            <a:r>
              <a:rPr lang="en-US" altLang="en-US" sz="1100" b="1">
                <a:solidFill>
                  <a:srgbClr val="3366FF"/>
                </a:solidFill>
                <a:ea typeface="ＭＳ Ｐゴシック" panose="020B0600070205080204" pitchFamily="34" charset="-128"/>
              </a:rPr>
              <a:t>case</a:t>
            </a:r>
            <a:r>
              <a:rPr lang="en-US" altLang="en-US" sz="1100" b="1">
                <a:ea typeface="ＭＳ Ｐゴシック" panose="020B0600070205080204" pitchFamily="34" charset="-128"/>
              </a:rPr>
              <a:t> statement</a:t>
            </a:r>
            <a:r>
              <a:rPr lang="en-US" altLang="en-US" sz="1100">
                <a:ea typeface="ＭＳ Ｐゴシック" panose="020B0600070205080204" pitchFamily="34" charset="-128"/>
              </a:rPr>
              <a:t> – easy and elegant.</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Instead of using:     always @ (in), you could also use always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6EAB4B26-FB3B-F945-9D7B-82C7596D7169}"/>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15E03635-55AC-CD47-8770-43E8E952AB15}" type="slidenum">
              <a:rPr lang="en-US" altLang="en-US" sz="1200" smtClean="0"/>
              <a:pPr/>
              <a:t>18</a:t>
            </a:fld>
            <a:endParaRPr lang="en-US" altLang="en-US" sz="1200"/>
          </a:p>
        </p:txBody>
      </p:sp>
      <p:sp>
        <p:nvSpPr>
          <p:cNvPr id="41986" name="Rectangle 2">
            <a:extLst>
              <a:ext uri="{FF2B5EF4-FFF2-40B4-BE49-F238E27FC236}">
                <a16:creationId xmlns:a16="http://schemas.microsoft.com/office/drawing/2014/main" id="{23949FAC-B36A-7045-A9FB-9FF2A28AF4C2}"/>
              </a:ext>
            </a:extLst>
          </p:cNvPr>
          <p:cNvSpPr>
            <a:spLocks noGrp="1" noRot="1" noChangeAspect="1" noChangeArrowheads="1" noTextEdit="1"/>
          </p:cNvSpPr>
          <p:nvPr>
            <p:ph type="sldImg"/>
          </p:nvPr>
        </p:nvSpPr>
        <p:spPr>
          <a:xfrm>
            <a:off x="714375" y="742950"/>
            <a:ext cx="5365750" cy="3714750"/>
          </a:xfrm>
          <a:ln/>
        </p:spPr>
      </p:sp>
      <p:sp>
        <p:nvSpPr>
          <p:cNvPr id="41987" name="Rectangle 3">
            <a:extLst>
              <a:ext uri="{FF2B5EF4-FFF2-40B4-BE49-F238E27FC236}">
                <a16:creationId xmlns:a16="http://schemas.microsoft.com/office/drawing/2014/main" id="{AA6F6446-38DA-064D-9259-48F6BB78136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How is a Verilog description of a hardware module turned into FPGA configuration?  This flow diagram shows the various steps taken inside the Quartus Prime CAD system.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2BF8804B-577F-FB40-8BBE-0E7EDE00D75F}"/>
              </a:ext>
            </a:extLst>
          </p:cNvPr>
          <p:cNvSpPr>
            <a:spLocks noGrp="1" noRot="1" noChangeAspect="1" noChangeArrowheads="1" noTextEdit="1"/>
          </p:cNvSpPr>
          <p:nvPr>
            <p:ph type="sldImg"/>
          </p:nvPr>
        </p:nvSpPr>
        <p:spPr>
          <a:xfrm>
            <a:off x="714375" y="742950"/>
            <a:ext cx="5365750" cy="3714750"/>
          </a:xfrm>
          <a:ln/>
        </p:spPr>
      </p:sp>
      <p:sp>
        <p:nvSpPr>
          <p:cNvPr id="9218" name="Rectangle 3">
            <a:extLst>
              <a:ext uri="{FF2B5EF4-FFF2-40B4-BE49-F238E27FC236}">
                <a16:creationId xmlns:a16="http://schemas.microsoft.com/office/drawing/2014/main" id="{7ADDC327-BF38-FA43-8E50-30CA44EC39C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Verilog is very much like C.  However, the declaration of </a:t>
            </a:r>
            <a:r>
              <a:rPr lang="en-US" altLang="en-US" sz="1100" b="1" dirty="0">
                <a:ea typeface="ＭＳ Ｐゴシック" panose="020B0600070205080204" pitchFamily="34" charset="-128"/>
              </a:rPr>
              <a:t>a, b </a:t>
            </a:r>
            <a:r>
              <a:rPr lang="en-US" altLang="en-US" sz="1100" dirty="0">
                <a:ea typeface="ＭＳ Ｐゴシック" panose="020B0600070205080204" pitchFamily="34" charset="-128"/>
              </a:rPr>
              <a:t>and </a:t>
            </a:r>
            <a:r>
              <a:rPr lang="en-US" altLang="en-US" sz="1100" b="1" dirty="0">
                <a:ea typeface="ＭＳ Ｐゴシック" panose="020B0600070205080204" pitchFamily="34" charset="-128"/>
              </a:rPr>
              <a:t>sum</a:t>
            </a:r>
            <a:r>
              <a:rPr lang="en-US" altLang="en-US" sz="1100" dirty="0">
                <a:ea typeface="ＭＳ Ｐゴシック" panose="020B0600070205080204" pitchFamily="34" charset="-128"/>
              </a:rPr>
              <a:t> in the </a:t>
            </a:r>
            <a:r>
              <a:rPr lang="en-US" altLang="en-US" sz="1100" b="1" dirty="0">
                <a:ea typeface="ＭＳ Ｐゴシック" panose="020B0600070205080204" pitchFamily="34" charset="-128"/>
              </a:rPr>
              <a:t>module add32 </a:t>
            </a:r>
            <a:r>
              <a:rPr lang="en-US" altLang="en-US" sz="1100" dirty="0">
                <a:ea typeface="ＭＳ Ｐゴシック" panose="020B0600070205080204" pitchFamily="34" charset="-128"/>
              </a:rPr>
              <a:t>specifies the data width (i.e. number of bits in each signal </a:t>
            </a:r>
            <a:r>
              <a:rPr lang="en-US" altLang="en-US" sz="1100" b="1" dirty="0">
                <a:ea typeface="ＭＳ Ｐゴシック" panose="020B0600070205080204" pitchFamily="34" charset="-128"/>
              </a:rPr>
              <a:t>a</a:t>
            </a:r>
            <a:r>
              <a:rPr lang="en-US" altLang="en-US" sz="1100" dirty="0">
                <a:ea typeface="ＭＳ Ｐゴシック" panose="020B0600070205080204" pitchFamily="34" charset="-128"/>
              </a:rPr>
              <a:t>, </a:t>
            </a:r>
            <a:r>
              <a:rPr lang="en-US" altLang="en-US" sz="1100" b="1" dirty="0">
                <a:ea typeface="ＭＳ Ｐゴシック" panose="020B0600070205080204" pitchFamily="34" charset="-128"/>
              </a:rPr>
              <a:t>b</a:t>
            </a:r>
            <a:r>
              <a:rPr lang="en-US" altLang="en-US" sz="1100" dirty="0">
                <a:ea typeface="ＭＳ Ｐゴシック" panose="020B0600070205080204" pitchFamily="34" charset="-128"/>
              </a:rPr>
              <a:t> or </a:t>
            </a:r>
            <a:r>
              <a:rPr lang="en-US" altLang="en-US" sz="1100" b="1" dirty="0">
                <a:ea typeface="ＭＳ Ｐゴシック" panose="020B0600070205080204" pitchFamily="34" charset="-128"/>
              </a:rPr>
              <a:t>sum</a:t>
            </a:r>
            <a:r>
              <a:rPr lang="en-US" altLang="en-US" sz="1100" dirty="0">
                <a:ea typeface="ＭＳ Ｐゴシック" panose="020B0600070205080204" pitchFamily="34" charset="-128"/>
              </a:rPr>
              <a:t>).  This is often known as a “</a:t>
            </a:r>
            <a:r>
              <a:rPr lang="en-US" altLang="ja-JP" sz="1100" b="1" dirty="0">
                <a:ea typeface="ＭＳ Ｐゴシック" panose="020B0600070205080204" pitchFamily="34" charset="-128"/>
              </a:rPr>
              <a:t>vector</a:t>
            </a:r>
            <a:r>
              <a:rPr lang="en-US" altLang="en-US" sz="1100" dirty="0">
                <a:ea typeface="ＭＳ Ｐゴシック" panose="020B0600070205080204" pitchFamily="34" charset="-128"/>
              </a:rPr>
              <a:t>”</a:t>
            </a:r>
            <a:r>
              <a:rPr lang="en-US" altLang="ja-JP" sz="1100" dirty="0">
                <a:ea typeface="ＭＳ Ｐゴシック" panose="020B0600070205080204" pitchFamily="34" charset="-128"/>
              </a:rPr>
              <a:t> or a </a:t>
            </a:r>
            <a:r>
              <a:rPr lang="en-US" altLang="en-US" sz="1100" dirty="0">
                <a:ea typeface="ＭＳ Ｐゴシック" panose="020B0600070205080204" pitchFamily="34" charset="-128"/>
              </a:rPr>
              <a:t>“</a:t>
            </a:r>
            <a:r>
              <a:rPr lang="en-US" altLang="ja-JP" sz="1100" b="1" dirty="0">
                <a:ea typeface="ＭＳ Ｐゴシック" panose="020B0600070205080204" pitchFamily="34" charset="-128"/>
              </a:rPr>
              <a:t>bus</a:t>
            </a:r>
            <a:r>
              <a:rPr lang="en-US" altLang="en-US" sz="1100" dirty="0">
                <a:ea typeface="ＭＳ Ｐゴシック" panose="020B0600070205080204" pitchFamily="34" charset="-128"/>
              </a:rPr>
              <a:t>”</a:t>
            </a:r>
            <a:r>
              <a:rPr lang="en-US" altLang="ja-JP" sz="1100" dirty="0">
                <a:ea typeface="ＭＳ Ｐゴシック" panose="020B0600070205080204" pitchFamily="34" charset="-128"/>
              </a:rPr>
              <a:t>.  Here the data width is 32-bit, and it is ranging from bit 31 down to bit 0 (e.g. </a:t>
            </a:r>
            <a:r>
              <a:rPr lang="en-US" altLang="ja-JP" sz="1100" b="1" dirty="0">
                <a:ea typeface="ＭＳ Ｐゴシック" panose="020B0600070205080204" pitchFamily="34" charset="-128"/>
              </a:rPr>
              <a:t>sum[31:0]</a:t>
            </a:r>
            <a:r>
              <a:rPr lang="en-US" altLang="ja-JP" sz="1100" dirty="0">
                <a:ea typeface="ＭＳ Ｐゴシック" panose="020B0600070205080204" pitchFamily="34" charset="-128"/>
              </a:rPr>
              <a:t>).</a:t>
            </a:r>
          </a:p>
          <a:p>
            <a:r>
              <a:rPr lang="en-US" altLang="en-US" sz="1100" dirty="0">
                <a:ea typeface="ＭＳ Ｐゴシック" panose="020B0600070205080204" pitchFamily="34" charset="-128"/>
              </a:rPr>
              <a:t>You can refer to individual bits using the index value. For example, the least-significant bit (LSB) of sum is </a:t>
            </a:r>
            <a:r>
              <a:rPr lang="en-US" altLang="en-US" sz="1100" b="1" dirty="0">
                <a:ea typeface="ＭＳ Ｐゴシック" panose="020B0600070205080204" pitchFamily="34" charset="-128"/>
              </a:rPr>
              <a:t>sum[0] </a:t>
            </a:r>
            <a:r>
              <a:rPr lang="en-US" altLang="en-US" sz="1100" dirty="0">
                <a:ea typeface="ＭＳ Ｐゴシック" panose="020B0600070205080204" pitchFamily="34" charset="-128"/>
              </a:rPr>
              <a:t>and the most-significant bit (MSB) is </a:t>
            </a:r>
            <a:r>
              <a:rPr lang="en-US" altLang="en-US" sz="1100" b="1" dirty="0">
                <a:ea typeface="ＭＳ Ｐゴシック" panose="020B0600070205080204" pitchFamily="34" charset="-128"/>
              </a:rPr>
              <a:t>sum[31].  sum[7:0] </a:t>
            </a:r>
            <a:r>
              <a:rPr lang="en-US" altLang="en-US" sz="1100" dirty="0">
                <a:ea typeface="ＭＳ Ｐゴシック" panose="020B0600070205080204" pitchFamily="34" charset="-128"/>
              </a:rPr>
              <a:t>refers the the least-significant byte of </a:t>
            </a:r>
            <a:r>
              <a:rPr lang="en-US" altLang="en-US" sz="1100" b="1" dirty="0">
                <a:ea typeface="ＭＳ Ｐゴシック" panose="020B0600070205080204" pitchFamily="34" charset="-128"/>
              </a:rPr>
              <a:t>sum</a:t>
            </a:r>
            <a:r>
              <a:rPr lang="en-US" altLang="en-US" sz="1100" dirty="0">
                <a:ea typeface="ＭＳ Ｐゴシック" panose="020B0600070205080204" pitchFamily="34" charset="-128"/>
              </a:rPr>
              <a:t>.</a:t>
            </a:r>
          </a:p>
          <a:p>
            <a:r>
              <a:rPr lang="en-US" altLang="en-US" sz="1100" dirty="0">
                <a:ea typeface="ＭＳ Ｐゴシック" panose="020B0600070205080204" pitchFamily="34" charset="-128"/>
              </a:rPr>
              <a:t>The ‘+’ operator can be used for signals of any width.  Here a 32-bit add operation is specified.  </a:t>
            </a:r>
            <a:r>
              <a:rPr lang="en-US" altLang="en-US" sz="1100" b="1" dirty="0">
                <a:ea typeface="ＭＳ Ｐゴシック" panose="020B0600070205080204" pitchFamily="34" charset="-128"/>
              </a:rPr>
              <a:t>sum</a:t>
            </a:r>
            <a:r>
              <a:rPr lang="en-US" altLang="en-US" sz="1100" dirty="0">
                <a:ea typeface="ＭＳ Ｐゴシック" panose="020B0600070205080204" pitchFamily="34" charset="-128"/>
              </a:rPr>
              <a:t> is also 32-bit in width.  However, if </a:t>
            </a:r>
            <a:r>
              <a:rPr lang="en-US" altLang="en-US" sz="1100" b="1" dirty="0">
                <a:ea typeface="ＭＳ Ｐゴシック" panose="020B0600070205080204" pitchFamily="34" charset="-128"/>
              </a:rPr>
              <a:t>a</a:t>
            </a:r>
            <a:r>
              <a:rPr lang="en-US" altLang="en-US" sz="1100" dirty="0">
                <a:ea typeface="ＭＳ Ｐゴシック" panose="020B0600070205080204" pitchFamily="34" charset="-128"/>
              </a:rPr>
              <a:t> and </a:t>
            </a:r>
            <a:r>
              <a:rPr lang="en-US" altLang="en-US" sz="1100" b="1" dirty="0">
                <a:ea typeface="ＭＳ Ｐゴシック" panose="020B0600070205080204" pitchFamily="34" charset="-128"/>
              </a:rPr>
              <a:t>b</a:t>
            </a:r>
            <a:r>
              <a:rPr lang="en-US" altLang="en-US" sz="1100" dirty="0">
                <a:ea typeface="ＭＳ Ｐゴシック" panose="020B0600070205080204" pitchFamily="34" charset="-128"/>
              </a:rPr>
              <a:t> are 32-bit wide, the sum result could be 33-bit (including the carry out).  Therefore this operation could result in a wrong answer due to </a:t>
            </a:r>
            <a:r>
              <a:rPr lang="en-US" altLang="en-US" sz="1100" b="1" dirty="0">
                <a:ea typeface="ＭＳ Ｐゴシック" panose="020B0600070205080204" pitchFamily="34" charset="-128"/>
              </a:rPr>
              <a:t>overflow</a:t>
            </a:r>
            <a:r>
              <a:rPr lang="en-US" altLang="en-US" sz="1100" dirty="0">
                <a:ea typeface="ＭＳ Ｐゴシック" panose="020B0600070205080204" pitchFamily="34" charset="-128"/>
              </a:rPr>
              <a:t> into the carry bit. The 33th bit is truncated.</a:t>
            </a:r>
          </a:p>
          <a:p>
            <a:r>
              <a:rPr lang="en-US" altLang="en-US" sz="1100" dirty="0">
                <a:ea typeface="ＭＳ Ｐゴシック" panose="020B0600070205080204" pitchFamily="34" charset="-128"/>
              </a:rPr>
              <a:t>The second example </a:t>
            </a:r>
            <a:r>
              <a:rPr lang="en-US" altLang="en-US" sz="1100" b="1" dirty="0">
                <a:ea typeface="ＭＳ Ｐゴシック" panose="020B0600070205080204" pitchFamily="34" charset="-128"/>
              </a:rPr>
              <a:t>module add32_carry </a:t>
            </a:r>
            <a:r>
              <a:rPr lang="en-US" altLang="en-US" sz="1100" dirty="0">
                <a:ea typeface="ＭＳ Ｐゴシック" panose="020B0600070205080204" pitchFamily="34" charset="-128"/>
              </a:rPr>
              <a:t>shows the same adder but with carry input and carry output.  Note the LHS of the </a:t>
            </a:r>
            <a:r>
              <a:rPr lang="en-US" altLang="en-US" sz="1100" b="1" dirty="0">
                <a:ea typeface="ＭＳ Ｐゴシック" panose="020B0600070205080204" pitchFamily="34" charset="-128"/>
              </a:rPr>
              <a:t>assign</a:t>
            </a:r>
            <a:r>
              <a:rPr lang="en-US" altLang="en-US" sz="1100" dirty="0">
                <a:ea typeface="ＭＳ Ｐゴシック" panose="020B0600070205080204" pitchFamily="34" charset="-128"/>
              </a:rPr>
              <a:t> statement.  The </a:t>
            </a:r>
            <a:r>
              <a:rPr lang="en-US" altLang="en-US" sz="1100" b="1" dirty="0">
                <a:ea typeface="ＭＳ Ｐゴシック" panose="020B0600070205080204" pitchFamily="34" charset="-128"/>
              </a:rPr>
              <a:t>{</a:t>
            </a:r>
            <a:r>
              <a:rPr lang="en-US" altLang="en-US" sz="1100" b="1" dirty="0" err="1">
                <a:ea typeface="ＭＳ Ｐゴシック" panose="020B0600070205080204" pitchFamily="34" charset="-128"/>
              </a:rPr>
              <a:t>cout</a:t>
            </a:r>
            <a:r>
              <a:rPr lang="en-US" altLang="en-US" sz="1100" b="1" dirty="0">
                <a:ea typeface="ＭＳ Ｐゴシック" panose="020B0600070205080204" pitchFamily="34" charset="-128"/>
              </a:rPr>
              <a:t>, sum} </a:t>
            </a:r>
            <a:r>
              <a:rPr lang="en-US" altLang="en-US" sz="1100" dirty="0">
                <a:ea typeface="ＭＳ Ｐゴシック" panose="020B0600070205080204" pitchFamily="34" charset="-128"/>
              </a:rPr>
              <a:t>is a </a:t>
            </a:r>
            <a:r>
              <a:rPr lang="en-US" altLang="en-US" sz="1100" b="1" dirty="0">
                <a:ea typeface="ＭＳ Ｐゴシック" panose="020B0600070205080204" pitchFamily="34" charset="-128"/>
              </a:rPr>
              <a:t>concatenation</a:t>
            </a:r>
            <a:r>
              <a:rPr lang="en-US" altLang="en-US" sz="1100" dirty="0">
                <a:ea typeface="ＭＳ Ｐゴシック" panose="020B0600070205080204" pitchFamily="34" charset="-128"/>
              </a:rPr>
              <a:t> operator – the contents inside the brackets </a:t>
            </a:r>
            <a:r>
              <a:rPr lang="en-US" altLang="en-US" sz="1100" b="1" dirty="0">
                <a:ea typeface="ＭＳ Ｐゴシック" panose="020B0600070205080204" pitchFamily="34" charset="-128"/>
              </a:rPr>
              <a:t>{ }</a:t>
            </a:r>
            <a:r>
              <a:rPr lang="en-US" altLang="en-US" sz="1100" dirty="0">
                <a:ea typeface="ＭＳ Ｐゴシック" panose="020B0600070205080204" pitchFamily="34" charset="-128"/>
              </a:rPr>
              <a:t> are concatenated together, with </a:t>
            </a:r>
            <a:r>
              <a:rPr lang="en-US" altLang="en-US" sz="1100" b="1" dirty="0" err="1">
                <a:ea typeface="ＭＳ Ｐゴシック" panose="020B0600070205080204" pitchFamily="34" charset="-128"/>
              </a:rPr>
              <a:t>cout</a:t>
            </a:r>
            <a:r>
              <a:rPr lang="en-US" altLang="en-US" sz="1100" dirty="0">
                <a:ea typeface="ＭＳ Ｐゴシック" panose="020B0600070205080204" pitchFamily="34" charset="-128"/>
              </a:rPr>
              <a:t> is assigned the MSB of the 33th bit of the result , and the remaining bits are formed by </a:t>
            </a:r>
            <a:r>
              <a:rPr lang="en-US" altLang="en-US" sz="1100" b="1" dirty="0">
                <a:ea typeface="ＭＳ Ｐゴシック" panose="020B0600070205080204" pitchFamily="34" charset="-128"/>
              </a:rPr>
              <a:t>sum[31:0]</a:t>
            </a:r>
            <a:r>
              <a:rPr lang="en-US" altLang="en-US" sz="1100" dirty="0">
                <a:ea typeface="ＭＳ Ｐゴシック" panose="020B0600070205080204" pitchFamily="34" charset="-128"/>
              </a:rPr>
              <a:t>.</a:t>
            </a:r>
          </a:p>
        </p:txBody>
      </p:sp>
      <p:sp>
        <p:nvSpPr>
          <p:cNvPr id="9219" name="Slide Number Placeholder 1">
            <a:extLst>
              <a:ext uri="{FF2B5EF4-FFF2-40B4-BE49-F238E27FC236}">
                <a16:creationId xmlns:a16="http://schemas.microsoft.com/office/drawing/2014/main" id="{8B61F19E-F649-FA4D-B494-873AC89EA013}"/>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0C3D4D0E-88B8-FF43-AD25-AA37BE967A64}" type="slidenum">
              <a:rPr lang="en-US" altLang="en-US" sz="1200" smtClean="0"/>
              <a:pPr/>
              <a:t>19</a:t>
            </a:fld>
            <a:endParaRPr lang="en-US" altLang="en-US" sz="1200"/>
          </a:p>
        </p:txBody>
      </p:sp>
    </p:spTree>
    <p:extLst>
      <p:ext uri="{BB962C8B-B14F-4D97-AF65-F5344CB8AC3E}">
        <p14:creationId xmlns:p14="http://schemas.microsoft.com/office/powerpoint/2010/main" val="32042341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76F28DB1-A8DC-A64B-BA44-40D277791B21}"/>
              </a:ext>
            </a:extLst>
          </p:cNvPr>
          <p:cNvSpPr>
            <a:spLocks noGrp="1" noRot="1" noChangeAspect="1" noChangeArrowheads="1" noTextEdit="1"/>
          </p:cNvSpPr>
          <p:nvPr>
            <p:ph type="sldImg"/>
          </p:nvPr>
        </p:nvSpPr>
        <p:spPr>
          <a:xfrm>
            <a:off x="714375" y="742950"/>
            <a:ext cx="5365750" cy="3714750"/>
          </a:xfrm>
          <a:ln/>
        </p:spPr>
      </p:sp>
      <p:sp>
        <p:nvSpPr>
          <p:cNvPr id="11266" name="Rectangle 3">
            <a:extLst>
              <a:ext uri="{FF2B5EF4-FFF2-40B4-BE49-F238E27FC236}">
                <a16:creationId xmlns:a16="http://schemas.microsoft.com/office/drawing/2014/main" id="{747ECC38-A24C-2B42-9AAC-A985BF5DB79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There are three different types of Boolean operators: </a:t>
            </a:r>
          </a:p>
          <a:p>
            <a:endParaRPr lang="en-US" altLang="en-US" sz="1100">
              <a:ea typeface="ＭＳ Ｐゴシック" panose="020B0600070205080204" pitchFamily="34" charset="-128"/>
            </a:endParaRPr>
          </a:p>
          <a:p>
            <a:r>
              <a:rPr lang="en-US" altLang="en-US" sz="1100" b="1">
                <a:ea typeface="ＭＳ Ｐゴシック" panose="020B0600070205080204" pitchFamily="34" charset="-128"/>
              </a:rPr>
              <a:t>Bitwise operators </a:t>
            </a:r>
            <a:r>
              <a:rPr lang="en-US" altLang="en-US" sz="1100">
                <a:ea typeface="ＭＳ Ｐゴシック" panose="020B0600070205080204" pitchFamily="34" charset="-128"/>
              </a:rPr>
              <a:t>perform what you would expect as if there are parallel gates used for each bit of the operands.  Therefore </a:t>
            </a:r>
            <a:r>
              <a:rPr lang="en-US" altLang="en-US" sz="1100" b="1">
                <a:ea typeface="ＭＳ Ｐゴシック" panose="020B0600070205080204" pitchFamily="34" charset="-128"/>
              </a:rPr>
              <a:t>a&amp;b</a:t>
            </a:r>
            <a:r>
              <a:rPr lang="en-US" altLang="en-US" sz="1100">
                <a:ea typeface="ＭＳ Ｐゴシック" panose="020B0600070205080204" pitchFamily="34" charset="-128"/>
              </a:rPr>
              <a:t> means that each bit from </a:t>
            </a:r>
            <a:r>
              <a:rPr lang="en-US" altLang="en-US" sz="1100" b="1">
                <a:ea typeface="ＭＳ Ｐゴシック" panose="020B0600070205080204" pitchFamily="34" charset="-128"/>
              </a:rPr>
              <a:t>a</a:t>
            </a:r>
            <a:r>
              <a:rPr lang="en-US" altLang="en-US" sz="1100">
                <a:ea typeface="ＭＳ Ｐゴシック" panose="020B0600070205080204" pitchFamily="34" charset="-128"/>
              </a:rPr>
              <a:t> and </a:t>
            </a:r>
            <a:r>
              <a:rPr lang="en-US" altLang="en-US" sz="1100" b="1">
                <a:ea typeface="ＭＳ Ｐゴシック" panose="020B0600070205080204" pitchFamily="34" charset="-128"/>
              </a:rPr>
              <a:t>b</a:t>
            </a:r>
            <a:r>
              <a:rPr lang="en-US" altLang="en-US" sz="1100">
                <a:ea typeface="ＭＳ Ｐゴシック" panose="020B0600070205080204" pitchFamily="34" charset="-128"/>
              </a:rPr>
              <a:t> is passed through an AND-gate.</a:t>
            </a:r>
          </a:p>
          <a:p>
            <a:endParaRPr lang="en-US" altLang="en-US" sz="1100">
              <a:ea typeface="ＭＳ Ｐゴシック" panose="020B0600070205080204" pitchFamily="34" charset="-128"/>
            </a:endParaRPr>
          </a:p>
          <a:p>
            <a:r>
              <a:rPr lang="en-US" altLang="en-US" sz="1100" b="1">
                <a:ea typeface="ＭＳ Ｐゴシック" panose="020B0600070205080204" pitchFamily="34" charset="-128"/>
              </a:rPr>
              <a:t>Logical operators </a:t>
            </a:r>
            <a:r>
              <a:rPr lang="en-US" altLang="en-US" sz="1100">
                <a:ea typeface="ＭＳ Ｐゴシック" panose="020B0600070205080204" pitchFamily="34" charset="-128"/>
              </a:rPr>
              <a:t>only result in 0 or 1 (i.e. 1-bit result)  In this example !a </a:t>
            </a:r>
            <a:r>
              <a:rPr lang="en-US" altLang="en-US" sz="1100" b="1">
                <a:ea typeface="ＭＳ Ｐゴシック" panose="020B0600070205080204" pitchFamily="34" charset="-128"/>
              </a:rPr>
              <a:t>(not a) </a:t>
            </a:r>
            <a:r>
              <a:rPr lang="en-US" altLang="en-US" sz="1100">
                <a:ea typeface="ＭＳ Ｐゴシック" panose="020B0600070205080204" pitchFamily="34" charset="-128"/>
              </a:rPr>
              <a:t>where </a:t>
            </a:r>
            <a:r>
              <a:rPr lang="en-US" altLang="en-US" sz="1100" b="1">
                <a:ea typeface="ＭＳ Ｐゴシック" panose="020B0600070205080204" pitchFamily="34" charset="-128"/>
              </a:rPr>
              <a:t>a = 0101</a:t>
            </a:r>
            <a:r>
              <a:rPr lang="en-US" altLang="en-US" sz="1100">
                <a:ea typeface="ＭＳ Ｐゴシック" panose="020B0600070205080204" pitchFamily="34" charset="-128"/>
              </a:rPr>
              <a:t>, will result in first, </a:t>
            </a:r>
            <a:r>
              <a:rPr lang="en-US" altLang="en-US" sz="1100" b="1">
                <a:ea typeface="ＭＳ Ｐゴシック" panose="020B0600070205080204" pitchFamily="34" charset="-128"/>
              </a:rPr>
              <a:t>a</a:t>
            </a:r>
            <a:r>
              <a:rPr lang="en-US" altLang="en-US" sz="1100">
                <a:ea typeface="ＭＳ Ｐゴシック" panose="020B0600070205080204" pitchFamily="34" charset="-128"/>
              </a:rPr>
              <a:t> being evaluated as a logical value (i.e. logical ‘1’ or true).  Therefore the result </a:t>
            </a:r>
            <a:r>
              <a:rPr lang="en-US" altLang="en-US" sz="1100" b="1">
                <a:ea typeface="ＭＳ Ｐゴシック" panose="020B0600070205080204" pitchFamily="34" charset="-128"/>
              </a:rPr>
              <a:t>~a</a:t>
            </a:r>
            <a:r>
              <a:rPr lang="en-US" altLang="en-US" sz="1100">
                <a:ea typeface="ＭＳ Ｐゴシック" panose="020B0600070205080204" pitchFamily="34" charset="-128"/>
              </a:rPr>
              <a:t> is logical 0 (or false).</a:t>
            </a:r>
          </a:p>
          <a:p>
            <a:endParaRPr lang="en-US" altLang="en-US" sz="1100">
              <a:ea typeface="ＭＳ Ｐゴシック" panose="020B0600070205080204" pitchFamily="34" charset="-128"/>
            </a:endParaRPr>
          </a:p>
          <a:p>
            <a:r>
              <a:rPr lang="en-US" altLang="en-US" sz="1100" b="1">
                <a:ea typeface="ＭＳ Ｐゴシック" panose="020B0600070205080204" pitchFamily="34" charset="-128"/>
              </a:rPr>
              <a:t>Reduction operators </a:t>
            </a:r>
            <a:r>
              <a:rPr lang="en-US" altLang="en-US" sz="1100">
                <a:ea typeface="ＭＳ Ｐゴシック" panose="020B0600070205080204" pitchFamily="34" charset="-128"/>
              </a:rPr>
              <a:t>is applied to a single operand (and sometimes known as unary operators).  It performs the operation one-bit at a time to the operand. </a:t>
            </a:r>
          </a:p>
        </p:txBody>
      </p:sp>
      <p:sp>
        <p:nvSpPr>
          <p:cNvPr id="11267" name="Slide Number Placeholder 1">
            <a:extLst>
              <a:ext uri="{FF2B5EF4-FFF2-40B4-BE49-F238E27FC236}">
                <a16:creationId xmlns:a16="http://schemas.microsoft.com/office/drawing/2014/main" id="{07C5B61B-C92E-8542-B3A9-9007295F44E7}"/>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5BE05F3B-CA3E-3543-B2E0-858B1ADAEC60}" type="slidenum">
              <a:rPr lang="en-US" altLang="en-US" sz="1200" smtClean="0"/>
              <a:pPr/>
              <a:t>20</a:t>
            </a:fld>
            <a:endParaRPr lang="en-US" altLang="en-US" sz="1200"/>
          </a:p>
        </p:txBody>
      </p:sp>
    </p:spTree>
    <p:extLst>
      <p:ext uri="{BB962C8B-B14F-4D97-AF65-F5344CB8AC3E}">
        <p14:creationId xmlns:p14="http://schemas.microsoft.com/office/powerpoint/2010/main" val="3316568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FBC24E74-B6AA-8747-BE99-E12492807B61}"/>
              </a:ext>
            </a:extLst>
          </p:cNvPr>
          <p:cNvSpPr>
            <a:spLocks noGrp="1" noRot="1" noChangeAspect="1" noChangeArrowheads="1" noTextEdit="1"/>
          </p:cNvSpPr>
          <p:nvPr>
            <p:ph type="sldImg"/>
          </p:nvPr>
        </p:nvSpPr>
        <p:spPr>
          <a:xfrm>
            <a:off x="714375" y="742950"/>
            <a:ext cx="5365750" cy="3714750"/>
          </a:xfrm>
          <a:ln/>
        </p:spPr>
      </p:sp>
      <p:sp>
        <p:nvSpPr>
          <p:cNvPr id="13314" name="Rectangle 3">
            <a:extLst>
              <a:ext uri="{FF2B5EF4-FFF2-40B4-BE49-F238E27FC236}">
                <a16:creationId xmlns:a16="http://schemas.microsoft.com/office/drawing/2014/main" id="{8A7114DB-B746-EE4F-A0C2-B32F550F1E1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Assume that we want to specify a 3-to-1 multiplexer as shown on the left.  On the right is an attempt to specify this using the always + case construct in Verilog.</a:t>
            </a:r>
          </a:p>
          <a:p>
            <a:r>
              <a:rPr lang="en-US" altLang="en-US" sz="1100">
                <a:ea typeface="ＭＳ Ｐゴシック" panose="020B0600070205080204" pitchFamily="34" charset="-128"/>
              </a:rPr>
              <a:t>The case variable ‘</a:t>
            </a:r>
            <a:r>
              <a:rPr lang="en-US" altLang="ja-JP" sz="1100" b="1">
                <a:ea typeface="ＭＳ Ｐゴシック" panose="020B0600070205080204" pitchFamily="34" charset="-128"/>
              </a:rPr>
              <a:t>sel</a:t>
            </a:r>
            <a:r>
              <a:rPr lang="en-US" altLang="en-US" sz="1100">
                <a:ea typeface="ＭＳ Ｐゴシック" panose="020B0600070205080204" pitchFamily="34" charset="-128"/>
              </a:rPr>
              <a:t>’</a:t>
            </a:r>
            <a:r>
              <a:rPr lang="en-US" altLang="ja-JP" sz="1100">
                <a:ea typeface="ＭＳ Ｐゴシック" panose="020B0600070205080204" pitchFamily="34" charset="-128"/>
              </a:rPr>
              <a:t> is 2-bit wide, and therefore has 4 possibilities.  The case statement only specifies three of the four possible cases.  </a:t>
            </a:r>
          </a:p>
          <a:p>
            <a:r>
              <a:rPr lang="en-US" altLang="en-US" sz="1100">
                <a:ea typeface="ＭＳ Ｐゴシック" panose="020B0600070205080204" pitchFamily="34" charset="-128"/>
              </a:rPr>
              <a:t>This is known as an “</a:t>
            </a:r>
            <a:r>
              <a:rPr lang="en-US" altLang="ja-JP" sz="1100" b="1">
                <a:ea typeface="ＭＳ Ｐゴシック" panose="020B0600070205080204" pitchFamily="34" charset="-128"/>
              </a:rPr>
              <a:t>incomplete specification</a:t>
            </a:r>
            <a:r>
              <a:rPr lang="en-US" altLang="en-US" sz="1100">
                <a:ea typeface="ＭＳ Ｐゴシック" panose="020B0600070205080204" pitchFamily="34" charset="-128"/>
              </a:rPr>
              <a:t>”</a:t>
            </a:r>
            <a:r>
              <a:rPr lang="en-US" altLang="ja-JP" sz="1100">
                <a:ea typeface="ＭＳ Ｐゴシック" panose="020B0600070205080204" pitchFamily="34" charset="-128"/>
              </a:rPr>
              <a:t>.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In Verilog, there is this rule:</a:t>
            </a:r>
          </a:p>
          <a:p>
            <a:r>
              <a:rPr lang="en-US" altLang="en-US" sz="1100" b="1">
                <a:ea typeface="ＭＳ Ｐゴシック" panose="020B0600070205080204" pitchFamily="34" charset="-128"/>
              </a:rPr>
              <a:t>If something is not completely specified, the output must retain its previous value when the unspecified condition occurs. </a:t>
            </a:r>
          </a:p>
        </p:txBody>
      </p:sp>
      <p:sp>
        <p:nvSpPr>
          <p:cNvPr id="13315" name="Slide Number Placeholder 1">
            <a:extLst>
              <a:ext uri="{FF2B5EF4-FFF2-40B4-BE49-F238E27FC236}">
                <a16:creationId xmlns:a16="http://schemas.microsoft.com/office/drawing/2014/main" id="{569CE5F7-38F1-C544-A66A-2CB73FF84045}"/>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1D3D6A39-1D40-B64F-A44B-0917336BE32C}" type="slidenum">
              <a:rPr lang="en-US" altLang="en-US" sz="1200" smtClean="0"/>
              <a:pPr/>
              <a:t>21</a:t>
            </a:fld>
            <a:endParaRPr lang="en-US" altLang="en-US" sz="1200"/>
          </a:p>
        </p:txBody>
      </p:sp>
    </p:spTree>
    <p:extLst>
      <p:ext uri="{BB962C8B-B14F-4D97-AF65-F5344CB8AC3E}">
        <p14:creationId xmlns:p14="http://schemas.microsoft.com/office/powerpoint/2010/main" val="2076820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F3B4F8A-6A56-4C4F-84EE-A76298C9EA8E}"/>
              </a:ext>
            </a:extLst>
          </p:cNvPr>
          <p:cNvSpPr>
            <a:spLocks noGrp="1" noRot="1" noChangeAspect="1" noChangeArrowheads="1" noTextEdit="1"/>
          </p:cNvSpPr>
          <p:nvPr>
            <p:ph type="sldImg"/>
          </p:nvPr>
        </p:nvSpPr>
        <p:spPr>
          <a:xfrm>
            <a:off x="714375" y="742950"/>
            <a:ext cx="5365750" cy="3714750"/>
          </a:xfrm>
          <a:ln/>
        </p:spPr>
      </p:sp>
      <p:sp>
        <p:nvSpPr>
          <p:cNvPr id="15362" name="Rectangle 3">
            <a:extLst>
              <a:ext uri="{FF2B5EF4-FFF2-40B4-BE49-F238E27FC236}">
                <a16:creationId xmlns:a16="http://schemas.microsoft.com/office/drawing/2014/main" id="{9BF680E1-5BFD-2C4D-8CC2-3FBD881B750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The consequence of this is an unexpected extra latch being added to the hardware.</a:t>
            </a:r>
          </a:p>
          <a:p>
            <a:r>
              <a:rPr lang="en-US" altLang="en-US" sz="1100">
                <a:ea typeface="ＭＳ Ｐゴシック" panose="020B0600070205080204" pitchFamily="34" charset="-128"/>
              </a:rPr>
              <a:t>In order to cope with the unspecified condition of </a:t>
            </a:r>
            <a:r>
              <a:rPr lang="en-US" altLang="en-US" sz="1100" b="1">
                <a:ea typeface="ＭＳ Ｐゴシック" panose="020B0600070205080204" pitchFamily="34" charset="-128"/>
              </a:rPr>
              <a:t>sel = 2’b11</a:t>
            </a:r>
            <a:r>
              <a:rPr lang="en-US" altLang="en-US" sz="1100">
                <a:ea typeface="ＭＳ Ｐゴシック" panose="020B0600070205080204" pitchFamily="34" charset="-128"/>
              </a:rPr>
              <a:t>, the output of the MUX is fed to be </a:t>
            </a:r>
            <a:r>
              <a:rPr lang="en-US" altLang="en-US" sz="1100" b="1">
                <a:ea typeface="ＭＳ Ｐゴシック" panose="020B0600070205080204" pitchFamily="34" charset="-128"/>
              </a:rPr>
              <a:t>latch</a:t>
            </a:r>
            <a:r>
              <a:rPr lang="en-US" altLang="en-US" sz="1100">
                <a:ea typeface="ＭＳ Ｐゴシック" panose="020B0600070205080204" pitchFamily="34" charset="-128"/>
              </a:rPr>
              <a:t>.  </a:t>
            </a:r>
          </a:p>
          <a:p>
            <a:r>
              <a:rPr lang="en-US" altLang="en-US" sz="1100">
                <a:ea typeface="ＭＳ Ｐゴシック" panose="020B0600070205080204" pitchFamily="34" charset="-128"/>
              </a:rPr>
              <a:t>Noted that a latch is </a:t>
            </a:r>
            <a:r>
              <a:rPr lang="en-US" altLang="en-US" sz="1100" b="1">
                <a:ea typeface="ＭＳ Ｐゴシック" panose="020B0600070205080204" pitchFamily="34" charset="-128"/>
              </a:rPr>
              <a:t>level-triggered</a:t>
            </a:r>
            <a:r>
              <a:rPr lang="en-US" altLang="en-US" sz="1100">
                <a:ea typeface="ＭＳ Ｐゴシック" panose="020B0600070205080204" pitchFamily="34" charset="-128"/>
              </a:rPr>
              <a:t>; a flipflop is</a:t>
            </a:r>
            <a:r>
              <a:rPr lang="en-US" altLang="en-US" sz="1100" b="1">
                <a:ea typeface="ＭＳ Ｐゴシック" panose="020B0600070205080204" pitchFamily="34" charset="-128"/>
              </a:rPr>
              <a:t> edge-triggered</a:t>
            </a:r>
            <a:r>
              <a:rPr lang="en-US" altLang="en-US" sz="1100">
                <a:ea typeface="ＭＳ Ｐゴシック" panose="020B0600070205080204" pitchFamily="34" charset="-128"/>
              </a:rPr>
              <a:t>. A latch has the property that when the gate input </a:t>
            </a:r>
            <a:r>
              <a:rPr lang="en-US" altLang="en-US" sz="1100" b="1">
                <a:ea typeface="ＭＳ Ｐゴシック" panose="020B0600070205080204" pitchFamily="34" charset="-128"/>
              </a:rPr>
              <a:t>G</a:t>
            </a:r>
            <a:r>
              <a:rPr lang="en-US" altLang="en-US" sz="1100">
                <a:ea typeface="ＭＳ Ｐゴシック" panose="020B0600070205080204" pitchFamily="34" charset="-128"/>
              </a:rPr>
              <a:t> is high</a:t>
            </a:r>
            <a:r>
              <a:rPr lang="en-US" altLang="en-US" sz="1100" b="1">
                <a:ea typeface="ＭＳ Ｐゴシック" panose="020B0600070205080204" pitchFamily="34" charset="-128"/>
              </a:rPr>
              <a:t>, Q = D </a:t>
            </a:r>
            <a:r>
              <a:rPr lang="en-US" altLang="en-US" sz="1100">
                <a:ea typeface="ＭＳ Ｐゴシック" panose="020B0600070205080204" pitchFamily="34" charset="-128"/>
              </a:rPr>
              <a:t>(i.e. it is </a:t>
            </a:r>
            <a:r>
              <a:rPr lang="en-US" altLang="en-US" sz="1100" b="1">
                <a:ea typeface="ＭＳ Ｐゴシック" panose="020B0600070205080204" pitchFamily="34" charset="-128"/>
              </a:rPr>
              <a:t>transparent</a:t>
            </a:r>
            <a:r>
              <a:rPr lang="en-US" altLang="en-US" sz="1100">
                <a:ea typeface="ＭＳ Ｐゴシック" panose="020B0600070205080204" pitchFamily="34" charset="-128"/>
              </a:rPr>
              <a:t>: input goes straight to output).  If </a:t>
            </a:r>
            <a:r>
              <a:rPr lang="en-US" altLang="en-US" sz="1100" b="1">
                <a:ea typeface="ＭＳ Ｐゴシック" panose="020B0600070205080204" pitchFamily="34" charset="-128"/>
              </a:rPr>
              <a:t>G</a:t>
            </a:r>
            <a:r>
              <a:rPr lang="en-US" altLang="en-US" sz="1100">
                <a:ea typeface="ＭＳ Ｐゴシック" panose="020B0600070205080204" pitchFamily="34" charset="-128"/>
              </a:rPr>
              <a:t> is low, the latch become </a:t>
            </a:r>
            <a:r>
              <a:rPr lang="en-US" altLang="en-US" sz="1100" b="1">
                <a:ea typeface="ＭＳ Ｐゴシック" panose="020B0600070205080204" pitchFamily="34" charset="-128"/>
              </a:rPr>
              <a:t>opaque</a:t>
            </a:r>
            <a:r>
              <a:rPr lang="en-US" altLang="en-US" sz="1100">
                <a:ea typeface="ＭＳ Ｐゴシック" panose="020B0600070205080204" pitchFamily="34" charset="-128"/>
              </a:rPr>
              <a:t>, meaning that it retains the previous value.</a:t>
            </a:r>
          </a:p>
          <a:p>
            <a:r>
              <a:rPr lang="en-US" altLang="en-US" sz="1100">
                <a:ea typeface="ＭＳ Ｐゴシック" panose="020B0600070205080204" pitchFamily="34" charset="-128"/>
              </a:rPr>
              <a:t>The green shaded latch  in the diagram and the controlling NAND gate are the unintended consequences of this incompletely specified 3-to-1 multiplexer.</a:t>
            </a:r>
          </a:p>
        </p:txBody>
      </p:sp>
      <p:sp>
        <p:nvSpPr>
          <p:cNvPr id="15363" name="Slide Number Placeholder 1">
            <a:extLst>
              <a:ext uri="{FF2B5EF4-FFF2-40B4-BE49-F238E27FC236}">
                <a16:creationId xmlns:a16="http://schemas.microsoft.com/office/drawing/2014/main" id="{FAA5816A-B443-884D-A785-33307889191E}"/>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AFA3FD6D-5686-8A41-AD24-F34F3CFE07E2}" type="slidenum">
              <a:rPr lang="en-US" altLang="en-US" sz="1200" smtClean="0"/>
              <a:pPr/>
              <a:t>22</a:t>
            </a:fld>
            <a:endParaRPr lang="en-US" altLang="en-US" sz="1200"/>
          </a:p>
        </p:txBody>
      </p:sp>
    </p:spTree>
    <p:extLst>
      <p:ext uri="{BB962C8B-B14F-4D97-AF65-F5344CB8AC3E}">
        <p14:creationId xmlns:p14="http://schemas.microsoft.com/office/powerpoint/2010/main" val="546646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73164D11-02B3-9045-972B-039852BC09FF}"/>
              </a:ext>
            </a:extLst>
          </p:cNvPr>
          <p:cNvSpPr>
            <a:spLocks noGrp="1" noRot="1" noChangeAspect="1" noChangeArrowheads="1" noTextEdit="1"/>
          </p:cNvSpPr>
          <p:nvPr>
            <p:ph type="sldImg"/>
          </p:nvPr>
        </p:nvSpPr>
        <p:spPr>
          <a:xfrm>
            <a:off x="714375" y="742950"/>
            <a:ext cx="5365750" cy="3714750"/>
          </a:xfrm>
          <a:ln/>
        </p:spPr>
      </p:sp>
      <p:sp>
        <p:nvSpPr>
          <p:cNvPr id="17410" name="Rectangle 3">
            <a:extLst>
              <a:ext uri="{FF2B5EF4-FFF2-40B4-BE49-F238E27FC236}">
                <a16:creationId xmlns:a16="http://schemas.microsoft.com/office/drawing/2014/main" id="{99904C9B-DA1A-9943-82B2-F086911250C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There are two solutions to avoid the unintended latch being added.</a:t>
            </a:r>
          </a:p>
          <a:p>
            <a:r>
              <a:rPr lang="en-US" altLang="en-US" sz="1100" b="1">
                <a:ea typeface="ＭＳ Ｐゴシック" panose="020B0600070205080204" pitchFamily="34" charset="-128"/>
              </a:rPr>
              <a:t>Solution 1 </a:t>
            </a:r>
            <a:r>
              <a:rPr lang="en-US" altLang="en-US" sz="1100">
                <a:ea typeface="ＭＳ Ｐゴシック" panose="020B0600070205080204" pitchFamily="34" charset="-128"/>
              </a:rPr>
              <a:t>is to put outside the </a:t>
            </a:r>
            <a:r>
              <a:rPr lang="en-US" altLang="en-US" sz="1100" b="1">
                <a:ea typeface="ＭＳ Ｐゴシック" panose="020B0600070205080204" pitchFamily="34" charset="-128"/>
              </a:rPr>
              <a:t>case</a:t>
            </a:r>
            <a:r>
              <a:rPr lang="en-US" altLang="en-US" sz="1100">
                <a:ea typeface="ＭＳ Ｐゴシック" panose="020B0600070205080204" pitchFamily="34" charset="-128"/>
              </a:rPr>
              <a:t> statement a “</a:t>
            </a:r>
            <a:r>
              <a:rPr lang="en-US" altLang="ja-JP" sz="1100" b="1">
                <a:ea typeface="ＭＳ Ｐゴシック" panose="020B0600070205080204" pitchFamily="34" charset="-128"/>
              </a:rPr>
              <a:t>default</a:t>
            </a:r>
            <a:r>
              <a:rPr lang="en-US" altLang="en-US" sz="1100">
                <a:ea typeface="ＭＳ Ｐゴシック" panose="020B0600070205080204" pitchFamily="34" charset="-128"/>
              </a:rPr>
              <a:t>”</a:t>
            </a:r>
            <a:r>
              <a:rPr lang="en-US" altLang="ja-JP" sz="1100">
                <a:ea typeface="ＭＳ Ｐゴシック" panose="020B0600070205080204" pitchFamily="34" charset="-128"/>
              </a:rPr>
              <a:t> value for out.  Here </a:t>
            </a:r>
            <a:r>
              <a:rPr lang="en-US" altLang="ja-JP" sz="1100" b="1">
                <a:ea typeface="ＭＳ Ｐゴシック" panose="020B0600070205080204" pitchFamily="34" charset="-128"/>
              </a:rPr>
              <a:t>1</a:t>
            </a:r>
            <a:r>
              <a:rPr lang="en-US" altLang="en-US" sz="1100" b="1">
                <a:ea typeface="ＭＳ Ｐゴシック" panose="020B0600070205080204" pitchFamily="34" charset="-128"/>
              </a:rPr>
              <a:t>’</a:t>
            </a:r>
            <a:r>
              <a:rPr lang="en-US" altLang="ja-JP" sz="1100" b="1">
                <a:ea typeface="ＭＳ Ｐゴシック" panose="020B0600070205080204" pitchFamily="34" charset="-128"/>
              </a:rPr>
              <a:t>bx </a:t>
            </a:r>
            <a:r>
              <a:rPr lang="en-US" altLang="ja-JP" sz="1100">
                <a:ea typeface="ＭＳ Ｐゴシック" panose="020B0600070205080204" pitchFamily="34" charset="-128"/>
              </a:rPr>
              <a:t>(i.e. </a:t>
            </a:r>
            <a:r>
              <a:rPr lang="en-US" altLang="en-US" sz="1100">
                <a:ea typeface="ＭＳ Ｐゴシック" panose="020B0600070205080204" pitchFamily="34" charset="-128"/>
              </a:rPr>
              <a:t>‘</a:t>
            </a:r>
            <a:r>
              <a:rPr lang="en-US" altLang="ja-JP" sz="1100">
                <a:ea typeface="ＭＳ Ｐゴシック" panose="020B0600070205080204" pitchFamily="34" charset="-128"/>
              </a:rPr>
              <a:t>x</a:t>
            </a:r>
            <a:r>
              <a:rPr lang="en-US" altLang="en-US" sz="1100">
                <a:ea typeface="ＭＳ Ｐゴシック" panose="020B0600070205080204" pitchFamily="34" charset="-128"/>
              </a:rPr>
              <a:t>’</a:t>
            </a:r>
            <a:r>
              <a:rPr lang="en-US" altLang="ja-JP" sz="1100">
                <a:ea typeface="ＭＳ Ｐゴシック" panose="020B0600070205080204" pitchFamily="34" charset="-128"/>
              </a:rPr>
              <a:t>) means </a:t>
            </a:r>
            <a:r>
              <a:rPr lang="en-US" altLang="ja-JP" sz="1100" b="1">
                <a:ea typeface="ＭＳ Ｐゴシック" panose="020B0600070205080204" pitchFamily="34" charset="-128"/>
              </a:rPr>
              <a:t>undefined</a:t>
            </a:r>
            <a:r>
              <a:rPr lang="en-US" altLang="ja-JP" sz="1100">
                <a:ea typeface="ＭＳ Ｐゴシック" panose="020B0600070205080204" pitchFamily="34" charset="-128"/>
              </a:rPr>
              <a:t>.  </a:t>
            </a:r>
          </a:p>
          <a:p>
            <a:r>
              <a:rPr lang="en-US" altLang="en-US" sz="1100" b="1">
                <a:ea typeface="ＭＳ Ｐゴシック" panose="020B0600070205080204" pitchFamily="34" charset="-128"/>
              </a:rPr>
              <a:t>Solution 2 </a:t>
            </a:r>
            <a:r>
              <a:rPr lang="en-US" altLang="en-US" sz="1100">
                <a:ea typeface="ＭＳ Ｐゴシック" panose="020B0600070205080204" pitchFamily="34" charset="-128"/>
              </a:rPr>
              <a:t>is better: inside the </a:t>
            </a:r>
            <a:r>
              <a:rPr lang="en-US" altLang="en-US" sz="1100" b="1">
                <a:ea typeface="ＭＳ Ｐゴシック" panose="020B0600070205080204" pitchFamily="34" charset="-128"/>
              </a:rPr>
              <a:t>case</a:t>
            </a:r>
            <a:r>
              <a:rPr lang="en-US" altLang="en-US" sz="1100">
                <a:ea typeface="ＭＳ Ｐゴシック" panose="020B0600070205080204" pitchFamily="34" charset="-128"/>
              </a:rPr>
              <a:t> statement block, always add the </a:t>
            </a:r>
            <a:r>
              <a:rPr lang="en-US" altLang="en-US" sz="1100" b="1">
                <a:ea typeface="ＭＳ Ｐゴシック" panose="020B0600070205080204" pitchFamily="34" charset="-128"/>
              </a:rPr>
              <a:t>default</a:t>
            </a:r>
            <a:r>
              <a:rPr lang="en-US" altLang="en-US" sz="1100">
                <a:ea typeface="ＭＳ Ｐゴシック" panose="020B0600070205080204" pitchFamily="34" charset="-128"/>
              </a:rPr>
              <a:t> line.  This will catch ALL the unspecified cases and avoid the introduction of the spurious unintended latches.</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Lesson:   always include a default assignment in any </a:t>
            </a:r>
            <a:r>
              <a:rPr lang="en-US" altLang="en-US" sz="1100" b="1">
                <a:ea typeface="ＭＳ Ｐゴシック" panose="020B0600070205080204" pitchFamily="34" charset="-128"/>
              </a:rPr>
              <a:t>case</a:t>
            </a:r>
            <a:r>
              <a:rPr lang="en-US" altLang="en-US" sz="1100">
                <a:ea typeface="ＭＳ Ｐゴシック" panose="020B0600070205080204" pitchFamily="34" charset="-128"/>
              </a:rPr>
              <a:t> statement to capture unintended incomplete specification.</a:t>
            </a:r>
          </a:p>
        </p:txBody>
      </p:sp>
      <p:sp>
        <p:nvSpPr>
          <p:cNvPr id="17411" name="Slide Number Placeholder 1">
            <a:extLst>
              <a:ext uri="{FF2B5EF4-FFF2-40B4-BE49-F238E27FC236}">
                <a16:creationId xmlns:a16="http://schemas.microsoft.com/office/drawing/2014/main" id="{BBC2D407-92AD-004B-88F0-E441F4390282}"/>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796BFCCC-A160-FF48-A906-E81A2C4D5910}" type="slidenum">
              <a:rPr lang="en-US" altLang="en-US" sz="1200" smtClean="0"/>
              <a:pPr/>
              <a:t>23</a:t>
            </a:fld>
            <a:endParaRPr lang="en-US" altLang="en-US" sz="1200"/>
          </a:p>
        </p:txBody>
      </p:sp>
    </p:spTree>
    <p:extLst>
      <p:ext uri="{BB962C8B-B14F-4D97-AF65-F5344CB8AC3E}">
        <p14:creationId xmlns:p14="http://schemas.microsoft.com/office/powerpoint/2010/main" val="3025993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7B821361-566E-3940-94D2-C0A2FB84FA46}"/>
              </a:ext>
            </a:extLst>
          </p:cNvPr>
          <p:cNvSpPr>
            <a:spLocks noGrp="1" noRot="1" noChangeAspect="1" noChangeArrowheads="1" noTextEdit="1"/>
          </p:cNvSpPr>
          <p:nvPr>
            <p:ph type="sldImg"/>
          </p:nvPr>
        </p:nvSpPr>
        <p:spPr>
          <a:xfrm>
            <a:off x="714375" y="742950"/>
            <a:ext cx="5365750" cy="3714750"/>
          </a:xfrm>
          <a:ln/>
        </p:spPr>
      </p:sp>
      <p:sp>
        <p:nvSpPr>
          <p:cNvPr id="19458" name="Rectangle 3">
            <a:extLst>
              <a:ext uri="{FF2B5EF4-FFF2-40B4-BE49-F238E27FC236}">
                <a16:creationId xmlns:a16="http://schemas.microsoft.com/office/drawing/2014/main" id="{ABB07968-768C-7247-A20C-83B06AA4A4B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dirty="0">
                <a:ea typeface="ＭＳ Ｐゴシック" panose="020B0600070205080204" pitchFamily="34" charset="-128"/>
              </a:rPr>
              <a:t>We have previously seen the 2-to-1 MUX being specified as combinational circuit in Verilog using the </a:t>
            </a:r>
            <a:r>
              <a:rPr lang="en-US" altLang="en-US" sz="1100" b="1" dirty="0">
                <a:solidFill>
                  <a:srgbClr val="3366FF"/>
                </a:solidFill>
                <a:ea typeface="ＭＳ Ｐゴシック" panose="020B0600070205080204" pitchFamily="34" charset="-128"/>
              </a:rPr>
              <a:t>always</a:t>
            </a:r>
            <a:r>
              <a:rPr lang="en-US" altLang="en-US" sz="1100" dirty="0">
                <a:solidFill>
                  <a:srgbClr val="3366FF"/>
                </a:solidFill>
                <a:ea typeface="ＭＳ Ｐゴシック" panose="020B0600070205080204" pitchFamily="34" charset="-128"/>
              </a:rPr>
              <a:t> </a:t>
            </a:r>
            <a:r>
              <a:rPr lang="en-US" altLang="en-US" sz="1100" dirty="0">
                <a:ea typeface="ＭＳ Ｐゴシック" panose="020B0600070205080204" pitchFamily="34" charset="-128"/>
              </a:rPr>
              <a:t>construct with the </a:t>
            </a:r>
            <a:r>
              <a:rPr lang="en-US" altLang="en-US" sz="1100" b="1" dirty="0">
                <a:ea typeface="ＭＳ Ｐゴシック" panose="020B0600070205080204" pitchFamily="34" charset="-128"/>
              </a:rPr>
              <a:t>sensitivity list</a:t>
            </a:r>
            <a:r>
              <a:rPr lang="en-US" altLang="en-US" sz="1100" dirty="0">
                <a:ea typeface="ＭＳ Ｐゴシック" panose="020B0600070205080204" pitchFamily="34" charset="-128"/>
              </a:rPr>
              <a:t>.</a:t>
            </a:r>
          </a:p>
          <a:p>
            <a:r>
              <a:rPr lang="en-US" altLang="en-US" sz="1100" dirty="0">
                <a:ea typeface="ＭＳ Ｐゴシック" panose="020B0600070205080204" pitchFamily="34" charset="-128"/>
              </a:rPr>
              <a:t>The right-hand diagram shows how a clocked </a:t>
            </a:r>
            <a:r>
              <a:rPr lang="en-US" altLang="en-US" sz="1100" b="1" dirty="0">
                <a:ea typeface="ＭＳ Ｐゴシック" panose="020B0600070205080204" pitchFamily="34" charset="-128"/>
              </a:rPr>
              <a:t>sequential</a:t>
            </a:r>
            <a:r>
              <a:rPr lang="en-US" altLang="en-US" sz="1100" dirty="0">
                <a:ea typeface="ＭＳ Ｐゴシック" panose="020B0600070205080204" pitchFamily="34" charset="-128"/>
              </a:rPr>
              <a:t> </a:t>
            </a:r>
            <a:r>
              <a:rPr lang="en-US" altLang="en-US" sz="1100" b="1" dirty="0">
                <a:ea typeface="ＭＳ Ｐゴシック" panose="020B0600070205080204" pitchFamily="34" charset="-128"/>
              </a:rPr>
              <a:t>circuit</a:t>
            </a:r>
            <a:r>
              <a:rPr lang="en-US" altLang="en-US" sz="1100" dirty="0">
                <a:ea typeface="ＭＳ Ｐゴシック" panose="020B0600070205080204" pitchFamily="34" charset="-128"/>
              </a:rPr>
              <a:t> is being specified using </a:t>
            </a:r>
            <a:r>
              <a:rPr lang="en-US" altLang="en-US" sz="1100" b="1" dirty="0">
                <a:solidFill>
                  <a:srgbClr val="3366FF"/>
                </a:solidFill>
                <a:ea typeface="ＭＳ Ｐゴシック" panose="020B0600070205080204" pitchFamily="34" charset="-128"/>
              </a:rPr>
              <a:t>always</a:t>
            </a:r>
            <a:r>
              <a:rPr lang="en-US" altLang="en-US" sz="1100" dirty="0">
                <a:solidFill>
                  <a:srgbClr val="3366FF"/>
                </a:solidFill>
                <a:ea typeface="ＭＳ Ｐゴシック" panose="020B0600070205080204" pitchFamily="34" charset="-128"/>
              </a:rPr>
              <a:t> </a:t>
            </a:r>
            <a:r>
              <a:rPr lang="en-US" altLang="en-US" sz="1100" dirty="0">
                <a:ea typeface="ＭＳ Ｐゴシック" panose="020B0600070205080204" pitchFamily="34" charset="-128"/>
              </a:rPr>
              <a:t>block, but with a </a:t>
            </a:r>
            <a:r>
              <a:rPr lang="en-US" altLang="en-US" sz="1100" b="1" dirty="0">
                <a:ea typeface="ＭＳ Ｐゴシック" panose="020B0600070205080204" pitchFamily="34" charset="-128"/>
              </a:rPr>
              <a:t>sensitivity list </a:t>
            </a:r>
            <a:r>
              <a:rPr lang="en-US" altLang="en-US" sz="1100" dirty="0">
                <a:ea typeface="ＭＳ Ｐゴシック" panose="020B0600070205080204" pitchFamily="34" charset="-128"/>
              </a:rPr>
              <a:t>that includes the keyword </a:t>
            </a:r>
            <a:r>
              <a:rPr lang="en-US" altLang="en-US" sz="1100" b="1" dirty="0" err="1">
                <a:solidFill>
                  <a:srgbClr val="3366FF"/>
                </a:solidFill>
                <a:ea typeface="ＭＳ Ｐゴシック" panose="020B0600070205080204" pitchFamily="34" charset="-128"/>
              </a:rPr>
              <a:t>posedge</a:t>
            </a:r>
            <a:r>
              <a:rPr lang="en-US" altLang="en-US" sz="1100" dirty="0">
                <a:solidFill>
                  <a:srgbClr val="3366FF"/>
                </a:solidFill>
                <a:ea typeface="ＭＳ Ｐゴシック" panose="020B0600070205080204" pitchFamily="34" charset="-128"/>
              </a:rPr>
              <a:t> </a:t>
            </a:r>
            <a:r>
              <a:rPr lang="en-US" altLang="en-US" sz="1100" dirty="0">
                <a:ea typeface="ＭＳ Ｐゴシック" panose="020B0600070205080204" pitchFamily="34" charset="-128"/>
              </a:rPr>
              <a:t>(or </a:t>
            </a:r>
            <a:r>
              <a:rPr lang="en-US" altLang="en-US" sz="1100" b="1" dirty="0" err="1">
                <a:solidFill>
                  <a:srgbClr val="3366FF"/>
                </a:solidFill>
                <a:ea typeface="ＭＳ Ｐゴシック" panose="020B0600070205080204" pitchFamily="34" charset="-128"/>
              </a:rPr>
              <a:t>negedge</a:t>
            </a:r>
            <a:r>
              <a:rPr lang="en-US" altLang="en-US" sz="1100" dirty="0">
                <a:ea typeface="ＭＳ Ｐゴシック" panose="020B0600070205080204" pitchFamily="34" charset="-128"/>
              </a:rPr>
              <a:t>).  Note that the clocking signal </a:t>
            </a:r>
            <a:r>
              <a:rPr lang="en-US" altLang="en-US" sz="1100" b="1" dirty="0" err="1">
                <a:ea typeface="ＭＳ Ｐゴシック" panose="020B0600070205080204" pitchFamily="34" charset="-128"/>
              </a:rPr>
              <a:t>clk</a:t>
            </a:r>
            <a:r>
              <a:rPr lang="en-US" altLang="en-US" sz="1100" dirty="0">
                <a:ea typeface="ＭＳ Ｐゴシック" panose="020B0600070205080204" pitchFamily="34" charset="-128"/>
              </a:rPr>
              <a:t> is an arbitrary name – you could call it “</a:t>
            </a:r>
            <a:r>
              <a:rPr lang="en-US" altLang="ja-JP" sz="1100" b="1" dirty="0" err="1">
                <a:ea typeface="ＭＳ Ｐゴシック" panose="020B0600070205080204" pitchFamily="34" charset="-128"/>
              </a:rPr>
              <a:t>fred</a:t>
            </a:r>
            <a:r>
              <a:rPr lang="en-US" altLang="en-US" sz="1100" dirty="0">
                <a:ea typeface="ＭＳ Ｐゴシック" panose="020B0600070205080204" pitchFamily="34" charset="-128"/>
              </a:rPr>
              <a:t>”</a:t>
            </a:r>
            <a:r>
              <a:rPr lang="en-US" altLang="ja-JP" sz="1100" dirty="0">
                <a:ea typeface="ＭＳ Ｐゴシック" panose="020B0600070205080204" pitchFamily="34" charset="-128"/>
              </a:rPr>
              <a:t> or anything else!</a:t>
            </a:r>
          </a:p>
          <a:p>
            <a:r>
              <a:rPr lang="en-US" altLang="en-US" sz="1100" dirty="0">
                <a:ea typeface="ＭＳ Ｐゴシック" panose="020B0600070205080204" pitchFamily="34" charset="-128"/>
              </a:rPr>
              <a:t>The </a:t>
            </a:r>
            <a:r>
              <a:rPr lang="en-US" altLang="en-US" sz="1100" b="1" dirty="0">
                <a:ea typeface="ＭＳ Ｐゴシック" panose="020B0600070205080204" pitchFamily="34" charset="-128"/>
              </a:rPr>
              <a:t>sensitivity list </a:t>
            </a:r>
            <a:r>
              <a:rPr lang="en-US" altLang="en-US" sz="1100" dirty="0">
                <a:ea typeface="ＭＳ Ｐゴシック" panose="020B0600070205080204" pitchFamily="34" charset="-128"/>
              </a:rPr>
              <a:t>NO LONGER contains the input signals </a:t>
            </a:r>
            <a:r>
              <a:rPr lang="en-US" altLang="en-US" sz="1100" b="1" dirty="0">
                <a:ea typeface="ＭＳ Ｐゴシック" panose="020B0600070205080204" pitchFamily="34" charset="-128"/>
              </a:rPr>
              <a:t>a</a:t>
            </a:r>
            <a:r>
              <a:rPr lang="en-US" altLang="en-US" sz="1100" dirty="0">
                <a:ea typeface="ＭＳ Ｐゴシック" panose="020B0600070205080204" pitchFamily="34" charset="-128"/>
              </a:rPr>
              <a:t>, </a:t>
            </a:r>
            <a:r>
              <a:rPr lang="en-US" altLang="en-US" sz="1100" b="1" dirty="0">
                <a:ea typeface="ＭＳ Ｐゴシック" panose="020B0600070205080204" pitchFamily="34" charset="-128"/>
              </a:rPr>
              <a:t>b</a:t>
            </a:r>
            <a:r>
              <a:rPr lang="en-US" altLang="en-US" sz="1100" dirty="0">
                <a:ea typeface="ＭＳ Ｐゴシック" panose="020B0600070205080204" pitchFamily="34" charset="-128"/>
              </a:rPr>
              <a:t> or </a:t>
            </a:r>
            <a:r>
              <a:rPr lang="en-US" altLang="en-US" sz="1100" b="1" dirty="0">
                <a:ea typeface="ＭＳ Ｐゴシック" panose="020B0600070205080204" pitchFamily="34" charset="-128"/>
              </a:rPr>
              <a:t>sel</a:t>
            </a:r>
            <a:r>
              <a:rPr lang="en-US" altLang="en-US" sz="1100" dirty="0">
                <a:ea typeface="ＭＳ Ｐゴシック" panose="020B0600070205080204" pitchFamily="34" charset="-128"/>
              </a:rPr>
              <a:t>.  Instead the hardware is specified to be sensitive the positive edge of </a:t>
            </a:r>
            <a:r>
              <a:rPr lang="en-US" altLang="en-US" sz="1100" b="1" dirty="0">
                <a:ea typeface="ＭＳ Ｐゴシック" panose="020B0600070205080204" pitchFamily="34" charset="-128"/>
              </a:rPr>
              <a:t>clk</a:t>
            </a:r>
            <a:r>
              <a:rPr lang="en-US" altLang="en-US" sz="1100" dirty="0">
                <a:ea typeface="ＭＳ Ｐゴシック" panose="020B0600070205080204" pitchFamily="34" charset="-128"/>
              </a:rPr>
              <a:t>. When this happens, the output changes according to the specification inside the </a:t>
            </a:r>
            <a:r>
              <a:rPr lang="en-US" altLang="en-US" sz="1100" b="1" dirty="0">
                <a:ea typeface="ＭＳ Ｐゴシック" panose="020B0600070205080204" pitchFamily="34" charset="-128"/>
              </a:rPr>
              <a:t>always</a:t>
            </a:r>
            <a:r>
              <a:rPr lang="en-US" altLang="en-US" sz="1100" dirty="0">
                <a:ea typeface="ＭＳ Ｐゴシック" panose="020B0600070205080204" pitchFamily="34" charset="-128"/>
              </a:rPr>
              <a:t> block.  </a:t>
            </a:r>
          </a:p>
          <a:p>
            <a:r>
              <a:rPr lang="en-US" altLang="en-US" sz="1100" dirty="0">
                <a:ea typeface="ＭＳ Ｐゴシック" panose="020B0600070205080204" pitchFamily="34" charset="-128"/>
              </a:rPr>
              <a:t>Two assignments (“</a:t>
            </a:r>
            <a:r>
              <a:rPr lang="en-US" altLang="ja-JP" sz="1100" b="1" dirty="0">
                <a:ea typeface="ＭＳ Ｐゴシック" panose="020B0600070205080204" pitchFamily="34" charset="-128"/>
              </a:rPr>
              <a:t>=</a:t>
            </a:r>
            <a:r>
              <a:rPr lang="en-US" altLang="en-US" sz="1100" b="1" dirty="0">
                <a:ea typeface="ＭＳ Ｐゴシック" panose="020B0600070205080204" pitchFamily="34" charset="-128"/>
              </a:rPr>
              <a:t>“</a:t>
            </a:r>
            <a:r>
              <a:rPr lang="en-US" altLang="ja-JP" sz="1100" dirty="0">
                <a:ea typeface="ＭＳ Ｐゴシック" panose="020B0600070205080204" pitchFamily="34" charset="-128"/>
              </a:rPr>
              <a:t> and </a:t>
            </a:r>
            <a:r>
              <a:rPr lang="en-US" altLang="en-US" sz="1100" dirty="0">
                <a:ea typeface="ＭＳ Ｐゴシック" panose="020B0600070205080204" pitchFamily="34" charset="-128"/>
              </a:rPr>
              <a:t>“</a:t>
            </a:r>
            <a:r>
              <a:rPr lang="en-US" altLang="ja-JP" sz="1100" b="1" dirty="0">
                <a:ea typeface="ＭＳ Ｐゴシック" panose="020B0600070205080204" pitchFamily="34" charset="-128"/>
              </a:rPr>
              <a:t>&lt;=</a:t>
            </a:r>
            <a:r>
              <a:rPr lang="en-US" altLang="en-US" sz="1100" b="1" dirty="0">
                <a:ea typeface="ＭＳ Ｐゴシック" panose="020B0600070205080204" pitchFamily="34" charset="-128"/>
              </a:rPr>
              <a:t>“</a:t>
            </a:r>
            <a:r>
              <a:rPr lang="en-US" altLang="ja-JP" sz="1100" dirty="0">
                <a:ea typeface="ＭＳ Ｐゴシック" panose="020B0600070205080204" pitchFamily="34" charset="-128"/>
              </a:rPr>
              <a:t>) are shown here. I will explain the difference between these later.</a:t>
            </a:r>
          </a:p>
          <a:p>
            <a:endParaRPr lang="en-US" altLang="en-US" sz="1100" dirty="0">
              <a:ea typeface="ＭＳ Ｐゴシック" panose="020B0600070205080204" pitchFamily="34" charset="-128"/>
            </a:endParaRPr>
          </a:p>
        </p:txBody>
      </p:sp>
      <p:sp>
        <p:nvSpPr>
          <p:cNvPr id="19459" name="Slide Number Placeholder 1">
            <a:extLst>
              <a:ext uri="{FF2B5EF4-FFF2-40B4-BE49-F238E27FC236}">
                <a16:creationId xmlns:a16="http://schemas.microsoft.com/office/drawing/2014/main" id="{D6E07DE2-414D-6B40-9A9F-809A6B906B54}"/>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795959FF-5271-3942-AC42-27E50F86C00E}" type="slidenum">
              <a:rPr lang="en-US" altLang="en-US" sz="1200" smtClean="0"/>
              <a:pPr/>
              <a:t>24</a:t>
            </a:fld>
            <a:endParaRPr lang="en-US" altLang="en-US" sz="1200"/>
          </a:p>
        </p:txBody>
      </p:sp>
    </p:spTree>
    <p:extLst>
      <p:ext uri="{BB962C8B-B14F-4D97-AF65-F5344CB8AC3E}">
        <p14:creationId xmlns:p14="http://schemas.microsoft.com/office/powerpoint/2010/main" val="3991301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515005B4-1997-5446-8995-8E3EE91A216F}"/>
              </a:ext>
            </a:extLst>
          </p:cNvPr>
          <p:cNvSpPr>
            <a:spLocks noGrp="1" noRot="1" noChangeAspect="1" noChangeArrowheads="1" noTextEdit="1"/>
          </p:cNvSpPr>
          <p:nvPr>
            <p:ph type="sldImg"/>
          </p:nvPr>
        </p:nvSpPr>
        <p:spPr>
          <a:xfrm>
            <a:off x="714375" y="742950"/>
            <a:ext cx="5365750" cy="3714750"/>
          </a:xfrm>
          <a:ln/>
        </p:spPr>
      </p:sp>
      <p:sp>
        <p:nvSpPr>
          <p:cNvPr id="21506" name="Rectangle 3">
            <a:extLst>
              <a:ext uri="{FF2B5EF4-FFF2-40B4-BE49-F238E27FC236}">
                <a16:creationId xmlns:a16="http://schemas.microsoft.com/office/drawing/2014/main" id="{F6F4B3B6-90DD-B049-B40E-EC999B4632D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Therefore in Verilog, you specify flipflops using </a:t>
            </a:r>
            <a:r>
              <a:rPr lang="en-US" altLang="en-US" sz="1100" b="1">
                <a:solidFill>
                  <a:srgbClr val="3366FF"/>
                </a:solidFill>
                <a:ea typeface="ＭＳ Ｐゴシック" panose="020B0600070205080204" pitchFamily="34" charset="-128"/>
              </a:rPr>
              <a:t>always</a:t>
            </a:r>
            <a:r>
              <a:rPr lang="en-US" altLang="en-US" sz="1100">
                <a:solidFill>
                  <a:srgbClr val="3366FF"/>
                </a:solidFill>
                <a:ea typeface="ＭＳ Ｐゴシック" panose="020B0600070205080204" pitchFamily="34" charset="-128"/>
              </a:rPr>
              <a:t> </a:t>
            </a:r>
            <a:r>
              <a:rPr lang="en-US" altLang="en-US" sz="1100" b="1">
                <a:ea typeface="ＭＳ Ｐゴシック" panose="020B0600070205080204" pitchFamily="34" charset="-128"/>
              </a:rPr>
              <a:t>block</a:t>
            </a:r>
            <a:r>
              <a:rPr lang="en-US" altLang="en-US" sz="1100">
                <a:ea typeface="ＭＳ Ｐゴシック" panose="020B0600070205080204" pitchFamily="34" charset="-128"/>
              </a:rPr>
              <a:t> in conjunction with the keyword </a:t>
            </a:r>
            <a:r>
              <a:rPr lang="en-US" altLang="en-US" sz="1100" b="1">
                <a:solidFill>
                  <a:srgbClr val="3366FF"/>
                </a:solidFill>
                <a:ea typeface="ＭＳ Ｐゴシック" panose="020B0600070205080204" pitchFamily="34" charset="-128"/>
              </a:rPr>
              <a:t>posedge</a:t>
            </a:r>
            <a:r>
              <a:rPr lang="en-US" altLang="en-US" sz="1100">
                <a:solidFill>
                  <a:srgbClr val="3366FF"/>
                </a:solidFill>
                <a:ea typeface="ＭＳ Ｐゴシック" panose="020B0600070205080204" pitchFamily="34" charset="-128"/>
              </a:rPr>
              <a:t> </a:t>
            </a:r>
            <a:r>
              <a:rPr lang="en-US" altLang="en-US" sz="1100">
                <a:ea typeface="ＭＳ Ｐゴシック" panose="020B0600070205080204" pitchFamily="34" charset="-128"/>
              </a:rPr>
              <a:t>or </a:t>
            </a:r>
            <a:r>
              <a:rPr lang="en-US" altLang="en-US" sz="1100" b="1">
                <a:solidFill>
                  <a:srgbClr val="3366FF"/>
                </a:solidFill>
                <a:ea typeface="ＭＳ Ｐゴシック" panose="020B0600070205080204" pitchFamily="34" charset="-128"/>
              </a:rPr>
              <a:t>negedge</a:t>
            </a:r>
            <a:r>
              <a:rPr lang="en-US" altLang="en-US" sz="1100">
                <a:ea typeface="ＭＳ Ｐゴシック" panose="020B0600070205080204" pitchFamily="34" charset="-128"/>
              </a:rPr>
              <a:t>.</a:t>
            </a:r>
          </a:p>
          <a:p>
            <a:r>
              <a:rPr lang="en-US" altLang="en-US" sz="1100">
                <a:ea typeface="ＭＳ Ｐゴシック" panose="020B0600070205080204" pitchFamily="34" charset="-128"/>
              </a:rPr>
              <a:t>Here is a specification for a D-flipflop with synchronous clear which is low active (i.e. clear the FF when </a:t>
            </a:r>
            <a:r>
              <a:rPr lang="en-US" altLang="en-US" sz="1100" b="1">
                <a:ea typeface="ＭＳ Ｐゴシック" panose="020B0600070205080204" pitchFamily="34" charset="-128"/>
              </a:rPr>
              <a:t>clearb</a:t>
            </a:r>
            <a:r>
              <a:rPr lang="en-US" altLang="en-US" sz="1100">
                <a:ea typeface="ＭＳ Ｐゴシック" panose="020B0600070205080204" pitchFamily="34" charset="-128"/>
              </a:rPr>
              <a:t> is low).</a:t>
            </a:r>
          </a:p>
          <a:p>
            <a:r>
              <a:rPr lang="en-US" altLang="en-US" sz="1100">
                <a:ea typeface="ＭＳ Ｐゴシック" panose="020B0600070205080204" pitchFamily="34" charset="-128"/>
              </a:rPr>
              <a:t>You may have more than one </a:t>
            </a:r>
            <a:r>
              <a:rPr lang="en-US" altLang="en-US" sz="1100" b="1">
                <a:solidFill>
                  <a:srgbClr val="3366FF"/>
                </a:solidFill>
                <a:ea typeface="ＭＳ Ｐゴシック" panose="020B0600070205080204" pitchFamily="34" charset="-128"/>
              </a:rPr>
              <a:t>always</a:t>
            </a:r>
            <a:r>
              <a:rPr lang="en-US" altLang="en-US" sz="1100">
                <a:solidFill>
                  <a:srgbClr val="3366FF"/>
                </a:solidFill>
                <a:ea typeface="ＭＳ Ｐゴシック" panose="020B0600070205080204" pitchFamily="34" charset="-128"/>
              </a:rPr>
              <a:t> </a:t>
            </a:r>
            <a:r>
              <a:rPr lang="en-US" altLang="en-US" sz="1100">
                <a:ea typeface="ＭＳ Ｐゴシック" panose="020B0600070205080204" pitchFamily="34" charset="-128"/>
              </a:rPr>
              <a:t>block in a module. But if this is the case, beware that the two </a:t>
            </a:r>
            <a:r>
              <a:rPr lang="en-US" altLang="en-US" sz="1100" b="1">
                <a:solidFill>
                  <a:srgbClr val="3366FF"/>
                </a:solidFill>
                <a:ea typeface="ＭＳ Ｐゴシック" panose="020B0600070205080204" pitchFamily="34" charset="-128"/>
              </a:rPr>
              <a:t>always</a:t>
            </a:r>
            <a:r>
              <a:rPr lang="en-US" altLang="en-US" sz="1100">
                <a:solidFill>
                  <a:srgbClr val="3366FF"/>
                </a:solidFill>
                <a:ea typeface="ＭＳ Ｐゴシック" panose="020B0600070205080204" pitchFamily="34" charset="-128"/>
              </a:rPr>
              <a:t> </a:t>
            </a:r>
            <a:r>
              <a:rPr lang="en-US" altLang="en-US" sz="1100">
                <a:ea typeface="ＭＳ Ｐゴシック" panose="020B0600070205080204" pitchFamily="34" charset="-128"/>
              </a:rPr>
              <a:t>blocks will </a:t>
            </a:r>
            <a:r>
              <a:rPr lang="en-US" altLang="en-US" sz="1100" b="1">
                <a:ea typeface="ＭＳ Ｐゴシック" panose="020B0600070205080204" pitchFamily="34" charset="-128"/>
              </a:rPr>
              <a:t>execute in parallel</a:t>
            </a:r>
            <a:r>
              <a:rPr lang="en-US" altLang="en-US" sz="1100">
                <a:ea typeface="ＭＳ Ｐゴシック" panose="020B0600070205080204" pitchFamily="34" charset="-128"/>
              </a:rPr>
              <a:t>. Therefore they must NOT specify the same output, otherwise a </a:t>
            </a:r>
            <a:r>
              <a:rPr lang="en-US" altLang="en-US" sz="1100" b="1">
                <a:ea typeface="ＭＳ Ｐゴシック" panose="020B0600070205080204" pitchFamily="34" charset="-128"/>
              </a:rPr>
              <a:t>race condition </a:t>
            </a:r>
            <a:r>
              <a:rPr lang="en-US" altLang="en-US" sz="1100">
                <a:ea typeface="ＭＳ Ｐゴシック" panose="020B0600070205080204" pitchFamily="34" charset="-128"/>
              </a:rPr>
              <a:t>exists and the result is unpredictable.</a:t>
            </a:r>
          </a:p>
        </p:txBody>
      </p:sp>
      <p:sp>
        <p:nvSpPr>
          <p:cNvPr id="21507" name="Slide Number Placeholder 1">
            <a:extLst>
              <a:ext uri="{FF2B5EF4-FFF2-40B4-BE49-F238E27FC236}">
                <a16:creationId xmlns:a16="http://schemas.microsoft.com/office/drawing/2014/main" id="{61F9F64F-DB0F-584F-9D2E-BCD63B0E245B}"/>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AC84E979-F166-BE48-9417-A6DAD717BD80}" type="slidenum">
              <a:rPr lang="en-US" altLang="en-US" sz="1200" smtClean="0"/>
              <a:pPr/>
              <a:t>25</a:t>
            </a:fld>
            <a:endParaRPr lang="en-US" altLang="en-US" sz="1200"/>
          </a:p>
        </p:txBody>
      </p:sp>
    </p:spTree>
    <p:extLst>
      <p:ext uri="{BB962C8B-B14F-4D97-AF65-F5344CB8AC3E}">
        <p14:creationId xmlns:p14="http://schemas.microsoft.com/office/powerpoint/2010/main" val="11214553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AFC229C-F129-5746-8A95-4FE7B1F3A15E}"/>
              </a:ext>
            </a:extLst>
          </p:cNvPr>
          <p:cNvSpPr>
            <a:spLocks noGrp="1" noRot="1" noChangeAspect="1" noChangeArrowheads="1" noTextEdit="1"/>
          </p:cNvSpPr>
          <p:nvPr>
            <p:ph type="sldImg"/>
          </p:nvPr>
        </p:nvSpPr>
        <p:spPr>
          <a:xfrm>
            <a:off x="714375" y="742950"/>
            <a:ext cx="5365750" cy="3714750"/>
          </a:xfrm>
          <a:ln/>
        </p:spPr>
      </p:sp>
      <p:sp>
        <p:nvSpPr>
          <p:cNvPr id="23554" name="Rectangle 3">
            <a:extLst>
              <a:ext uri="{FF2B5EF4-FFF2-40B4-BE49-F238E27FC236}">
                <a16:creationId xmlns:a16="http://schemas.microsoft.com/office/drawing/2014/main" id="{4A4F5303-C0FA-2848-9754-775DA35F0CA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Here is a specification for asynchronous clear of the D-flipflop.  Either positive edge on </a:t>
            </a:r>
            <a:r>
              <a:rPr lang="en-US" altLang="en-US" sz="1100" b="1">
                <a:ea typeface="ＭＳ Ｐゴシック" panose="020B0600070205080204" pitchFamily="34" charset="-128"/>
              </a:rPr>
              <a:t>clock</a:t>
            </a:r>
            <a:r>
              <a:rPr lang="en-US" altLang="en-US" sz="1100">
                <a:ea typeface="ＭＳ Ｐゴシック" panose="020B0600070205080204" pitchFamily="34" charset="-128"/>
              </a:rPr>
              <a:t> or negative edge on </a:t>
            </a:r>
            <a:r>
              <a:rPr lang="en-US" altLang="en-US" sz="1100" b="1">
                <a:ea typeface="ＭＳ Ｐゴシック" panose="020B0600070205080204" pitchFamily="34" charset="-128"/>
              </a:rPr>
              <a:t>clearb</a:t>
            </a:r>
            <a:r>
              <a:rPr lang="en-US" altLang="en-US" sz="1100">
                <a:ea typeface="ＭＳ Ｐゴシック" panose="020B0600070205080204" pitchFamily="34" charset="-128"/>
              </a:rPr>
              <a:t> will cause the statements inside the </a:t>
            </a:r>
            <a:r>
              <a:rPr lang="en-US" altLang="en-US" sz="1100" b="1">
                <a:solidFill>
                  <a:srgbClr val="3366FF"/>
                </a:solidFill>
                <a:ea typeface="ＭＳ Ｐゴシック" panose="020B0600070205080204" pitchFamily="34" charset="-128"/>
              </a:rPr>
              <a:t>always</a:t>
            </a:r>
            <a:r>
              <a:rPr lang="en-US" altLang="en-US" sz="1100">
                <a:solidFill>
                  <a:srgbClr val="3366FF"/>
                </a:solidFill>
                <a:ea typeface="ＭＳ Ｐゴシック" panose="020B0600070205080204" pitchFamily="34" charset="-128"/>
              </a:rPr>
              <a:t> </a:t>
            </a:r>
            <a:r>
              <a:rPr lang="en-US" altLang="en-US" sz="1100">
                <a:ea typeface="ＭＳ Ｐゴシック" panose="020B0600070205080204" pitchFamily="34" charset="-128"/>
              </a:rPr>
              <a:t>block to take effect.</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I must remind everyone that the code shown here is a </a:t>
            </a:r>
            <a:r>
              <a:rPr lang="en-US" altLang="en-US" sz="1100" b="1">
                <a:ea typeface="ＭＳ Ｐゴシック" panose="020B0600070205080204" pitchFamily="34" charset="-128"/>
              </a:rPr>
              <a:t>specification</a:t>
            </a:r>
            <a:r>
              <a:rPr lang="en-US" altLang="en-US" sz="1100">
                <a:ea typeface="ＭＳ Ｐゴシック" panose="020B0600070205080204" pitchFamily="34" charset="-128"/>
              </a:rPr>
              <a:t>.  They are </a:t>
            </a:r>
            <a:r>
              <a:rPr lang="en-US" altLang="en-US" sz="1100" b="1">
                <a:ea typeface="ＭＳ Ｐゴシック" panose="020B0600070205080204" pitchFamily="34" charset="-128"/>
              </a:rPr>
              <a:t>synthesised</a:t>
            </a:r>
            <a:r>
              <a:rPr lang="en-US" altLang="en-US" sz="1100">
                <a:ea typeface="ＭＳ Ｐゴシック" panose="020B0600070205080204" pitchFamily="34" charset="-128"/>
              </a:rPr>
              <a:t> into logic circuits – they are NOT executed as in a C programme.</a:t>
            </a:r>
          </a:p>
        </p:txBody>
      </p:sp>
      <p:sp>
        <p:nvSpPr>
          <p:cNvPr id="23555" name="Slide Number Placeholder 1">
            <a:extLst>
              <a:ext uri="{FF2B5EF4-FFF2-40B4-BE49-F238E27FC236}">
                <a16:creationId xmlns:a16="http://schemas.microsoft.com/office/drawing/2014/main" id="{66624255-E779-1C40-B272-FE55C461D245}"/>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2EE10526-7FD1-5545-97AA-818D2EBCBA17}" type="slidenum">
              <a:rPr lang="en-US" altLang="en-US" sz="1200" smtClean="0"/>
              <a:pPr/>
              <a:t>26</a:t>
            </a:fld>
            <a:endParaRPr lang="en-US" altLang="en-US" sz="1200"/>
          </a:p>
        </p:txBody>
      </p:sp>
    </p:spTree>
    <p:extLst>
      <p:ext uri="{BB962C8B-B14F-4D97-AF65-F5344CB8AC3E}">
        <p14:creationId xmlns:p14="http://schemas.microsoft.com/office/powerpoint/2010/main" val="27256667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84FDE74-16CB-FE41-8CE4-6E87DFE671FD}"/>
              </a:ext>
            </a:extLst>
          </p:cNvPr>
          <p:cNvSpPr>
            <a:spLocks noGrp="1" noRot="1" noChangeAspect="1" noChangeArrowheads="1" noTextEdit="1"/>
          </p:cNvSpPr>
          <p:nvPr>
            <p:ph type="sldImg"/>
          </p:nvPr>
        </p:nvSpPr>
        <p:spPr>
          <a:xfrm>
            <a:off x="714375" y="742950"/>
            <a:ext cx="5365750" cy="3714750"/>
          </a:xfrm>
          <a:ln/>
        </p:spPr>
      </p:sp>
      <p:sp>
        <p:nvSpPr>
          <p:cNvPr id="25602" name="Rectangle 3">
            <a:extLst>
              <a:ext uri="{FF2B5EF4-FFF2-40B4-BE49-F238E27FC236}">
                <a16:creationId xmlns:a16="http://schemas.microsoft.com/office/drawing/2014/main" id="{FF5EE54D-7ABE-3748-A432-06B444C8D3A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In Verilog ‘</a:t>
            </a:r>
            <a:r>
              <a:rPr lang="en-US" altLang="ja-JP" sz="1100" b="1">
                <a:ea typeface="ＭＳ Ｐゴシック" panose="020B0600070205080204" pitchFamily="34" charset="-128"/>
              </a:rPr>
              <a:t>=</a:t>
            </a:r>
            <a:r>
              <a:rPr lang="en-US" altLang="en-US" sz="1100" b="1">
                <a:ea typeface="ＭＳ Ｐゴシック" panose="020B0600070205080204" pitchFamily="34" charset="-128"/>
              </a:rPr>
              <a:t>‘</a:t>
            </a:r>
            <a:r>
              <a:rPr lang="en-US" altLang="ja-JP" sz="1100" b="1">
                <a:ea typeface="ＭＳ Ｐゴシック" panose="020B0600070205080204" pitchFamily="34" charset="-128"/>
              </a:rPr>
              <a:t> </a:t>
            </a:r>
            <a:r>
              <a:rPr lang="en-US" altLang="ja-JP" sz="1100">
                <a:ea typeface="ＭＳ Ｐゴシック" panose="020B0600070205080204" pitchFamily="34" charset="-128"/>
              </a:rPr>
              <a:t>is known as </a:t>
            </a:r>
            <a:r>
              <a:rPr lang="en-US" altLang="ja-JP" sz="1100" b="1">
                <a:ea typeface="ＭＳ Ｐゴシック" panose="020B0600070205080204" pitchFamily="34" charset="-128"/>
              </a:rPr>
              <a:t>blocking assignment</a:t>
            </a:r>
            <a:r>
              <a:rPr lang="en-US" altLang="ja-JP" sz="1100">
                <a:ea typeface="ＭＳ Ｐゴシック" panose="020B0600070205080204" pitchFamily="34" charset="-128"/>
              </a:rPr>
              <a:t>.  They are </a:t>
            </a:r>
            <a:r>
              <a:rPr lang="en-US" altLang="ja-JP" sz="1100" b="1">
                <a:ea typeface="ＭＳ Ｐゴシック" panose="020B0600070205080204" pitchFamily="34" charset="-128"/>
              </a:rPr>
              <a:t>executed in the order </a:t>
            </a:r>
            <a:r>
              <a:rPr lang="en-US" altLang="ja-JP" sz="1100">
                <a:ea typeface="ＭＳ Ｐゴシック" panose="020B0600070205080204" pitchFamily="34" charset="-128"/>
              </a:rPr>
              <a:t>they appear within the Verilog simulation environment.  So the first </a:t>
            </a:r>
            <a:r>
              <a:rPr lang="en-US" altLang="en-US" sz="1100">
                <a:ea typeface="ＭＳ Ｐゴシック" panose="020B0600070205080204" pitchFamily="34" charset="-128"/>
              </a:rPr>
              <a:t>‘</a:t>
            </a:r>
            <a:r>
              <a:rPr lang="en-US" altLang="ja-JP" sz="1100">
                <a:ea typeface="ＭＳ Ｐゴシック" panose="020B0600070205080204" pitchFamily="34" charset="-128"/>
              </a:rPr>
              <a:t>=</a:t>
            </a:r>
            <a:r>
              <a:rPr lang="en-US" altLang="en-US" sz="1100">
                <a:ea typeface="ＭＳ Ｐゴシック" panose="020B0600070205080204" pitchFamily="34" charset="-128"/>
              </a:rPr>
              <a:t>‘</a:t>
            </a:r>
            <a:r>
              <a:rPr lang="en-US" altLang="ja-JP" sz="1100">
                <a:ea typeface="ＭＳ Ｐゴシック" panose="020B0600070205080204" pitchFamily="34" charset="-128"/>
              </a:rPr>
              <a:t> assignment blocks the second one.  This is very much like what happens in C codes.  </a:t>
            </a:r>
          </a:p>
          <a:p>
            <a:r>
              <a:rPr lang="en-US" altLang="en-US" sz="1100">
                <a:ea typeface="ＭＳ Ｐゴシック" panose="020B0600070205080204" pitchFamily="34" charset="-128"/>
              </a:rPr>
              <a:t>In the top left example, both </a:t>
            </a:r>
            <a:r>
              <a:rPr lang="en-US" altLang="en-US" sz="1100" b="1">
                <a:ea typeface="ＭＳ Ｐゴシック" panose="020B0600070205080204" pitchFamily="34" charset="-128"/>
              </a:rPr>
              <a:t>a</a:t>
            </a:r>
            <a:r>
              <a:rPr lang="en-US" altLang="en-US" sz="1100">
                <a:ea typeface="ＭＳ Ｐゴシック" panose="020B0600070205080204" pitchFamily="34" charset="-128"/>
              </a:rPr>
              <a:t> and </a:t>
            </a:r>
            <a:r>
              <a:rPr lang="en-US" altLang="en-US" sz="1100" b="1">
                <a:ea typeface="ＭＳ Ｐゴシック" panose="020B0600070205080204" pitchFamily="34" charset="-128"/>
              </a:rPr>
              <a:t>b</a:t>
            </a:r>
            <a:r>
              <a:rPr lang="en-US" altLang="en-US" sz="1100">
                <a:ea typeface="ＭＳ Ｐゴシック" panose="020B0600070205080204" pitchFamily="34" charset="-128"/>
              </a:rPr>
              <a:t> eventually have the value </a:t>
            </a:r>
            <a:r>
              <a:rPr lang="en-US" altLang="en-US" sz="1100" b="1">
                <a:ea typeface="ＭＳ Ｐゴシック" panose="020B0600070205080204" pitchFamily="34" charset="-128"/>
              </a:rPr>
              <a:t>b</a:t>
            </a:r>
            <a:r>
              <a:rPr lang="en-US" altLang="en-US" sz="1100">
                <a:ea typeface="ＭＳ Ｐゴシック" panose="020B0600070205080204" pitchFamily="34" charset="-128"/>
              </a:rPr>
              <a:t>.</a:t>
            </a:r>
          </a:p>
          <a:p>
            <a:r>
              <a:rPr lang="en-US" altLang="en-US" sz="1100">
                <a:ea typeface="ＭＳ Ｐゴシック" panose="020B0600070205080204" pitchFamily="34" charset="-128"/>
              </a:rPr>
              <a:t>In the top right example, each statement is evaluated in turn and assignment is performed immediately at the end of the statement.</a:t>
            </a:r>
          </a:p>
          <a:p>
            <a:endParaRPr lang="en-US" altLang="en-US" sz="1100">
              <a:ea typeface="ＭＳ Ｐゴシック" panose="020B0600070205080204" pitchFamily="34" charset="-128"/>
            </a:endParaRPr>
          </a:p>
          <a:p>
            <a:r>
              <a:rPr lang="en-US" altLang="en-US" sz="1100" b="1">
                <a:ea typeface="ＭＳ Ｐゴシック" panose="020B0600070205080204" pitchFamily="34" charset="-128"/>
              </a:rPr>
              <a:t>Non-block assignment </a:t>
            </a:r>
            <a:r>
              <a:rPr lang="en-US" altLang="en-US" sz="1100">
                <a:ea typeface="ＭＳ Ｐゴシック" panose="020B0600070205080204" pitchFamily="34" charset="-128"/>
              </a:rPr>
              <a:t>is ‘</a:t>
            </a:r>
            <a:r>
              <a:rPr lang="en-US" altLang="ja-JP" sz="1100" b="1">
                <a:ea typeface="ＭＳ Ｐゴシック" panose="020B0600070205080204" pitchFamily="34" charset="-128"/>
              </a:rPr>
              <a:t>&lt;=</a:t>
            </a:r>
            <a:r>
              <a:rPr lang="en-US" altLang="en-US" sz="1100">
                <a:ea typeface="ＭＳ Ｐゴシック" panose="020B0600070205080204" pitchFamily="34" charset="-128"/>
              </a:rPr>
              <a:t>‘</a:t>
            </a:r>
            <a:r>
              <a:rPr lang="en-US" altLang="ja-JP" sz="1100">
                <a:ea typeface="ＭＳ Ｐゴシック" panose="020B0600070205080204" pitchFamily="34" charset="-128"/>
              </a:rPr>
              <a:t>, and statements with this assignments are </a:t>
            </a:r>
            <a:r>
              <a:rPr lang="en-US" altLang="ja-JP" sz="1100" b="1">
                <a:ea typeface="ＭＳ Ｐゴシック" panose="020B0600070205080204" pitchFamily="34" charset="-128"/>
              </a:rPr>
              <a:t>executed in parallel </a:t>
            </a:r>
            <a:r>
              <a:rPr lang="en-US" altLang="ja-JP" sz="1100">
                <a:ea typeface="ＭＳ Ｐゴシック" panose="020B0600070205080204" pitchFamily="34" charset="-128"/>
              </a:rPr>
              <a:t>(i.e. order do not matter).</a:t>
            </a:r>
          </a:p>
          <a:p>
            <a:r>
              <a:rPr lang="en-US" altLang="en-US" sz="1100">
                <a:ea typeface="ＭＳ Ｐゴシック" panose="020B0600070205080204" pitchFamily="34" charset="-128"/>
              </a:rPr>
              <a:t>In the bottom left example, </a:t>
            </a:r>
            <a:r>
              <a:rPr lang="en-US" altLang="en-US" sz="1100" b="1">
                <a:ea typeface="ＭＳ Ｐゴシック" panose="020B0600070205080204" pitchFamily="34" charset="-128"/>
              </a:rPr>
              <a:t>a</a:t>
            </a:r>
            <a:r>
              <a:rPr lang="en-US" altLang="en-US" sz="1100">
                <a:ea typeface="ＭＳ Ｐゴシック" panose="020B0600070205080204" pitchFamily="34" charset="-128"/>
              </a:rPr>
              <a:t> and </a:t>
            </a:r>
            <a:r>
              <a:rPr lang="en-US" altLang="en-US" sz="1100" b="1">
                <a:ea typeface="ＭＳ Ｐゴシック" panose="020B0600070205080204" pitchFamily="34" charset="-128"/>
              </a:rPr>
              <a:t>b</a:t>
            </a:r>
            <a:r>
              <a:rPr lang="en-US" altLang="en-US" sz="1100">
                <a:ea typeface="ＭＳ Ｐゴシック" panose="020B0600070205080204" pitchFamily="34" charset="-128"/>
              </a:rPr>
              <a:t> are </a:t>
            </a:r>
            <a:r>
              <a:rPr lang="en-US" altLang="en-US" sz="1100" b="1">
                <a:ea typeface="ＭＳ Ｐゴシック" panose="020B0600070205080204" pitchFamily="34" charset="-128"/>
              </a:rPr>
              <a:t>swapped</a:t>
            </a:r>
            <a:r>
              <a:rPr lang="en-US" altLang="en-US" sz="1100">
                <a:ea typeface="ＭＳ Ｐゴシック" panose="020B0600070205080204" pitchFamily="34" charset="-128"/>
              </a:rPr>
              <a:t> over because you can view that the two assignments happen at the same time.</a:t>
            </a:r>
          </a:p>
          <a:p>
            <a:r>
              <a:rPr lang="en-US" altLang="en-US" sz="1100">
                <a:ea typeface="ＭＳ Ｐゴシック" panose="020B0600070205080204" pitchFamily="34" charset="-128"/>
              </a:rPr>
              <a:t>In the bottom right example, three evaluations are made, and the assignment to x, y and z happens at the same time on exiting from the </a:t>
            </a:r>
            <a:r>
              <a:rPr lang="en-US" altLang="en-US" sz="1100" b="1">
                <a:solidFill>
                  <a:srgbClr val="3366FF"/>
                </a:solidFill>
                <a:ea typeface="ＭＳ Ｐゴシック" panose="020B0600070205080204" pitchFamily="34" charset="-128"/>
              </a:rPr>
              <a:t>always</a:t>
            </a:r>
            <a:r>
              <a:rPr lang="en-US" altLang="en-US" sz="1100">
                <a:solidFill>
                  <a:srgbClr val="3366FF"/>
                </a:solidFill>
                <a:ea typeface="ＭＳ Ｐゴシック" panose="020B0600070205080204" pitchFamily="34" charset="-128"/>
              </a:rPr>
              <a:t> </a:t>
            </a:r>
            <a:r>
              <a:rPr lang="en-US" altLang="en-US" sz="1100">
                <a:ea typeface="ＭＳ Ｐゴシック" panose="020B0600070205080204" pitchFamily="34" charset="-128"/>
              </a:rPr>
              <a:t>block.</a:t>
            </a:r>
          </a:p>
        </p:txBody>
      </p:sp>
      <p:sp>
        <p:nvSpPr>
          <p:cNvPr id="25603" name="Slide Number Placeholder 1">
            <a:extLst>
              <a:ext uri="{FF2B5EF4-FFF2-40B4-BE49-F238E27FC236}">
                <a16:creationId xmlns:a16="http://schemas.microsoft.com/office/drawing/2014/main" id="{FFCD53E3-F581-E44D-958B-CE4BC72A362F}"/>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D110C5A8-3AE3-784D-BCB8-4FC52BCB033F}" type="slidenum">
              <a:rPr lang="en-US" altLang="en-US" sz="1200" smtClean="0"/>
              <a:pPr/>
              <a:t>27</a:t>
            </a:fld>
            <a:endParaRPr lang="en-US" altLang="en-US" sz="1200"/>
          </a:p>
        </p:txBody>
      </p:sp>
    </p:spTree>
    <p:extLst>
      <p:ext uri="{BB962C8B-B14F-4D97-AF65-F5344CB8AC3E}">
        <p14:creationId xmlns:p14="http://schemas.microsoft.com/office/powerpoint/2010/main" val="2628139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92E11387-0B07-DA43-A6DE-1A24FB824F4C}"/>
              </a:ext>
            </a:extLst>
          </p:cNvPr>
          <p:cNvSpPr>
            <a:spLocks noGrp="1" noRot="1" noChangeAspect="1" noChangeArrowheads="1" noTextEdit="1"/>
          </p:cNvSpPr>
          <p:nvPr>
            <p:ph type="sldImg"/>
          </p:nvPr>
        </p:nvSpPr>
        <p:spPr>
          <a:xfrm>
            <a:off x="714375" y="742950"/>
            <a:ext cx="5365750" cy="3714750"/>
          </a:xfrm>
          <a:ln/>
        </p:spPr>
      </p:sp>
      <p:sp>
        <p:nvSpPr>
          <p:cNvPr id="27650" name="Rectangle 3">
            <a:extLst>
              <a:ext uri="{FF2B5EF4-FFF2-40B4-BE49-F238E27FC236}">
                <a16:creationId xmlns:a16="http://schemas.microsoft.com/office/drawing/2014/main" id="{62CB55B5-9A33-4041-8717-42FE9851875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Understanding the difference between ‘</a:t>
            </a:r>
            <a:r>
              <a:rPr lang="en-US" altLang="ja-JP" sz="1100" b="1">
                <a:ea typeface="ＭＳ Ｐゴシック" panose="020B0600070205080204" pitchFamily="34" charset="-128"/>
              </a:rPr>
              <a:t>=</a:t>
            </a:r>
            <a:r>
              <a:rPr lang="en-US" altLang="en-US" sz="1100">
                <a:ea typeface="ＭＳ Ｐゴシック" panose="020B0600070205080204" pitchFamily="34" charset="-128"/>
              </a:rPr>
              <a:t>‘</a:t>
            </a:r>
            <a:r>
              <a:rPr lang="en-US" altLang="ja-JP" sz="1100">
                <a:ea typeface="ＭＳ Ｐゴシック" panose="020B0600070205080204" pitchFamily="34" charset="-128"/>
              </a:rPr>
              <a:t> and </a:t>
            </a:r>
            <a:r>
              <a:rPr lang="en-US" altLang="en-US" sz="1100">
                <a:ea typeface="ＭＳ Ｐゴシック" panose="020B0600070205080204" pitchFamily="34" charset="-128"/>
              </a:rPr>
              <a:t>‘</a:t>
            </a:r>
            <a:r>
              <a:rPr lang="en-US" altLang="ja-JP" sz="1100" b="1">
                <a:ea typeface="ＭＳ Ｐゴシック" panose="020B0600070205080204" pitchFamily="34" charset="-128"/>
              </a:rPr>
              <a:t>&lt;=</a:t>
            </a:r>
            <a:r>
              <a:rPr lang="en-US" altLang="en-US" sz="1100">
                <a:ea typeface="ＭＳ Ｐゴシック" panose="020B0600070205080204" pitchFamily="34" charset="-128"/>
              </a:rPr>
              <a:t>‘</a:t>
            </a:r>
            <a:r>
              <a:rPr lang="en-US" altLang="ja-JP" sz="1100">
                <a:ea typeface="ＭＳ Ｐゴシック" panose="020B0600070205080204" pitchFamily="34" charset="-128"/>
              </a:rPr>
              <a:t> is important.  Suppose we want to specify a three-stage shift register (i.e. three D-FF in series as shown in the schematic).  </a:t>
            </a:r>
          </a:p>
          <a:p>
            <a:r>
              <a:rPr lang="en-US" altLang="en-US" sz="1100">
                <a:ea typeface="ＭＳ Ｐゴシック" panose="020B0600070205080204" pitchFamily="34" charset="-128"/>
              </a:rPr>
              <a:t>Here are two possible specification.  Which one do you think will create the correct circuit and which one is wrong?</a:t>
            </a:r>
          </a:p>
          <a:p>
            <a:endParaRPr lang="en-US" altLang="en-US" sz="1100">
              <a:ea typeface="ＭＳ Ｐゴシック" panose="020B0600070205080204" pitchFamily="34" charset="-128"/>
            </a:endParaRPr>
          </a:p>
        </p:txBody>
      </p:sp>
      <p:sp>
        <p:nvSpPr>
          <p:cNvPr id="27651" name="Slide Number Placeholder 1">
            <a:extLst>
              <a:ext uri="{FF2B5EF4-FFF2-40B4-BE49-F238E27FC236}">
                <a16:creationId xmlns:a16="http://schemas.microsoft.com/office/drawing/2014/main" id="{48786AE4-B65E-9343-B792-77A667E74502}"/>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55245678-3576-5D41-9779-67F39617EA2C}" type="slidenum">
              <a:rPr lang="en-US" altLang="en-US" sz="1200" smtClean="0"/>
              <a:pPr/>
              <a:t>28</a:t>
            </a:fld>
            <a:endParaRPr lang="en-US" altLang="en-US" sz="1200"/>
          </a:p>
        </p:txBody>
      </p:sp>
    </p:spTree>
    <p:extLst>
      <p:ext uri="{BB962C8B-B14F-4D97-AF65-F5344CB8AC3E}">
        <p14:creationId xmlns:p14="http://schemas.microsoft.com/office/powerpoint/2010/main" val="32111699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5B78B913-933A-9B40-B6AF-44511FF11EBA}"/>
              </a:ext>
            </a:extLst>
          </p:cNvPr>
          <p:cNvSpPr>
            <a:spLocks noGrp="1" noRot="1" noChangeAspect="1" noChangeArrowheads="1" noTextEdit="1"/>
          </p:cNvSpPr>
          <p:nvPr>
            <p:ph type="sldImg"/>
          </p:nvPr>
        </p:nvSpPr>
        <p:spPr>
          <a:xfrm>
            <a:off x="714375" y="742950"/>
            <a:ext cx="5365750" cy="3714750"/>
          </a:xfrm>
          <a:ln/>
        </p:spPr>
      </p:sp>
      <p:sp>
        <p:nvSpPr>
          <p:cNvPr id="29698" name="Rectangle 3">
            <a:extLst>
              <a:ext uri="{FF2B5EF4-FFF2-40B4-BE49-F238E27FC236}">
                <a16:creationId xmlns:a16="http://schemas.microsoft.com/office/drawing/2014/main" id="{D84CD237-4D4F-D548-BA68-FB2CCEF5726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The left hand specification is </a:t>
            </a:r>
            <a:r>
              <a:rPr lang="en-US" altLang="en-US" sz="1100" b="1">
                <a:ea typeface="ＭＳ Ｐゴシック" panose="020B0600070205080204" pitchFamily="34" charset="-128"/>
              </a:rPr>
              <a:t>wrong</a:t>
            </a:r>
            <a:r>
              <a:rPr lang="en-US" altLang="en-US" sz="1100">
                <a:ea typeface="ＭＳ Ｐゴシック" panose="020B0600070205080204" pitchFamily="34" charset="-128"/>
              </a:rPr>
              <a:t>.  Since the three assignments are performed in sequence, </a:t>
            </a:r>
            <a:r>
              <a:rPr lang="en-US" altLang="en-US" sz="1100" b="1">
                <a:ea typeface="ＭＳ Ｐゴシック" panose="020B0600070205080204" pitchFamily="34" charset="-128"/>
              </a:rPr>
              <a:t>out = q2 = q1 = in</a:t>
            </a:r>
            <a:r>
              <a:rPr lang="en-US" altLang="en-US" sz="1100">
                <a:ea typeface="ＭＳ Ｐゴシック" panose="020B0600070205080204" pitchFamily="34" charset="-128"/>
              </a:rPr>
              <a:t>.  Therefore the resultant circuit is ONE D-flipflop.</a:t>
            </a:r>
          </a:p>
          <a:p>
            <a:r>
              <a:rPr lang="en-US" altLang="en-US" sz="1100">
                <a:ea typeface="ＭＳ Ｐゴシック" panose="020B0600070205080204" pitchFamily="34" charset="-128"/>
              </a:rPr>
              <a:t>The right hand side is </a:t>
            </a:r>
            <a:r>
              <a:rPr lang="en-US" altLang="en-US" sz="1100" b="1">
                <a:ea typeface="ＭＳ Ｐゴシック" panose="020B0600070205080204" pitchFamily="34" charset="-128"/>
              </a:rPr>
              <a:t>correct</a:t>
            </a:r>
            <a:r>
              <a:rPr lang="en-US" altLang="en-US" sz="1100">
                <a:ea typeface="ＭＳ Ｐゴシック" panose="020B0600070205080204" pitchFamily="34" charset="-128"/>
              </a:rPr>
              <a:t>. </a:t>
            </a:r>
            <a:r>
              <a:rPr lang="en-US" altLang="en-US" sz="1100" b="1">
                <a:ea typeface="ＭＳ Ｐゴシック" panose="020B0600070205080204" pitchFamily="34" charset="-128"/>
              </a:rPr>
              <a:t>q1</a:t>
            </a:r>
            <a:r>
              <a:rPr lang="en-US" altLang="en-US" sz="1100">
                <a:ea typeface="ＭＳ Ｐゴシック" panose="020B0600070205080204" pitchFamily="34" charset="-128"/>
              </a:rPr>
              <a:t>, </a:t>
            </a:r>
            <a:r>
              <a:rPr lang="en-US" altLang="en-US" sz="1100" b="1">
                <a:ea typeface="ＭＳ Ｐゴシック" panose="020B0600070205080204" pitchFamily="34" charset="-128"/>
              </a:rPr>
              <a:t>q2</a:t>
            </a:r>
            <a:r>
              <a:rPr lang="en-US" altLang="en-US" sz="1100">
                <a:ea typeface="ＭＳ Ｐゴシック" panose="020B0600070205080204" pitchFamily="34" charset="-128"/>
              </a:rPr>
              <a:t> and </a:t>
            </a:r>
            <a:r>
              <a:rPr lang="en-US" altLang="en-US" sz="1100" b="1">
                <a:ea typeface="ＭＳ Ｐゴシック" panose="020B0600070205080204" pitchFamily="34" charset="-128"/>
              </a:rPr>
              <a:t>out</a:t>
            </a:r>
            <a:r>
              <a:rPr lang="en-US" altLang="en-US" sz="1100">
                <a:ea typeface="ＭＳ Ｐゴシック" panose="020B0600070205080204" pitchFamily="34" charset="-128"/>
              </a:rPr>
              <a:t> are updated simultaneously on exit from the </a:t>
            </a:r>
            <a:r>
              <a:rPr lang="en-US" altLang="en-US" sz="1100" b="1">
                <a:solidFill>
                  <a:srgbClr val="3366FF"/>
                </a:solidFill>
                <a:ea typeface="ＭＳ Ｐゴシック" panose="020B0600070205080204" pitchFamily="34" charset="-128"/>
              </a:rPr>
              <a:t>always</a:t>
            </a:r>
            <a:r>
              <a:rPr lang="en-US" altLang="en-US" sz="1100">
                <a:solidFill>
                  <a:srgbClr val="3366FF"/>
                </a:solidFill>
                <a:ea typeface="ＭＳ Ｐゴシック" panose="020B0600070205080204" pitchFamily="34" charset="-128"/>
              </a:rPr>
              <a:t> </a:t>
            </a:r>
            <a:r>
              <a:rPr lang="en-US" altLang="en-US" sz="1100">
                <a:ea typeface="ＭＳ Ｐゴシック" panose="020B0600070205080204" pitchFamily="34" charset="-128"/>
              </a:rPr>
              <a:t>block.  Therefore their “original” values MUST be retained.  Hence this will result in three D-flipflops being synthesised (i.e. created). </a:t>
            </a:r>
          </a:p>
          <a:p>
            <a:endParaRPr lang="en-US" altLang="en-US" sz="1100">
              <a:ea typeface="ＭＳ Ｐゴシック" panose="020B0600070205080204" pitchFamily="34" charset="-128"/>
            </a:endParaRPr>
          </a:p>
          <a:p>
            <a:r>
              <a:rPr lang="en-US" altLang="en-US" sz="1100">
                <a:ea typeface="ＭＳ Ｐゴシック" panose="020B0600070205080204" pitchFamily="34" charset="-128"/>
              </a:rPr>
              <a:t>In general, you should always use ‘</a:t>
            </a:r>
            <a:r>
              <a:rPr lang="en-US" altLang="ja-JP" sz="1100" b="1">
                <a:ea typeface="ＭＳ Ｐゴシック" panose="020B0600070205080204" pitchFamily="34" charset="-128"/>
              </a:rPr>
              <a:t>&lt;=</a:t>
            </a:r>
            <a:r>
              <a:rPr lang="en-US" altLang="en-US" sz="1100">
                <a:ea typeface="ＭＳ Ｐゴシック" panose="020B0600070205080204" pitchFamily="34" charset="-128"/>
              </a:rPr>
              <a:t>‘</a:t>
            </a:r>
            <a:r>
              <a:rPr lang="en-US" altLang="ja-JP" sz="1100">
                <a:ea typeface="ＭＳ Ｐゴシック" panose="020B0600070205080204" pitchFamily="34" charset="-128"/>
              </a:rPr>
              <a:t> inside an </a:t>
            </a:r>
            <a:r>
              <a:rPr lang="en-US" altLang="ja-JP" sz="1100" b="1">
                <a:ea typeface="ＭＳ Ｐゴシック" panose="020B0600070205080204" pitchFamily="34" charset="-128"/>
              </a:rPr>
              <a:t>always</a:t>
            </a:r>
            <a:r>
              <a:rPr lang="en-US" altLang="ja-JP" sz="1100">
                <a:ea typeface="ＭＳ Ｐゴシック" panose="020B0600070205080204" pitchFamily="34" charset="-128"/>
              </a:rPr>
              <a:t> block to specify your circuit.</a:t>
            </a:r>
            <a:endParaRPr lang="en-US" altLang="en-US" sz="1100">
              <a:ea typeface="ＭＳ Ｐゴシック" panose="020B0600070205080204" pitchFamily="34" charset="-128"/>
            </a:endParaRPr>
          </a:p>
        </p:txBody>
      </p:sp>
      <p:sp>
        <p:nvSpPr>
          <p:cNvPr id="29699" name="Slide Number Placeholder 1">
            <a:extLst>
              <a:ext uri="{FF2B5EF4-FFF2-40B4-BE49-F238E27FC236}">
                <a16:creationId xmlns:a16="http://schemas.microsoft.com/office/drawing/2014/main" id="{4FAF6677-2897-A841-971C-7196A6B0FEA1}"/>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103842CB-FDAA-FE4D-89E7-744AE7E9A6D3}" type="slidenum">
              <a:rPr lang="en-US" altLang="en-US" sz="1200" smtClean="0"/>
              <a:pPr/>
              <a:t>29</a:t>
            </a:fld>
            <a:endParaRPr lang="en-US" altLang="en-US" sz="1200"/>
          </a:p>
        </p:txBody>
      </p:sp>
    </p:spTree>
    <p:extLst>
      <p:ext uri="{BB962C8B-B14F-4D97-AF65-F5344CB8AC3E}">
        <p14:creationId xmlns:p14="http://schemas.microsoft.com/office/powerpoint/2010/main" val="1399421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153E137F-E5F7-4540-B31D-24B467B2D6DB}"/>
              </a:ext>
            </a:extLst>
          </p:cNvPr>
          <p:cNvSpPr>
            <a:spLocks noGrp="1" noRot="1" noChangeAspect="1" noChangeArrowheads="1" noTextEdit="1"/>
          </p:cNvSpPr>
          <p:nvPr>
            <p:ph type="sldImg"/>
          </p:nvPr>
        </p:nvSpPr>
        <p:spPr>
          <a:xfrm>
            <a:off x="714375" y="742950"/>
            <a:ext cx="5365750" cy="3714750"/>
          </a:xfrm>
          <a:ln/>
        </p:spPr>
      </p:sp>
      <p:sp>
        <p:nvSpPr>
          <p:cNvPr id="31746" name="Rectangle 3">
            <a:extLst>
              <a:ext uri="{FF2B5EF4-FFF2-40B4-BE49-F238E27FC236}">
                <a16:creationId xmlns:a16="http://schemas.microsoft.com/office/drawing/2014/main" id="{0EB1217B-2AD4-D944-9933-B4DC2BD7D56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Now let us put all you have learned together in specifying (or designing) a 32-bit ALU in Verilog.  </a:t>
            </a:r>
          </a:p>
          <a:p>
            <a:r>
              <a:rPr lang="en-US" altLang="en-US" sz="1100">
                <a:ea typeface="ＭＳ Ｐゴシック" panose="020B0600070205080204" pitchFamily="34" charset="-128"/>
              </a:rPr>
              <a:t>There are five operators in this ALU.  We assume that there are three arithmetic blocks, and three multiplexers (two 2-to-1 MUX and one 3-to-1 MUX).</a:t>
            </a:r>
          </a:p>
        </p:txBody>
      </p:sp>
      <p:sp>
        <p:nvSpPr>
          <p:cNvPr id="31747" name="Slide Number Placeholder 1">
            <a:extLst>
              <a:ext uri="{FF2B5EF4-FFF2-40B4-BE49-F238E27FC236}">
                <a16:creationId xmlns:a16="http://schemas.microsoft.com/office/drawing/2014/main" id="{59983016-4F43-B64E-9A89-9E17C678A93C}"/>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5A3D2400-C7F7-924B-8C46-E975F9C69314}" type="slidenum">
              <a:rPr lang="en-US" altLang="en-US" sz="1200" smtClean="0"/>
              <a:pPr/>
              <a:t>30</a:t>
            </a:fld>
            <a:endParaRPr lang="en-US" altLang="en-US" sz="1200"/>
          </a:p>
        </p:txBody>
      </p:sp>
    </p:spTree>
    <p:extLst>
      <p:ext uri="{BB962C8B-B14F-4D97-AF65-F5344CB8AC3E}">
        <p14:creationId xmlns:p14="http://schemas.microsoft.com/office/powerpoint/2010/main" val="14118614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EC319511-25FE-E84A-9C61-6FF7D302B052}"/>
              </a:ext>
            </a:extLst>
          </p:cNvPr>
          <p:cNvSpPr>
            <a:spLocks noGrp="1" noRot="1" noChangeAspect="1" noChangeArrowheads="1" noTextEdit="1"/>
          </p:cNvSpPr>
          <p:nvPr>
            <p:ph type="sldImg"/>
          </p:nvPr>
        </p:nvSpPr>
        <p:spPr>
          <a:xfrm>
            <a:off x="714375" y="742950"/>
            <a:ext cx="5365750" cy="3714750"/>
          </a:xfrm>
          <a:ln/>
        </p:spPr>
      </p:sp>
      <p:sp>
        <p:nvSpPr>
          <p:cNvPr id="33794" name="Rectangle 3">
            <a:extLst>
              <a:ext uri="{FF2B5EF4-FFF2-40B4-BE49-F238E27FC236}">
                <a16:creationId xmlns:a16="http://schemas.microsoft.com/office/drawing/2014/main" id="{D9599CCE-5312-2249-878E-AA9A9CC5B53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Each hardware block is defined as a Verilog module. So we have the following modules:</a:t>
            </a:r>
          </a:p>
          <a:p>
            <a:r>
              <a:rPr lang="en-US" altLang="en-US" sz="1100" b="1">
                <a:ea typeface="ＭＳ Ｐゴシック" panose="020B0600070205080204" pitchFamily="34" charset="-128"/>
              </a:rPr>
              <a:t>mux32two</a:t>
            </a:r>
            <a:r>
              <a:rPr lang="en-US" altLang="en-US" sz="1100">
                <a:ea typeface="ＭＳ Ｐゴシック" panose="020B0600070205080204" pitchFamily="34" charset="-128"/>
              </a:rPr>
              <a:t> – a 32-bit multiplexer that has TWO inputs</a:t>
            </a:r>
          </a:p>
          <a:p>
            <a:r>
              <a:rPr lang="en-US" altLang="en-US" sz="1100" b="1">
                <a:ea typeface="ＭＳ Ｐゴシック" panose="020B0600070205080204" pitchFamily="34" charset="-128"/>
              </a:rPr>
              <a:t>mux32three</a:t>
            </a:r>
            <a:r>
              <a:rPr lang="en-US" altLang="en-US" sz="1100">
                <a:ea typeface="ＭＳ Ｐゴシック" panose="020B0600070205080204" pitchFamily="34" charset="-128"/>
              </a:rPr>
              <a:t> – a 32-bit multiplexer that has THREE inputs</a:t>
            </a:r>
          </a:p>
          <a:p>
            <a:r>
              <a:rPr lang="en-US" altLang="en-US" sz="1100" b="1">
                <a:ea typeface="ＭＳ Ｐゴシック" panose="020B0600070205080204" pitchFamily="34" charset="-128"/>
              </a:rPr>
              <a:t>mul16</a:t>
            </a:r>
            <a:r>
              <a:rPr lang="en-US" altLang="en-US" sz="1100">
                <a:ea typeface="ＭＳ Ｐゴシック" panose="020B0600070205080204" pitchFamily="34" charset="-128"/>
              </a:rPr>
              <a:t> – a 16-by-16 binary multiplier that produces a 32-bit product</a:t>
            </a:r>
          </a:p>
          <a:p>
            <a:r>
              <a:rPr lang="en-US" altLang="en-US" sz="1100" b="1">
                <a:ea typeface="ＭＳ Ｐゴシック" panose="020B0600070205080204" pitchFamily="34" charset="-128"/>
              </a:rPr>
              <a:t>add32</a:t>
            </a:r>
            <a:r>
              <a:rPr lang="en-US" altLang="en-US" sz="1100">
                <a:ea typeface="ＭＳ Ｐゴシック" panose="020B0600070205080204" pitchFamily="34" charset="-128"/>
              </a:rPr>
              <a:t> – a 32-bit binary adder</a:t>
            </a:r>
          </a:p>
          <a:p>
            <a:r>
              <a:rPr lang="en-US" altLang="en-US" sz="1100" b="1">
                <a:ea typeface="ＭＳ Ｐゴシック" panose="020B0600070205080204" pitchFamily="34" charset="-128"/>
              </a:rPr>
              <a:t>sub32</a:t>
            </a:r>
            <a:r>
              <a:rPr lang="en-US" altLang="en-US" sz="1100">
                <a:ea typeface="ＭＳ Ｐゴシック" panose="020B0600070205080204" pitchFamily="34" charset="-128"/>
              </a:rPr>
              <a:t> – a 32-bit binary subtractor</a:t>
            </a:r>
          </a:p>
        </p:txBody>
      </p:sp>
      <p:sp>
        <p:nvSpPr>
          <p:cNvPr id="33795" name="Slide Number Placeholder 1">
            <a:extLst>
              <a:ext uri="{FF2B5EF4-FFF2-40B4-BE49-F238E27FC236}">
                <a16:creationId xmlns:a16="http://schemas.microsoft.com/office/drawing/2014/main" id="{366174EA-B4D1-814E-8A5B-041D166211D0}"/>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33F87CDC-D4F9-8448-9382-8E34D1E9CFAE}" type="slidenum">
              <a:rPr lang="en-US" altLang="en-US" sz="1200" smtClean="0"/>
              <a:pPr/>
              <a:t>31</a:t>
            </a:fld>
            <a:endParaRPr lang="en-US" altLang="en-US" sz="1200"/>
          </a:p>
        </p:txBody>
      </p:sp>
    </p:spTree>
    <p:extLst>
      <p:ext uri="{BB962C8B-B14F-4D97-AF65-F5344CB8AC3E}">
        <p14:creationId xmlns:p14="http://schemas.microsoft.com/office/powerpoint/2010/main" val="11108062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CB9E6C1A-1757-4A46-90B9-2A3F2BA07375}"/>
              </a:ext>
            </a:extLst>
          </p:cNvPr>
          <p:cNvSpPr>
            <a:spLocks noGrp="1" noRot="1" noChangeAspect="1" noChangeArrowheads="1" noTextEdit="1"/>
          </p:cNvSpPr>
          <p:nvPr>
            <p:ph type="sldImg"/>
          </p:nvPr>
        </p:nvSpPr>
        <p:spPr>
          <a:xfrm>
            <a:off x="714375" y="742950"/>
            <a:ext cx="5365750" cy="3714750"/>
          </a:xfrm>
          <a:ln/>
        </p:spPr>
      </p:sp>
      <p:sp>
        <p:nvSpPr>
          <p:cNvPr id="35842" name="Rectangle 3">
            <a:extLst>
              <a:ext uri="{FF2B5EF4-FFF2-40B4-BE49-F238E27FC236}">
                <a16:creationId xmlns:a16="http://schemas.microsoft.com/office/drawing/2014/main" id="{162702B2-B744-7547-8800-A1E24985351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en-US" sz="1100">
                <a:ea typeface="ＭＳ Ｐゴシック" panose="020B0600070205080204" pitchFamily="34" charset="-128"/>
              </a:rPr>
              <a:t>Now let us put all these together.</a:t>
            </a:r>
          </a:p>
          <a:p>
            <a:r>
              <a:rPr lang="en-US" altLang="en-US" sz="1100">
                <a:ea typeface="ＭＳ Ｐゴシック" panose="020B0600070205080204" pitchFamily="34" charset="-128"/>
              </a:rPr>
              <a:t>Note that </a:t>
            </a:r>
            <a:r>
              <a:rPr lang="en-US" altLang="en-US" sz="1100" b="1">
                <a:ea typeface="ＭＳ Ｐゴシック" panose="020B0600070205080204" pitchFamily="34" charset="-128"/>
              </a:rPr>
              <a:t>mxu32two</a:t>
            </a:r>
            <a:r>
              <a:rPr lang="en-US" altLang="en-US" sz="1100">
                <a:ea typeface="ＭＳ Ｐゴシック" panose="020B0600070205080204" pitchFamily="34" charset="-128"/>
              </a:rPr>
              <a:t> is being used twice and therefore this </a:t>
            </a:r>
            <a:r>
              <a:rPr lang="en-US" altLang="en-US" sz="1100" b="1">
                <a:ea typeface="ＭＳ Ｐゴシック" panose="020B0600070205080204" pitchFamily="34" charset="-128"/>
              </a:rPr>
              <a:t>is instantiated </a:t>
            </a:r>
            <a:r>
              <a:rPr lang="en-US" altLang="en-US" sz="1100">
                <a:ea typeface="ＭＳ Ｐゴシック" panose="020B0600070205080204" pitchFamily="34" charset="-128"/>
              </a:rPr>
              <a:t>two times with two different </a:t>
            </a:r>
            <a:r>
              <a:rPr lang="en-US" altLang="en-US" sz="1100" b="1">
                <a:ea typeface="ＭＳ Ｐゴシック" panose="020B0600070205080204" pitchFamily="34" charset="-128"/>
              </a:rPr>
              <a:t>instance names</a:t>
            </a:r>
            <a:r>
              <a:rPr lang="en-US" altLang="en-US" sz="1100">
                <a:ea typeface="ＭＳ Ｐゴシック" panose="020B0600070205080204" pitchFamily="34" charset="-128"/>
              </a:rPr>
              <a:t>: </a:t>
            </a:r>
            <a:r>
              <a:rPr lang="en-US" altLang="en-US" sz="1100" b="1">
                <a:ea typeface="ＭＳ Ｐゴシック" panose="020B0600070205080204" pitchFamily="34" charset="-128"/>
              </a:rPr>
              <a:t>adder_mux</a:t>
            </a:r>
            <a:r>
              <a:rPr lang="en-US" altLang="en-US" sz="1100">
                <a:ea typeface="ＭＳ Ｐゴシック" panose="020B0600070205080204" pitchFamily="34" charset="-128"/>
              </a:rPr>
              <a:t> and </a:t>
            </a:r>
            <a:r>
              <a:rPr lang="en-US" altLang="en-US" sz="1100" b="1">
                <a:ea typeface="ＭＳ Ｐゴシック" panose="020B0600070205080204" pitchFamily="34" charset="-128"/>
              </a:rPr>
              <a:t>sub_mux</a:t>
            </a:r>
            <a:r>
              <a:rPr lang="en-US" altLang="en-US" sz="1100">
                <a:ea typeface="ＭＳ Ｐゴシック" panose="020B0600070205080204" pitchFamily="34" charset="-128"/>
              </a:rPr>
              <a:t>.</a:t>
            </a:r>
          </a:p>
          <a:p>
            <a:r>
              <a:rPr lang="en-US" altLang="en-US" sz="1100" b="1">
                <a:ea typeface="ＭＳ Ｐゴシック" panose="020B0600070205080204" pitchFamily="34" charset="-128"/>
              </a:rPr>
              <a:t>Connections</a:t>
            </a:r>
            <a:r>
              <a:rPr lang="en-US" altLang="en-US" sz="1100">
                <a:ea typeface="ＭＳ Ｐゴシック" panose="020B0600070205080204" pitchFamily="34" charset="-128"/>
              </a:rPr>
              <a:t> between modules are implicit through the use of </a:t>
            </a:r>
            <a:r>
              <a:rPr lang="en-US" altLang="en-US" sz="1100" b="1">
                <a:ea typeface="ＭＳ Ｐゴシック" panose="020B0600070205080204" pitchFamily="34" charset="-128"/>
              </a:rPr>
              <a:t>signal names</a:t>
            </a:r>
            <a:r>
              <a:rPr lang="en-US" altLang="en-US" sz="1100">
                <a:ea typeface="ＭＳ Ｐゴシック" panose="020B0600070205080204" pitchFamily="34" charset="-128"/>
              </a:rPr>
              <a:t>.  For example, the 16-bit inputs to the multiplier are taken from the lower 16-bits of </a:t>
            </a:r>
            <a:r>
              <a:rPr lang="en-US" altLang="en-US" sz="1100" b="1">
                <a:ea typeface="ＭＳ Ｐゴシック" panose="020B0600070205080204" pitchFamily="34" charset="-128"/>
              </a:rPr>
              <a:t>a</a:t>
            </a:r>
            <a:r>
              <a:rPr lang="en-US" altLang="en-US" sz="1100">
                <a:ea typeface="ＭＳ Ｐゴシック" panose="020B0600070205080204" pitchFamily="34" charset="-128"/>
              </a:rPr>
              <a:t> and </a:t>
            </a:r>
            <a:r>
              <a:rPr lang="en-US" altLang="en-US" sz="1100" b="1">
                <a:ea typeface="ＭＳ Ｐゴシック" panose="020B0600070205080204" pitchFamily="34" charset="-128"/>
              </a:rPr>
              <a:t>b</a:t>
            </a:r>
            <a:r>
              <a:rPr lang="en-US" altLang="en-US" sz="1100">
                <a:ea typeface="ＭＳ Ｐゴシック" panose="020B0600070205080204" pitchFamily="34" charset="-128"/>
              </a:rPr>
              <a:t> inputs (i.e. </a:t>
            </a:r>
            <a:r>
              <a:rPr lang="en-US" altLang="en-US" sz="1100" b="1">
                <a:ea typeface="ＭＳ Ｐゴシック" panose="020B0600070205080204" pitchFamily="34" charset="-128"/>
              </a:rPr>
              <a:t>a[15:0]</a:t>
            </a:r>
            <a:r>
              <a:rPr lang="en-US" altLang="en-US" sz="1100">
                <a:ea typeface="ＭＳ Ｐゴシック" panose="020B0600070205080204" pitchFamily="34" charset="-128"/>
              </a:rPr>
              <a:t> and </a:t>
            </a:r>
            <a:r>
              <a:rPr lang="en-US" altLang="en-US" sz="1100" b="1">
                <a:ea typeface="ＭＳ Ｐゴシック" panose="020B0600070205080204" pitchFamily="34" charset="-128"/>
              </a:rPr>
              <a:t>b[15:0]</a:t>
            </a:r>
            <a:r>
              <a:rPr lang="en-US" altLang="en-US" sz="1100">
                <a:ea typeface="ＭＳ Ｐゴシック" panose="020B0600070205080204" pitchFamily="34" charset="-128"/>
              </a:rPr>
              <a:t>).</a:t>
            </a:r>
          </a:p>
          <a:p>
            <a:endParaRPr lang="en-US" altLang="en-US" sz="1100">
              <a:ea typeface="ＭＳ Ｐゴシック" panose="020B0600070205080204" pitchFamily="34" charset="-128"/>
            </a:endParaRPr>
          </a:p>
        </p:txBody>
      </p:sp>
      <p:sp>
        <p:nvSpPr>
          <p:cNvPr id="35843" name="Slide Number Placeholder 1">
            <a:extLst>
              <a:ext uri="{FF2B5EF4-FFF2-40B4-BE49-F238E27FC236}">
                <a16:creationId xmlns:a16="http://schemas.microsoft.com/office/drawing/2014/main" id="{6F0C8EBD-3511-B445-ABDF-25BE97E1CD1A}"/>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25513">
              <a:defRPr sz="3200">
                <a:solidFill>
                  <a:schemeClr val="tx1"/>
                </a:solidFill>
                <a:latin typeface="Arial" panose="020B0604020202020204" pitchFamily="34" charset="0"/>
                <a:ea typeface="ＭＳ Ｐゴシック" panose="020B0600070205080204" pitchFamily="34" charset="-128"/>
              </a:defRPr>
            </a:lvl1pPr>
            <a:lvl2pPr marL="742950" indent="-285750" defTabSz="925513">
              <a:defRPr sz="3200">
                <a:solidFill>
                  <a:schemeClr val="tx1"/>
                </a:solidFill>
                <a:latin typeface="Arial" panose="020B0604020202020204" pitchFamily="34" charset="0"/>
                <a:ea typeface="ＭＳ Ｐゴシック" panose="020B0600070205080204" pitchFamily="34" charset="-128"/>
              </a:defRPr>
            </a:lvl2pPr>
            <a:lvl3pPr marL="1143000" indent="-228600" defTabSz="925513">
              <a:defRPr sz="3200">
                <a:solidFill>
                  <a:schemeClr val="tx1"/>
                </a:solidFill>
                <a:latin typeface="Arial" panose="020B0604020202020204" pitchFamily="34" charset="0"/>
                <a:ea typeface="ＭＳ Ｐゴシック" panose="020B0600070205080204" pitchFamily="34" charset="-128"/>
              </a:defRPr>
            </a:lvl3pPr>
            <a:lvl4pPr marL="1600200" indent="-228600" defTabSz="925513">
              <a:defRPr sz="3200">
                <a:solidFill>
                  <a:schemeClr val="tx1"/>
                </a:solidFill>
                <a:latin typeface="Arial" panose="020B0604020202020204" pitchFamily="34" charset="0"/>
                <a:ea typeface="ＭＳ Ｐゴシック" panose="020B0600070205080204" pitchFamily="34" charset="-128"/>
              </a:defRPr>
            </a:lvl4pPr>
            <a:lvl5pPr marL="2057400" indent="-228600" defTabSz="925513">
              <a:defRPr sz="3200">
                <a:solidFill>
                  <a:schemeClr val="tx1"/>
                </a:solidFill>
                <a:latin typeface="Arial" panose="020B0604020202020204" pitchFamily="34" charset="0"/>
                <a:ea typeface="ＭＳ Ｐゴシック" panose="020B0600070205080204" pitchFamily="34" charset="-128"/>
              </a:defRPr>
            </a:lvl5pPr>
            <a:lvl6pPr marL="25146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6pPr>
            <a:lvl7pPr marL="29718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7pPr>
            <a:lvl8pPr marL="34290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8pPr>
            <a:lvl9pPr marL="3886200" indent="-228600" defTabSz="925513" eaLnBrk="0" fontAlgn="base" hangingPunct="0">
              <a:spcBef>
                <a:spcPct val="0"/>
              </a:spcBef>
              <a:spcAft>
                <a:spcPct val="0"/>
              </a:spcAft>
              <a:defRPr sz="3200">
                <a:solidFill>
                  <a:schemeClr val="tx1"/>
                </a:solidFill>
                <a:latin typeface="Arial" panose="020B0604020202020204" pitchFamily="34" charset="0"/>
                <a:ea typeface="ＭＳ Ｐゴシック" panose="020B0600070205080204" pitchFamily="34" charset="-128"/>
              </a:defRPr>
            </a:lvl9pPr>
          </a:lstStyle>
          <a:p>
            <a:fld id="{A2DD86A7-A5F3-5A40-AF5D-6FECD098F45A}" type="slidenum">
              <a:rPr lang="en-US" altLang="en-US" sz="1200" smtClean="0"/>
              <a:pPr/>
              <a:t>32</a:t>
            </a:fld>
            <a:endParaRPr lang="en-US" altLang="en-US" sz="1200"/>
          </a:p>
        </p:txBody>
      </p:sp>
    </p:spTree>
    <p:extLst>
      <p:ext uri="{BB962C8B-B14F-4D97-AF65-F5344CB8AC3E}">
        <p14:creationId xmlns:p14="http://schemas.microsoft.com/office/powerpoint/2010/main" val="1830663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3189" y="2130426"/>
            <a:ext cx="8419624" cy="1470025"/>
          </a:xfrm>
        </p:spPr>
        <p:txBody>
          <a:bodyPr/>
          <a:lstStyle/>
          <a:p>
            <a:r>
              <a:rPr lang="en-GB"/>
              <a:t>Click to edit Master title style</a:t>
            </a:r>
            <a:endParaRPr lang="en-US"/>
          </a:p>
        </p:txBody>
      </p:sp>
      <p:sp>
        <p:nvSpPr>
          <p:cNvPr id="3" name="Subtitle 2"/>
          <p:cNvSpPr>
            <a:spLocks noGrp="1"/>
          </p:cNvSpPr>
          <p:nvPr>
            <p:ph type="subTitle" idx="1"/>
          </p:nvPr>
        </p:nvSpPr>
        <p:spPr>
          <a:xfrm>
            <a:off x="1486377" y="3886200"/>
            <a:ext cx="6933247"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GB"/>
              <a:t>Click to edit Master subtitle style</a:t>
            </a:r>
            <a:endParaRPr lang="en-US"/>
          </a:p>
        </p:txBody>
      </p:sp>
    </p:spTree>
    <p:extLst>
      <p:ext uri="{BB962C8B-B14F-4D97-AF65-F5344CB8AC3E}">
        <p14:creationId xmlns:p14="http://schemas.microsoft.com/office/powerpoint/2010/main" val="3365515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86002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889" y="4406901"/>
            <a:ext cx="8419624"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82889" y="2906713"/>
            <a:ext cx="8419624"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Tree>
    <p:extLst>
      <p:ext uri="{BB962C8B-B14F-4D97-AF65-F5344CB8AC3E}">
        <p14:creationId xmlns:p14="http://schemas.microsoft.com/office/powerpoint/2010/main" val="3843652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578036" y="1295400"/>
            <a:ext cx="4298741"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029225" y="1295400"/>
            <a:ext cx="429874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95939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460" y="274638"/>
            <a:ext cx="8915082"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95459" y="1535113"/>
            <a:ext cx="437655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95459" y="2174875"/>
            <a:ext cx="437655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032402" y="1535113"/>
            <a:ext cx="437814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32402" y="2174875"/>
            <a:ext cx="437814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38283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337829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981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459" y="273050"/>
            <a:ext cx="325859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873154" y="273051"/>
            <a:ext cx="553738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95459" y="1435101"/>
            <a:ext cx="325859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799054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136" y="4800600"/>
            <a:ext cx="594233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942136" y="612775"/>
            <a:ext cx="594233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2136" y="5367338"/>
            <a:ext cx="594233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3593135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37611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20633" y="76200"/>
            <a:ext cx="2207332" cy="6248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95459" y="76200"/>
            <a:ext cx="6472725" cy="6248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317601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5459" y="76200"/>
            <a:ext cx="8006741" cy="8382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578036" y="1295400"/>
            <a:ext cx="4298741" cy="502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029225" y="1295400"/>
            <a:ext cx="4298740" cy="50292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09824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0D2D381-7DEC-F44D-A6EA-6E9752FE0B11}"/>
              </a:ext>
            </a:extLst>
          </p:cNvPr>
          <p:cNvSpPr>
            <a:spLocks noGrp="1" noChangeArrowheads="1"/>
          </p:cNvSpPr>
          <p:nvPr>
            <p:ph type="title"/>
          </p:nvPr>
        </p:nvSpPr>
        <p:spPr bwMode="auto">
          <a:xfrm>
            <a:off x="495300" y="76200"/>
            <a:ext cx="800735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3D6836D-D9B3-F342-9FA4-BC8285BBB737}"/>
              </a:ext>
            </a:extLst>
          </p:cNvPr>
          <p:cNvSpPr>
            <a:spLocks noGrp="1" noChangeArrowheads="1"/>
          </p:cNvSpPr>
          <p:nvPr>
            <p:ph type="body" idx="1"/>
          </p:nvPr>
        </p:nvSpPr>
        <p:spPr bwMode="auto">
          <a:xfrm>
            <a:off x="577850" y="1052513"/>
            <a:ext cx="8750300" cy="527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5">
            <a:extLst>
              <a:ext uri="{FF2B5EF4-FFF2-40B4-BE49-F238E27FC236}">
                <a16:creationId xmlns:a16="http://schemas.microsoft.com/office/drawing/2014/main" id="{C9579FA6-4517-1F40-AB23-9C337B5B5DD1}"/>
              </a:ext>
            </a:extLst>
          </p:cNvPr>
          <p:cNvSpPr>
            <a:spLocks noChangeArrowheads="1"/>
          </p:cNvSpPr>
          <p:nvPr/>
        </p:nvSpPr>
        <p:spPr bwMode="auto">
          <a:xfrm>
            <a:off x="7546975" y="6507163"/>
            <a:ext cx="21113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spAutoFit/>
          </a:bodyP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lgn="r">
              <a:defRPr/>
            </a:pPr>
            <a:r>
              <a:rPr lang="en-US" altLang="x-none" sz="1100" dirty="0"/>
              <a:t>Lecture  6  Slide </a:t>
            </a:r>
            <a:fld id="{BEF98648-4C92-1247-BF5A-04116D83EBAA}" type="slidenum">
              <a:rPr lang="en-US" altLang="x-none" sz="1100" smtClean="0"/>
              <a:pPr algn="r">
                <a:defRPr/>
              </a:pPr>
              <a:t>‹#›</a:t>
            </a:fld>
            <a:endParaRPr lang="en-US" altLang="x-none" sz="1100" dirty="0"/>
          </a:p>
        </p:txBody>
      </p:sp>
      <p:sp>
        <p:nvSpPr>
          <p:cNvPr id="3080" name="Text Box 8">
            <a:extLst>
              <a:ext uri="{FF2B5EF4-FFF2-40B4-BE49-F238E27FC236}">
                <a16:creationId xmlns:a16="http://schemas.microsoft.com/office/drawing/2014/main" id="{56E5A4AF-09C8-B548-A991-D7A51C934592}"/>
              </a:ext>
            </a:extLst>
          </p:cNvPr>
          <p:cNvSpPr txBox="1">
            <a:spLocks noChangeArrowheads="1"/>
          </p:cNvSpPr>
          <p:nvPr/>
        </p:nvSpPr>
        <p:spPr bwMode="auto">
          <a:xfrm>
            <a:off x="304555" y="6489700"/>
            <a:ext cx="1330814" cy="261610"/>
          </a:xfrm>
          <a:prstGeom prst="rect">
            <a:avLst/>
          </a:prstGeom>
          <a:noFill/>
          <a:ln w="12700">
            <a:noFill/>
            <a:miter lim="800000"/>
            <a:headEnd type="none" w="sm" len="sm"/>
            <a:tailEnd type="none" w="sm" len="sm"/>
          </a:ln>
          <a:effectLst/>
        </p:spPr>
        <p:txBody>
          <a:bodyPr wrap="none">
            <a:spAutoFit/>
          </a:bodyPr>
          <a:lstStyle>
            <a:lvl1pPr>
              <a:defRPr sz="3200">
                <a:solidFill>
                  <a:schemeClr val="tx1"/>
                </a:solidFill>
                <a:latin typeface="Arial" charset="0"/>
                <a:ea typeface="ＭＳ Ｐゴシック" charset="0"/>
                <a:cs typeface="ＭＳ Ｐゴシック" charset="0"/>
              </a:defRPr>
            </a:lvl1pPr>
            <a:lvl2pPr marL="37931725" indent="-37474525">
              <a:defRPr sz="3200">
                <a:solidFill>
                  <a:schemeClr val="tx1"/>
                </a:solidFill>
                <a:latin typeface="Arial" charset="0"/>
                <a:ea typeface="ＭＳ Ｐゴシック" charset="0"/>
              </a:defRPr>
            </a:lvl2pPr>
            <a:lvl3pPr>
              <a:defRPr sz="3200">
                <a:solidFill>
                  <a:schemeClr val="tx1"/>
                </a:solidFill>
                <a:latin typeface="Arial" charset="0"/>
                <a:ea typeface="ＭＳ Ｐゴシック" charset="0"/>
              </a:defRPr>
            </a:lvl3pPr>
            <a:lvl4pPr>
              <a:defRPr sz="3200">
                <a:solidFill>
                  <a:schemeClr val="tx1"/>
                </a:solidFill>
                <a:latin typeface="Arial" charset="0"/>
                <a:ea typeface="ＭＳ Ｐゴシック" charset="0"/>
              </a:defRPr>
            </a:lvl4pPr>
            <a:lvl5pPr>
              <a:defRPr sz="3200">
                <a:solidFill>
                  <a:schemeClr val="tx1"/>
                </a:solidFill>
                <a:latin typeface="Arial" charset="0"/>
                <a:ea typeface="ＭＳ Ｐゴシック" charset="0"/>
              </a:defRPr>
            </a:lvl5pPr>
            <a:lvl6pPr marL="457200" eaLnBrk="0" fontAlgn="base" hangingPunct="0">
              <a:spcBef>
                <a:spcPct val="0"/>
              </a:spcBef>
              <a:spcAft>
                <a:spcPct val="0"/>
              </a:spcAft>
              <a:defRPr sz="3200">
                <a:solidFill>
                  <a:schemeClr val="tx1"/>
                </a:solidFill>
                <a:latin typeface="Arial" charset="0"/>
                <a:ea typeface="ＭＳ Ｐゴシック" charset="0"/>
              </a:defRPr>
            </a:lvl6pPr>
            <a:lvl7pPr marL="914400" eaLnBrk="0" fontAlgn="base" hangingPunct="0">
              <a:spcBef>
                <a:spcPct val="0"/>
              </a:spcBef>
              <a:spcAft>
                <a:spcPct val="0"/>
              </a:spcAft>
              <a:defRPr sz="3200">
                <a:solidFill>
                  <a:schemeClr val="tx1"/>
                </a:solidFill>
                <a:latin typeface="Arial" charset="0"/>
                <a:ea typeface="ＭＳ Ｐゴシック" charset="0"/>
              </a:defRPr>
            </a:lvl7pPr>
            <a:lvl8pPr marL="1371600" eaLnBrk="0" fontAlgn="base" hangingPunct="0">
              <a:spcBef>
                <a:spcPct val="0"/>
              </a:spcBef>
              <a:spcAft>
                <a:spcPct val="0"/>
              </a:spcAft>
              <a:defRPr sz="3200">
                <a:solidFill>
                  <a:schemeClr val="tx1"/>
                </a:solidFill>
                <a:latin typeface="Arial" charset="0"/>
                <a:ea typeface="ＭＳ Ｐゴシック" charset="0"/>
              </a:defRPr>
            </a:lvl8pPr>
            <a:lvl9pPr marL="1828800" eaLnBrk="0" fontAlgn="base" hangingPunct="0">
              <a:spcBef>
                <a:spcPct val="0"/>
              </a:spcBef>
              <a:spcAft>
                <a:spcPct val="0"/>
              </a:spcAft>
              <a:defRPr sz="3200">
                <a:solidFill>
                  <a:schemeClr val="tx1"/>
                </a:solidFill>
                <a:latin typeface="Arial" charset="0"/>
                <a:ea typeface="ＭＳ Ｐゴシック" charset="0"/>
              </a:defRPr>
            </a:lvl9pPr>
          </a:lstStyle>
          <a:p>
            <a:pPr algn="ctr">
              <a:defRPr/>
            </a:pPr>
            <a:r>
              <a:rPr lang="en-US" sz="1100" dirty="0"/>
              <a:t>PYKC 1 Nov 2021</a:t>
            </a:r>
          </a:p>
        </p:txBody>
      </p:sp>
      <p:sp>
        <p:nvSpPr>
          <p:cNvPr id="1030" name="Rectangle 10">
            <a:extLst>
              <a:ext uri="{FF2B5EF4-FFF2-40B4-BE49-F238E27FC236}">
                <a16:creationId xmlns:a16="http://schemas.microsoft.com/office/drawing/2014/main" id="{10F80CBA-6930-CB43-8CD7-76B16A4E305D}"/>
              </a:ext>
            </a:extLst>
          </p:cNvPr>
          <p:cNvSpPr>
            <a:spLocks noChangeArrowheads="1"/>
          </p:cNvSpPr>
          <p:nvPr/>
        </p:nvSpPr>
        <p:spPr bwMode="auto">
          <a:xfrm>
            <a:off x="4040188" y="6519863"/>
            <a:ext cx="1790875" cy="261610"/>
          </a:xfrm>
          <a:prstGeom prst="rect">
            <a:avLst/>
          </a:prstGeom>
          <a:noFill/>
          <a:ln>
            <a:noFill/>
          </a:ln>
          <a:extLst>
            <a:ext uri="{909E8E84-426E-40dd-AFC4-6F175D3DCCD1}"/>
            <a:ext uri="{91240B29-F687-4f45-9708-019B960494DF}"/>
          </a:extLst>
        </p:spPr>
        <p:txBody>
          <a:bodyPr wrap="none">
            <a:spAutoFit/>
          </a:bodyPr>
          <a:lstStyle>
            <a:lvl1pPr eaLnBrk="0" hangingPunct="0">
              <a:defRPr sz="3200">
                <a:solidFill>
                  <a:schemeClr val="tx1"/>
                </a:solidFill>
                <a:latin typeface="Arial" charset="0"/>
                <a:ea typeface="ＭＳ Ｐゴシック" charset="-128"/>
              </a:defRPr>
            </a:lvl1pPr>
            <a:lvl2pPr marL="742950" indent="-285750" eaLnBrk="0" hangingPunct="0">
              <a:defRPr sz="3200">
                <a:solidFill>
                  <a:schemeClr val="tx1"/>
                </a:solidFill>
                <a:latin typeface="Arial" charset="0"/>
                <a:ea typeface="ＭＳ Ｐゴシック" charset="-128"/>
              </a:defRPr>
            </a:lvl2pPr>
            <a:lvl3pPr marL="1143000" indent="-228600" eaLnBrk="0" hangingPunct="0">
              <a:defRPr sz="3200">
                <a:solidFill>
                  <a:schemeClr val="tx1"/>
                </a:solidFill>
                <a:latin typeface="Arial" charset="0"/>
                <a:ea typeface="ＭＳ Ｐゴシック" charset="-128"/>
              </a:defRPr>
            </a:lvl3pPr>
            <a:lvl4pPr marL="1600200" indent="-228600" eaLnBrk="0" hangingPunct="0">
              <a:defRPr sz="3200">
                <a:solidFill>
                  <a:schemeClr val="tx1"/>
                </a:solidFill>
                <a:latin typeface="Arial" charset="0"/>
                <a:ea typeface="ＭＳ Ｐゴシック" charset="-128"/>
              </a:defRPr>
            </a:lvl4pPr>
            <a:lvl5pPr marL="2057400" indent="-228600" eaLnBrk="0" hangingPunct="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defRPr/>
            </a:pPr>
            <a:r>
              <a:rPr lang="en-US" altLang="x-none" sz="1100" dirty="0"/>
              <a:t>EE2 – Circuits &amp; Systems</a:t>
            </a:r>
          </a:p>
        </p:txBody>
      </p:sp>
      <p:sp>
        <p:nvSpPr>
          <p:cNvPr id="1031" name="Rectangle 11">
            <a:extLst>
              <a:ext uri="{FF2B5EF4-FFF2-40B4-BE49-F238E27FC236}">
                <a16:creationId xmlns:a16="http://schemas.microsoft.com/office/drawing/2014/main" id="{6E5A5AF5-8769-4242-84E0-874F542953F2}"/>
              </a:ext>
            </a:extLst>
          </p:cNvPr>
          <p:cNvSpPr>
            <a:spLocks noChangeArrowheads="1"/>
          </p:cNvSpPr>
          <p:nvPr/>
        </p:nvSpPr>
        <p:spPr bwMode="auto">
          <a:xfrm>
            <a:off x="381000" y="904875"/>
            <a:ext cx="9136063" cy="76200"/>
          </a:xfrm>
          <a:prstGeom prst="rect">
            <a:avLst/>
          </a:prstGeom>
          <a:gradFill rotWithShape="0">
            <a:gsLst>
              <a:gs pos="0">
                <a:srgbClr val="591E00"/>
              </a:gs>
              <a:gs pos="100000">
                <a:srgbClr val="993300"/>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defRPr/>
            </a:pPr>
            <a:endParaRPr lang="x-none" altLang="x-none"/>
          </a:p>
        </p:txBody>
      </p:sp>
      <p:sp>
        <p:nvSpPr>
          <p:cNvPr id="1032" name="Line 12">
            <a:extLst>
              <a:ext uri="{FF2B5EF4-FFF2-40B4-BE49-F238E27FC236}">
                <a16:creationId xmlns:a16="http://schemas.microsoft.com/office/drawing/2014/main" id="{B6B60679-22B7-2247-8B31-F79200015BFA}"/>
              </a:ext>
            </a:extLst>
          </p:cNvPr>
          <p:cNvSpPr>
            <a:spLocks noChangeShapeType="1"/>
          </p:cNvSpPr>
          <p:nvPr/>
        </p:nvSpPr>
        <p:spPr bwMode="auto">
          <a:xfrm>
            <a:off x="381000" y="6477000"/>
            <a:ext cx="9147175" cy="0"/>
          </a:xfrm>
          <a:prstGeom prst="line">
            <a:avLst/>
          </a:prstGeom>
          <a:noFill/>
          <a:ln w="38100">
            <a:solidFill>
              <a:srgbClr val="842C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ctr" rtl="0" eaLnBrk="0" fontAlgn="base" hangingPunct="0">
        <a:spcBef>
          <a:spcPct val="0"/>
        </a:spcBef>
        <a:spcAft>
          <a:spcPct val="0"/>
        </a:spcAft>
        <a:defRPr sz="2800" b="1">
          <a:solidFill>
            <a:schemeClr val="accent2"/>
          </a:solidFill>
          <a:latin typeface="Arial" charset="0"/>
        </a:defRPr>
      </a:lvl6pPr>
      <a:lvl7pPr marL="914400" algn="ctr" rtl="0" eaLnBrk="0" fontAlgn="base" hangingPunct="0">
        <a:spcBef>
          <a:spcPct val="0"/>
        </a:spcBef>
        <a:spcAft>
          <a:spcPct val="0"/>
        </a:spcAft>
        <a:defRPr sz="2800" b="1">
          <a:solidFill>
            <a:schemeClr val="accent2"/>
          </a:solidFill>
          <a:latin typeface="Arial" charset="0"/>
        </a:defRPr>
      </a:lvl7pPr>
      <a:lvl8pPr marL="1371600" algn="ctr" rtl="0" eaLnBrk="0" fontAlgn="base" hangingPunct="0">
        <a:spcBef>
          <a:spcPct val="0"/>
        </a:spcBef>
        <a:spcAft>
          <a:spcPct val="0"/>
        </a:spcAft>
        <a:defRPr sz="2800" b="1">
          <a:solidFill>
            <a:schemeClr val="accent2"/>
          </a:solidFill>
          <a:latin typeface="Arial" charset="0"/>
        </a:defRPr>
      </a:lvl8pPr>
      <a:lvl9pPr marL="1828800" algn="ctr" rtl="0" eaLnBrk="0" fontAlgn="base" hangingPunct="0">
        <a:spcBef>
          <a:spcPct val="0"/>
        </a:spcBef>
        <a:spcAft>
          <a:spcPct val="0"/>
        </a:spcAft>
        <a:defRPr sz="2800" b="1">
          <a:solidFill>
            <a:schemeClr val="accent2"/>
          </a:solidFill>
          <a:latin typeface="Arial" charset="0"/>
        </a:defRPr>
      </a:lvl9pPr>
    </p:titleStyle>
    <p:bodyStyle>
      <a:lvl1pPr marL="342900" indent="-342900" algn="l" rtl="0" eaLnBrk="0" fontAlgn="base" hangingPunct="0">
        <a:spcBef>
          <a:spcPct val="20000"/>
        </a:spcBef>
        <a:spcAft>
          <a:spcPct val="0"/>
        </a:spcAft>
        <a:buClr>
          <a:srgbClr val="842C00"/>
        </a:buClr>
        <a:buSzPct val="75000"/>
        <a:buFont typeface="Monotype Sorts" pitchFamily="2" charset="2"/>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pitchFamily="2" charset="2"/>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pitchFamily="2" charset="2"/>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pitchFamily="2" charset="2"/>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2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a:extLst>
              <a:ext uri="{FF2B5EF4-FFF2-40B4-BE49-F238E27FC236}">
                <a16:creationId xmlns:a16="http://schemas.microsoft.com/office/drawing/2014/main" id="{6800F459-4CC9-6A46-AB87-2AC3F7732DD2}"/>
              </a:ext>
            </a:extLst>
          </p:cNvPr>
          <p:cNvSpPr>
            <a:spLocks noGrp="1" noChangeArrowheads="1"/>
          </p:cNvSpPr>
          <p:nvPr>
            <p:ph type="title"/>
          </p:nvPr>
        </p:nvSpPr>
        <p:spPr>
          <a:xfrm>
            <a:off x="1638300" y="1916113"/>
            <a:ext cx="6483350" cy="2089150"/>
          </a:xfrm>
        </p:spPr>
        <p:txBody>
          <a:bodyPr/>
          <a:lstStyle/>
          <a:p>
            <a:r>
              <a:rPr lang="en-US" altLang="en-US" dirty="0">
                <a:latin typeface="Verdana" panose="020B0604030504040204" pitchFamily="34" charset="0"/>
                <a:ea typeface="ＭＳ Ｐゴシック" panose="020B0600070205080204" pitchFamily="34" charset="-128"/>
              </a:rPr>
              <a:t>Lecture 6</a:t>
            </a:r>
            <a:br>
              <a:rPr lang="en-US" altLang="en-US" dirty="0">
                <a:latin typeface="Verdana" panose="020B0604030504040204" pitchFamily="34" charset="0"/>
                <a:ea typeface="ＭＳ Ｐゴシック" panose="020B0600070205080204" pitchFamily="34" charset="-128"/>
              </a:rPr>
            </a:br>
            <a:br>
              <a:rPr lang="en-US" altLang="en-US" dirty="0">
                <a:latin typeface="Verdana" panose="020B0604030504040204" pitchFamily="34" charset="0"/>
                <a:ea typeface="ＭＳ Ｐゴシック" panose="020B0600070205080204" pitchFamily="34" charset="-128"/>
              </a:rPr>
            </a:br>
            <a:r>
              <a:rPr lang="en-US" altLang="en-US" dirty="0">
                <a:latin typeface="Verdana" panose="020B0604030504040204" pitchFamily="34" charset="0"/>
                <a:ea typeface="ＭＳ Ｐゴシック" panose="020B0600070205080204" pitchFamily="34" charset="-128"/>
              </a:rPr>
              <a:t>Verilog HDL</a:t>
            </a:r>
            <a:endParaRPr lang="en-US" altLang="en-US" sz="2000" b="0" dirty="0">
              <a:latin typeface="Verdana" panose="020B0604030504040204" pitchFamily="34" charset="0"/>
              <a:ea typeface="ＭＳ Ｐゴシック" panose="020B0600070205080204" pitchFamily="34" charset="-128"/>
            </a:endParaRPr>
          </a:p>
        </p:txBody>
      </p:sp>
      <p:sp>
        <p:nvSpPr>
          <p:cNvPr id="4098" name="Rectangle 3">
            <a:extLst>
              <a:ext uri="{FF2B5EF4-FFF2-40B4-BE49-F238E27FC236}">
                <a16:creationId xmlns:a16="http://schemas.microsoft.com/office/drawing/2014/main" id="{E1CA7CE9-BFB4-8A43-B1E8-3BFC5277439D}"/>
              </a:ext>
            </a:extLst>
          </p:cNvPr>
          <p:cNvSpPr>
            <a:spLocks noChangeArrowheads="1"/>
          </p:cNvSpPr>
          <p:nvPr/>
        </p:nvSpPr>
        <p:spPr bwMode="auto">
          <a:xfrm>
            <a:off x="1638300" y="4508500"/>
            <a:ext cx="67849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800">
                <a:solidFill>
                  <a:schemeClr val="accent2"/>
                </a:solidFill>
              </a:rPr>
              <a:t>Peter Cheung</a:t>
            </a:r>
            <a:br>
              <a:rPr lang="en-US" altLang="en-US" sz="1800">
                <a:solidFill>
                  <a:schemeClr val="accent2"/>
                </a:solidFill>
              </a:rPr>
            </a:br>
            <a:r>
              <a:rPr lang="en-US" altLang="en-US" sz="1800">
                <a:solidFill>
                  <a:schemeClr val="accent2"/>
                </a:solidFill>
              </a:rPr>
              <a:t>Imperial College London</a:t>
            </a:r>
          </a:p>
        </p:txBody>
      </p:sp>
      <p:sp>
        <p:nvSpPr>
          <p:cNvPr id="4099" name="Rectangle 4">
            <a:extLst>
              <a:ext uri="{FF2B5EF4-FFF2-40B4-BE49-F238E27FC236}">
                <a16:creationId xmlns:a16="http://schemas.microsoft.com/office/drawing/2014/main" id="{C000293F-61A0-184A-8CBF-C4CD89ABE20A}"/>
              </a:ext>
            </a:extLst>
          </p:cNvPr>
          <p:cNvSpPr>
            <a:spLocks noChangeArrowheads="1"/>
          </p:cNvSpPr>
          <p:nvPr/>
        </p:nvSpPr>
        <p:spPr bwMode="auto">
          <a:xfrm>
            <a:off x="1711325" y="5661025"/>
            <a:ext cx="65690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US" altLang="en-US" sz="1800" dirty="0">
                <a:solidFill>
                  <a:schemeClr val="accent2"/>
                </a:solidFill>
              </a:rPr>
              <a:t>URL: </a:t>
            </a:r>
            <a:r>
              <a:rPr lang="en-US" altLang="en-US" sz="1800" dirty="0" err="1">
                <a:solidFill>
                  <a:schemeClr val="accent2"/>
                </a:solidFill>
              </a:rPr>
              <a:t>www.ee.imperial.ac.uk</a:t>
            </a:r>
            <a:r>
              <a:rPr lang="en-US" altLang="en-US" sz="1800" dirty="0">
                <a:solidFill>
                  <a:schemeClr val="accent2"/>
                </a:solidFill>
              </a:rPr>
              <a:t>/</a:t>
            </a:r>
            <a:r>
              <a:rPr lang="en-US" altLang="en-US" sz="1800" dirty="0" err="1">
                <a:solidFill>
                  <a:schemeClr val="accent2"/>
                </a:solidFill>
              </a:rPr>
              <a:t>pcheung</a:t>
            </a:r>
            <a:r>
              <a:rPr lang="en-US" altLang="en-US" sz="1800" dirty="0">
                <a:solidFill>
                  <a:schemeClr val="accent2"/>
                </a:solidFill>
              </a:rPr>
              <a:t>/teaching/EE2_CAS/</a:t>
            </a:r>
            <a:br>
              <a:rPr lang="en-US" altLang="en-US" sz="1800" dirty="0">
                <a:solidFill>
                  <a:schemeClr val="accent2"/>
                </a:solidFill>
              </a:rPr>
            </a:br>
            <a:r>
              <a:rPr lang="en-US" altLang="en-US" sz="1800" dirty="0">
                <a:solidFill>
                  <a:schemeClr val="accent2"/>
                </a:solidFill>
              </a:rPr>
              <a:t>E-mail: </a:t>
            </a:r>
            <a:r>
              <a:rPr lang="en-US" altLang="en-US" sz="1800" dirty="0" err="1">
                <a:solidFill>
                  <a:schemeClr val="accent2"/>
                </a:solidFill>
              </a:rPr>
              <a:t>p.cheung@imperial.ac.uk</a:t>
            </a:r>
            <a:endParaRPr lang="en-US" altLang="en-US" sz="2800" dirty="0">
              <a:solidFill>
                <a:schemeClr val="accent2"/>
              </a:solidFill>
            </a:endParaRPr>
          </a:p>
        </p:txBody>
      </p:sp>
      <p:pic>
        <p:nvPicPr>
          <p:cNvPr id="4100" name="Picture 7">
            <a:extLst>
              <a:ext uri="{FF2B5EF4-FFF2-40B4-BE49-F238E27FC236}">
                <a16:creationId xmlns:a16="http://schemas.microsoft.com/office/drawing/2014/main" id="{CA41CBED-9694-E946-A63B-FE347AEAE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931" t="12744" b="12642"/>
          <a:stretch>
            <a:fillRect/>
          </a:stretch>
        </p:blipFill>
        <p:spPr bwMode="auto">
          <a:xfrm>
            <a:off x="342900" y="44450"/>
            <a:ext cx="259397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2BACB519-6FB1-4D46-94EF-ADCBBAEB0B5F}"/>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Lecture Objectives</a:t>
            </a:r>
          </a:p>
        </p:txBody>
      </p:sp>
      <p:sp>
        <p:nvSpPr>
          <p:cNvPr id="6146" name="Rectangle 3">
            <a:extLst>
              <a:ext uri="{FF2B5EF4-FFF2-40B4-BE49-F238E27FC236}">
                <a16:creationId xmlns:a16="http://schemas.microsoft.com/office/drawing/2014/main" id="{4DB26205-267D-0C4A-9BDE-FD75D52C76DA}"/>
              </a:ext>
            </a:extLst>
          </p:cNvPr>
          <p:cNvSpPr>
            <a:spLocks noGrp="1" noChangeArrowheads="1"/>
          </p:cNvSpPr>
          <p:nvPr>
            <p:ph type="body" idx="1"/>
          </p:nvPr>
        </p:nvSpPr>
        <p:spPr>
          <a:xfrm>
            <a:off x="558800" y="1125538"/>
            <a:ext cx="8932863" cy="5029200"/>
          </a:xfrm>
        </p:spPr>
        <p:txBody>
          <a:bodyPr/>
          <a:lstStyle/>
          <a:p>
            <a:r>
              <a:rPr lang="en-GB" altLang="en-US" sz="2400" dirty="0">
                <a:ea typeface="ＭＳ Ｐゴシック" panose="020B0600070205080204" pitchFamily="34" charset="-128"/>
              </a:rPr>
              <a:t>By the end of this lecture, you should understand:</a:t>
            </a:r>
          </a:p>
          <a:p>
            <a:pPr lvl="1"/>
            <a:r>
              <a:rPr lang="en-GB" altLang="en-US" sz="2200" dirty="0">
                <a:ea typeface="ＭＳ Ｐゴシック" panose="020B0600070205080204" pitchFamily="34" charset="-128"/>
              </a:rPr>
              <a:t>The basic structure of a module specified in Verilog HDL</a:t>
            </a:r>
          </a:p>
          <a:p>
            <a:pPr lvl="1"/>
            <a:r>
              <a:rPr lang="en-GB" altLang="en-US" sz="2200" dirty="0">
                <a:ea typeface="ＭＳ Ｐゴシック" panose="020B0600070205080204" pitchFamily="34" charset="-128"/>
              </a:rPr>
              <a:t>Commonly used syntax of Verilog HDL</a:t>
            </a:r>
          </a:p>
          <a:p>
            <a:pPr lvl="1"/>
            <a:r>
              <a:rPr lang="en-GB" altLang="en-US" sz="2200" dirty="0">
                <a:ea typeface="ＭＳ Ｐゴシック" panose="020B0600070205080204" pitchFamily="34" charset="-128"/>
              </a:rPr>
              <a:t>Continuous vs Procedural Assignments</a:t>
            </a:r>
          </a:p>
          <a:p>
            <a:pPr lvl="1"/>
            <a:r>
              <a:rPr lang="en-GB" altLang="en-US" sz="2200" b="1" dirty="0">
                <a:solidFill>
                  <a:srgbClr val="0000FF"/>
                </a:solidFill>
                <a:ea typeface="ＭＳ Ｐゴシック" panose="020B0600070205080204" pitchFamily="34" charset="-128"/>
              </a:rPr>
              <a:t>always</a:t>
            </a:r>
            <a:r>
              <a:rPr lang="en-GB" altLang="en-US" sz="2200" dirty="0">
                <a:ea typeface="ＭＳ Ｐゴシック" panose="020B0600070205080204" pitchFamily="34" charset="-128"/>
              </a:rPr>
              <a:t> block in Verilog </a:t>
            </a:r>
            <a:r>
              <a:rPr lang="en-GB" altLang="en-US" sz="2200" dirty="0" err="1">
                <a:ea typeface="ＭＳ Ｐゴシック" panose="020B0600070205080204" pitchFamily="34" charset="-128"/>
              </a:rPr>
              <a:t>amd</a:t>
            </a:r>
            <a:r>
              <a:rPr lang="en-GB" altLang="en-US" sz="2200" dirty="0">
                <a:ea typeface="ＭＳ Ｐゴシック" panose="020B0600070205080204" pitchFamily="34" charset="-128"/>
              </a:rPr>
              <a:t> sensitivity list</a:t>
            </a:r>
          </a:p>
          <a:p>
            <a:pPr lvl="1"/>
            <a:r>
              <a:rPr lang="en-GB" altLang="en-US" sz="2200" dirty="0">
                <a:ea typeface="ＭＳ Ｐゴシック" panose="020B0600070205080204" pitchFamily="34" charset="-128"/>
              </a:rPr>
              <a:t>Nets vs variables</a:t>
            </a:r>
          </a:p>
          <a:p>
            <a:pPr lvl="1">
              <a:buFont typeface="Symbol" charset="0"/>
              <a:buChar char="·"/>
              <a:defRPr/>
            </a:pPr>
            <a:r>
              <a:rPr lang="en-GB" sz="2400" dirty="0"/>
              <a:t>The use of arithmetic and logic operations in Verilog</a:t>
            </a:r>
          </a:p>
          <a:p>
            <a:pPr lvl="1">
              <a:buFont typeface="Symbol" charset="0"/>
              <a:buChar char="·"/>
              <a:defRPr/>
            </a:pPr>
            <a:r>
              <a:rPr lang="en-GB" sz="2400" dirty="0"/>
              <a:t>The danger of </a:t>
            </a:r>
            <a:r>
              <a:rPr lang="en-GB" sz="2400" b="1" dirty="0">
                <a:solidFill>
                  <a:srgbClr val="FF0000"/>
                </a:solidFill>
              </a:rPr>
              <a:t>incomplete specification</a:t>
            </a:r>
          </a:p>
          <a:p>
            <a:pPr lvl="1">
              <a:buFont typeface="Symbol" charset="0"/>
              <a:buChar char="·"/>
              <a:defRPr/>
            </a:pPr>
            <a:r>
              <a:rPr lang="en-GB" sz="2400" dirty="0"/>
              <a:t>How to specify </a:t>
            </a:r>
            <a:r>
              <a:rPr lang="en-GB" sz="2400" b="1" dirty="0">
                <a:solidFill>
                  <a:srgbClr val="FF0000"/>
                </a:solidFill>
              </a:rPr>
              <a:t>clocked circuits</a:t>
            </a:r>
          </a:p>
          <a:p>
            <a:pPr lvl="1">
              <a:buFont typeface="Symbol" charset="0"/>
              <a:buChar char="·"/>
              <a:defRPr/>
            </a:pPr>
            <a:r>
              <a:rPr lang="en-GB" sz="2400" dirty="0"/>
              <a:t>Differences between </a:t>
            </a:r>
            <a:r>
              <a:rPr lang="en-GB" sz="2400" b="1" dirty="0">
                <a:solidFill>
                  <a:srgbClr val="FF0000"/>
                </a:solidFill>
              </a:rPr>
              <a:t>blocking</a:t>
            </a:r>
            <a:r>
              <a:rPr lang="en-GB" sz="2400" dirty="0">
                <a:solidFill>
                  <a:srgbClr val="FF0000"/>
                </a:solidFill>
              </a:rPr>
              <a:t> </a:t>
            </a:r>
            <a:r>
              <a:rPr lang="en-GB" sz="2400" dirty="0"/>
              <a:t>and </a:t>
            </a:r>
            <a:r>
              <a:rPr lang="en-GB" sz="2400" b="1" dirty="0">
                <a:solidFill>
                  <a:srgbClr val="FF0000"/>
                </a:solidFill>
              </a:rPr>
              <a:t>nonblocking</a:t>
            </a:r>
            <a:r>
              <a:rPr lang="en-GB" sz="2400" dirty="0">
                <a:solidFill>
                  <a:srgbClr val="FF0000"/>
                </a:solidFill>
              </a:rPr>
              <a:t> </a:t>
            </a:r>
            <a:r>
              <a:rPr lang="en-GB" sz="2400" dirty="0"/>
              <a:t>assignments</a:t>
            </a:r>
          </a:p>
          <a:p>
            <a:pPr lvl="1"/>
            <a:endParaRPr lang="en-GB" altLang="en-US" sz="2200" dirty="0">
              <a:ea typeface="ＭＳ Ｐゴシック" panose="020B0600070205080204" pitchFamily="34" charset="-128"/>
            </a:endParaRPr>
          </a:p>
          <a:p>
            <a:endParaRPr lang="en-GB" altLang="en-US" sz="2400" dirty="0">
              <a:ea typeface="ＭＳ Ｐゴシック" panose="020B0600070205080204" pitchFamily="34" charset="-128"/>
            </a:endParaRPr>
          </a:p>
          <a:p>
            <a:endParaRPr lang="en-GB" altLang="en-US" sz="2400" dirty="0">
              <a:ea typeface="ＭＳ Ｐゴシック" panose="020B0600070205080204" pitchFamily="34" charset="-128"/>
            </a:endParaRPr>
          </a:p>
          <a:p>
            <a:endParaRPr lang="el-GR" altLang="en-US" sz="2400" dirty="0">
              <a:ea typeface="ＭＳ Ｐゴシック" panose="020B0600070205080204" pitchFamily="34" charset="-128"/>
            </a:endParaRPr>
          </a:p>
        </p:txBody>
      </p:sp>
    </p:spTree>
  </p:cSld>
  <p:clrMapOvr>
    <a:masterClrMapping/>
  </p:clrMapOvr>
  <p:transition>
    <p:checke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067DA3CD-2E1D-0046-B2C0-4C40AB347B20}"/>
              </a:ext>
            </a:extLst>
          </p:cNvPr>
          <p:cNvSpPr>
            <a:spLocks noGrp="1" noChangeArrowheads="1"/>
          </p:cNvSpPr>
          <p:nvPr>
            <p:ph type="title"/>
          </p:nvPr>
        </p:nvSpPr>
        <p:spPr>
          <a:xfrm>
            <a:off x="774700" y="115888"/>
            <a:ext cx="8420100" cy="433387"/>
          </a:xfrm>
        </p:spPr>
        <p:txBody>
          <a:bodyPr tIns="0" bIns="0" anchorCtr="1"/>
          <a:lstStyle/>
          <a:p>
            <a:br>
              <a:rPr lang="en-GB" altLang="en-US">
                <a:ea typeface="ＭＳ Ｐゴシック" panose="020B0600070205080204" pitchFamily="34" charset="-128"/>
              </a:rPr>
            </a:br>
            <a:r>
              <a:rPr lang="en-GB" altLang="en-US">
                <a:ea typeface="ＭＳ Ｐゴシック" panose="020B0600070205080204" pitchFamily="34" charset="-128"/>
              </a:rPr>
              <a:t>Schematic vs  HDL</a:t>
            </a:r>
          </a:p>
        </p:txBody>
      </p:sp>
      <p:sp>
        <p:nvSpPr>
          <p:cNvPr id="8194" name="Rectangle 3">
            <a:extLst>
              <a:ext uri="{FF2B5EF4-FFF2-40B4-BE49-F238E27FC236}">
                <a16:creationId xmlns:a16="http://schemas.microsoft.com/office/drawing/2014/main" id="{AD42A745-4752-E34A-B170-B1A787F84102}"/>
              </a:ext>
            </a:extLst>
          </p:cNvPr>
          <p:cNvSpPr txBox="1">
            <a:spLocks noChangeArrowheads="1"/>
          </p:cNvSpPr>
          <p:nvPr/>
        </p:nvSpPr>
        <p:spPr bwMode="auto">
          <a:xfrm>
            <a:off x="342900" y="1479550"/>
            <a:ext cx="4249738" cy="48291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40000"/>
              </a:spcBef>
              <a:buFont typeface="Wingdings" pitchFamily="2" charset="2"/>
              <a:buChar char="ü"/>
            </a:pPr>
            <a:r>
              <a:rPr lang="en-GB" altLang="en-US" sz="1600"/>
              <a:t>Good for multiple data flow</a:t>
            </a:r>
          </a:p>
          <a:p>
            <a:pPr>
              <a:spcBef>
                <a:spcPct val="40000"/>
              </a:spcBef>
              <a:buFont typeface="Wingdings" pitchFamily="2" charset="2"/>
              <a:buChar char="ü"/>
            </a:pPr>
            <a:r>
              <a:rPr lang="en-GB" altLang="en-US" sz="1600"/>
              <a:t>Give overview picture</a:t>
            </a:r>
          </a:p>
          <a:p>
            <a:pPr>
              <a:spcBef>
                <a:spcPct val="40000"/>
              </a:spcBef>
              <a:buFont typeface="Wingdings" pitchFamily="2" charset="2"/>
              <a:buChar char="ü"/>
            </a:pPr>
            <a:r>
              <a:rPr lang="en-GB" altLang="en-US" sz="1600"/>
              <a:t>Relate directly to hardware</a:t>
            </a:r>
          </a:p>
          <a:p>
            <a:pPr>
              <a:spcBef>
                <a:spcPct val="40000"/>
              </a:spcBef>
              <a:buFont typeface="Wingdings" pitchFamily="2" charset="2"/>
              <a:buChar char="ü"/>
            </a:pPr>
            <a:r>
              <a:rPr lang="en-GB" altLang="en-US" sz="1600"/>
              <a:t>Don’t need good programming skills</a:t>
            </a:r>
          </a:p>
          <a:p>
            <a:pPr>
              <a:spcBef>
                <a:spcPct val="40000"/>
              </a:spcBef>
              <a:buFont typeface="Wingdings" pitchFamily="2" charset="2"/>
              <a:buChar char="ü"/>
            </a:pPr>
            <a:r>
              <a:rPr lang="en-GB" altLang="en-US" sz="1600"/>
              <a:t>High information density</a:t>
            </a:r>
          </a:p>
          <a:p>
            <a:pPr>
              <a:spcBef>
                <a:spcPct val="40000"/>
              </a:spcBef>
              <a:buFont typeface="Wingdings" pitchFamily="2" charset="2"/>
              <a:buChar char="ü"/>
            </a:pPr>
            <a:r>
              <a:rPr lang="en-GB" altLang="en-US" sz="1600"/>
              <a:t>Easy back annotations</a:t>
            </a:r>
          </a:p>
          <a:p>
            <a:pPr>
              <a:spcBef>
                <a:spcPct val="40000"/>
              </a:spcBef>
              <a:buFont typeface="Wingdings" pitchFamily="2" charset="2"/>
              <a:buChar char="ü"/>
            </a:pPr>
            <a:r>
              <a:rPr lang="en-GB" altLang="en-US" sz="1600"/>
              <a:t>Useful for mixed analogue/digital</a:t>
            </a:r>
          </a:p>
          <a:p>
            <a:pPr>
              <a:spcBef>
                <a:spcPct val="40000"/>
              </a:spcBef>
              <a:buFont typeface="Wingdings" pitchFamily="2" charset="2"/>
              <a:buChar char="ü"/>
            </a:pPr>
            <a:endParaRPr lang="en-GB" altLang="en-US" sz="1600"/>
          </a:p>
          <a:p>
            <a:pPr>
              <a:spcBef>
                <a:spcPct val="40000"/>
              </a:spcBef>
              <a:buFont typeface="Wingdings" pitchFamily="2" charset="2"/>
              <a:buChar char="✕"/>
            </a:pPr>
            <a:r>
              <a:rPr lang="en-GB" altLang="en-US" sz="1600"/>
              <a:t>Not good for algorithms</a:t>
            </a:r>
          </a:p>
          <a:p>
            <a:pPr>
              <a:spcBef>
                <a:spcPct val="40000"/>
              </a:spcBef>
              <a:buFont typeface="Wingdings" pitchFamily="2" charset="2"/>
              <a:buChar char="✕"/>
            </a:pPr>
            <a:r>
              <a:rPr lang="en-GB" altLang="en-US" sz="1600"/>
              <a:t>Not good for datapaths</a:t>
            </a:r>
          </a:p>
          <a:p>
            <a:pPr>
              <a:spcBef>
                <a:spcPct val="40000"/>
              </a:spcBef>
              <a:buFont typeface="Wingdings" pitchFamily="2" charset="2"/>
              <a:buChar char="✕"/>
            </a:pPr>
            <a:r>
              <a:rPr lang="en-GB" altLang="en-US" sz="1600"/>
              <a:t>Poor interface to optimiser</a:t>
            </a:r>
          </a:p>
          <a:p>
            <a:pPr>
              <a:spcBef>
                <a:spcPct val="40000"/>
              </a:spcBef>
              <a:buFont typeface="Wingdings" pitchFamily="2" charset="2"/>
              <a:buChar char="✕"/>
            </a:pPr>
            <a:r>
              <a:rPr lang="en-GB" altLang="en-US" sz="1600"/>
              <a:t>Poor interface to synthesis software</a:t>
            </a:r>
          </a:p>
          <a:p>
            <a:pPr>
              <a:spcBef>
                <a:spcPct val="40000"/>
              </a:spcBef>
              <a:buFont typeface="Wingdings" pitchFamily="2" charset="2"/>
              <a:buChar char="✕"/>
            </a:pPr>
            <a:r>
              <a:rPr lang="en-GB" altLang="en-US" sz="1600"/>
              <a:t>Difficult to reuse</a:t>
            </a:r>
          </a:p>
          <a:p>
            <a:pPr>
              <a:spcBef>
                <a:spcPct val="40000"/>
              </a:spcBef>
              <a:buFont typeface="Wingdings" pitchFamily="2" charset="2"/>
              <a:buChar char="✕"/>
            </a:pPr>
            <a:r>
              <a:rPr lang="en-GB" altLang="en-US" sz="1600"/>
              <a:t>Difficult to parameterise</a:t>
            </a:r>
          </a:p>
        </p:txBody>
      </p:sp>
      <p:sp>
        <p:nvSpPr>
          <p:cNvPr id="8195" name="Rectangle 3">
            <a:extLst>
              <a:ext uri="{FF2B5EF4-FFF2-40B4-BE49-F238E27FC236}">
                <a16:creationId xmlns:a16="http://schemas.microsoft.com/office/drawing/2014/main" id="{22C28997-F810-EC48-B2D9-1B50D1E52FC2}"/>
              </a:ext>
            </a:extLst>
          </p:cNvPr>
          <p:cNvSpPr txBox="1">
            <a:spLocks noChangeArrowheads="1"/>
          </p:cNvSpPr>
          <p:nvPr/>
        </p:nvSpPr>
        <p:spPr bwMode="auto">
          <a:xfrm>
            <a:off x="4881563" y="1485900"/>
            <a:ext cx="4826000" cy="48228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40000"/>
              </a:spcBef>
              <a:buFont typeface="Wingdings" pitchFamily="2" charset="2"/>
              <a:buChar char="ü"/>
            </a:pPr>
            <a:r>
              <a:rPr lang="en-GB" altLang="en-US" sz="1600"/>
              <a:t>Flexible &amp; parameterisable</a:t>
            </a:r>
          </a:p>
          <a:p>
            <a:pPr>
              <a:spcBef>
                <a:spcPct val="40000"/>
              </a:spcBef>
              <a:buFont typeface="Wingdings" pitchFamily="2" charset="2"/>
              <a:buChar char="ü"/>
            </a:pPr>
            <a:r>
              <a:rPr lang="en-GB" altLang="en-US" sz="1600"/>
              <a:t>Excellent input to optimisation &amp; synthesis</a:t>
            </a:r>
          </a:p>
          <a:p>
            <a:pPr>
              <a:spcBef>
                <a:spcPct val="40000"/>
              </a:spcBef>
              <a:buFont typeface="Wingdings" pitchFamily="2" charset="2"/>
              <a:buChar char="ü"/>
            </a:pPr>
            <a:r>
              <a:rPr lang="en-GB" altLang="en-US" sz="1600"/>
              <a:t>Direct mapping to algorithms</a:t>
            </a:r>
          </a:p>
          <a:p>
            <a:pPr>
              <a:spcBef>
                <a:spcPct val="40000"/>
              </a:spcBef>
              <a:buFont typeface="Wingdings" pitchFamily="2" charset="2"/>
              <a:buChar char="ü"/>
            </a:pPr>
            <a:r>
              <a:rPr lang="en-GB" altLang="en-US" sz="1600"/>
              <a:t>Excellent for datapaths</a:t>
            </a:r>
          </a:p>
          <a:p>
            <a:pPr>
              <a:spcBef>
                <a:spcPct val="40000"/>
              </a:spcBef>
              <a:buFont typeface="Wingdings" pitchFamily="2" charset="2"/>
              <a:buChar char="ü"/>
            </a:pPr>
            <a:r>
              <a:rPr lang="en-GB" altLang="en-US" sz="1600"/>
              <a:t>Easy to handle electronically (only needing a text editor)</a:t>
            </a:r>
          </a:p>
          <a:p>
            <a:pPr>
              <a:spcBef>
                <a:spcPct val="40000"/>
              </a:spcBef>
              <a:buFont typeface="Wingdings" pitchFamily="2" charset="2"/>
              <a:buChar char="ü"/>
            </a:pPr>
            <a:endParaRPr lang="en-GB" altLang="en-US" sz="1600"/>
          </a:p>
          <a:p>
            <a:pPr>
              <a:spcBef>
                <a:spcPct val="40000"/>
              </a:spcBef>
              <a:buFont typeface="Wingdings" pitchFamily="2" charset="2"/>
              <a:buChar char="ü"/>
            </a:pPr>
            <a:endParaRPr lang="en-GB" altLang="en-US" sz="1600"/>
          </a:p>
          <a:p>
            <a:pPr>
              <a:spcBef>
                <a:spcPct val="40000"/>
              </a:spcBef>
              <a:buFont typeface="Wingdings" pitchFamily="2" charset="2"/>
              <a:buChar char="✕"/>
            </a:pPr>
            <a:r>
              <a:rPr lang="en-GB" altLang="en-US" sz="1600"/>
              <a:t>Serial representation</a:t>
            </a:r>
          </a:p>
          <a:p>
            <a:pPr>
              <a:spcBef>
                <a:spcPct val="40000"/>
              </a:spcBef>
              <a:buFont typeface="Wingdings" pitchFamily="2" charset="2"/>
              <a:buChar char="✕"/>
            </a:pPr>
            <a:r>
              <a:rPr lang="en-GB" altLang="en-US" sz="1600"/>
              <a:t>May not show overall picture</a:t>
            </a:r>
          </a:p>
          <a:p>
            <a:pPr>
              <a:spcBef>
                <a:spcPct val="40000"/>
              </a:spcBef>
              <a:buFont typeface="Wingdings" pitchFamily="2" charset="2"/>
              <a:buChar char="✕"/>
            </a:pPr>
            <a:r>
              <a:rPr lang="en-GB" altLang="en-US" sz="1600"/>
              <a:t>Need good programming skills</a:t>
            </a:r>
          </a:p>
          <a:p>
            <a:pPr>
              <a:spcBef>
                <a:spcPct val="40000"/>
              </a:spcBef>
              <a:buFont typeface="Wingdings" pitchFamily="2" charset="2"/>
              <a:buChar char="✕"/>
            </a:pPr>
            <a:r>
              <a:rPr lang="en-GB" altLang="en-US" sz="1600"/>
              <a:t>Divorce from physical hardware</a:t>
            </a:r>
          </a:p>
          <a:p>
            <a:pPr>
              <a:spcBef>
                <a:spcPct val="40000"/>
              </a:spcBef>
              <a:buFont typeface="Monotype Sorts" pitchFamily="2" charset="2"/>
              <a:buNone/>
            </a:pPr>
            <a:endParaRPr lang="en-GB" altLang="en-US" sz="1600"/>
          </a:p>
        </p:txBody>
      </p:sp>
      <p:sp>
        <p:nvSpPr>
          <p:cNvPr id="8196" name="Rectangle 2">
            <a:extLst>
              <a:ext uri="{FF2B5EF4-FFF2-40B4-BE49-F238E27FC236}">
                <a16:creationId xmlns:a16="http://schemas.microsoft.com/office/drawing/2014/main" id="{243F4D92-138E-3049-AE5A-8B8F70ED4A09}"/>
              </a:ext>
            </a:extLst>
          </p:cNvPr>
          <p:cNvSpPr txBox="1">
            <a:spLocks noChangeArrowheads="1"/>
          </p:cNvSpPr>
          <p:nvPr/>
        </p:nvSpPr>
        <p:spPr bwMode="auto">
          <a:xfrm>
            <a:off x="847725" y="1052513"/>
            <a:ext cx="2952750" cy="36036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GB" altLang="en-US" b="1">
                <a:solidFill>
                  <a:schemeClr val="accent2"/>
                </a:solidFill>
              </a:rPr>
              <a:t>Schematic</a:t>
            </a:r>
          </a:p>
        </p:txBody>
      </p:sp>
      <p:sp>
        <p:nvSpPr>
          <p:cNvPr id="8197" name="Rectangle 2">
            <a:extLst>
              <a:ext uri="{FF2B5EF4-FFF2-40B4-BE49-F238E27FC236}">
                <a16:creationId xmlns:a16="http://schemas.microsoft.com/office/drawing/2014/main" id="{FD6A9F1D-B850-504C-88B4-3D702F25EE88}"/>
              </a:ext>
            </a:extLst>
          </p:cNvPr>
          <p:cNvSpPr txBox="1">
            <a:spLocks noChangeArrowheads="1"/>
          </p:cNvSpPr>
          <p:nvPr/>
        </p:nvSpPr>
        <p:spPr bwMode="auto">
          <a:xfrm>
            <a:off x="5673725" y="1052513"/>
            <a:ext cx="2952750" cy="360362"/>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GB" altLang="en-US" b="1">
                <a:solidFill>
                  <a:schemeClr val="accent2"/>
                </a:solidFill>
              </a:rPr>
              <a:t>HDL</a:t>
            </a:r>
          </a:p>
        </p:txBody>
      </p:sp>
    </p:spTree>
  </p:cSld>
  <p:clrMapOvr>
    <a:masterClrMapping/>
  </p:clrMapOvr>
  <p:transition>
    <p:checke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B72D5CDB-5838-B047-A81A-2B4EFB86F0E4}"/>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Verilog HDL</a:t>
            </a:r>
          </a:p>
        </p:txBody>
      </p:sp>
      <p:sp>
        <p:nvSpPr>
          <p:cNvPr id="10242" name="Rectangle 3">
            <a:extLst>
              <a:ext uri="{FF2B5EF4-FFF2-40B4-BE49-F238E27FC236}">
                <a16:creationId xmlns:a16="http://schemas.microsoft.com/office/drawing/2014/main" id="{DADF1AB4-8317-5A44-B18C-B690023951B1}"/>
              </a:ext>
            </a:extLst>
          </p:cNvPr>
          <p:cNvSpPr>
            <a:spLocks noGrp="1" noChangeArrowheads="1"/>
          </p:cNvSpPr>
          <p:nvPr>
            <p:ph type="body" idx="1"/>
          </p:nvPr>
        </p:nvSpPr>
        <p:spPr>
          <a:xfrm>
            <a:off x="558800" y="1125538"/>
            <a:ext cx="8932863" cy="5183187"/>
          </a:xfrm>
        </p:spPr>
        <p:txBody>
          <a:bodyPr/>
          <a:lstStyle/>
          <a:p>
            <a:r>
              <a:rPr lang="en-GB" altLang="en-US">
                <a:ea typeface="ＭＳ Ｐゴシック" panose="020B0600070205080204" pitchFamily="34" charset="-128"/>
              </a:rPr>
              <a:t>Similar to C language to describe/specify hardware</a:t>
            </a:r>
          </a:p>
          <a:p>
            <a:r>
              <a:rPr lang="en-GB" altLang="en-US">
                <a:ea typeface="ＭＳ Ｐゴシック" panose="020B0600070205080204" pitchFamily="34" charset="-128"/>
              </a:rPr>
              <a:t>Description can be at different levels:</a:t>
            </a:r>
          </a:p>
          <a:p>
            <a:pPr lvl="1"/>
            <a:r>
              <a:rPr lang="en-GB" altLang="en-US" sz="2000" b="1">
                <a:ea typeface="ＭＳ Ｐゴシック" panose="020B0600070205080204" pitchFamily="34" charset="-128"/>
              </a:rPr>
              <a:t>Behavioural level</a:t>
            </a:r>
          </a:p>
          <a:p>
            <a:pPr lvl="1"/>
            <a:r>
              <a:rPr lang="en-GB" altLang="en-US" sz="2000" b="1">
                <a:ea typeface="ＭＳ Ｐゴシック" panose="020B0600070205080204" pitchFamily="34" charset="-128"/>
              </a:rPr>
              <a:t>Register-Transfer Level (RTL)</a:t>
            </a:r>
          </a:p>
          <a:p>
            <a:pPr lvl="1"/>
            <a:r>
              <a:rPr lang="en-GB" altLang="en-US" sz="2000" b="1">
                <a:ea typeface="ＭＳ Ｐゴシック" panose="020B0600070205080204" pitchFamily="34" charset="-128"/>
              </a:rPr>
              <a:t>Gate Level</a:t>
            </a:r>
          </a:p>
          <a:p>
            <a:r>
              <a:rPr lang="en-GB" altLang="en-US">
                <a:ea typeface="ＭＳ Ｐゴシック" panose="020B0600070205080204" pitchFamily="34" charset="-128"/>
              </a:rPr>
              <a:t>Not only a specification language, also with associated </a:t>
            </a:r>
            <a:r>
              <a:rPr lang="en-GB" altLang="en-US" b="1">
                <a:solidFill>
                  <a:srgbClr val="0000FF"/>
                </a:solidFill>
                <a:ea typeface="ＭＳ Ｐゴシック" panose="020B0600070205080204" pitchFamily="34" charset="-128"/>
              </a:rPr>
              <a:t>simulation</a:t>
            </a:r>
            <a:r>
              <a:rPr lang="en-GB" altLang="en-US">
                <a:solidFill>
                  <a:srgbClr val="0000FF"/>
                </a:solidFill>
                <a:ea typeface="ＭＳ Ｐゴシック" panose="020B0600070205080204" pitchFamily="34" charset="-128"/>
              </a:rPr>
              <a:t> </a:t>
            </a:r>
            <a:r>
              <a:rPr lang="en-GB" altLang="en-US" b="1">
                <a:solidFill>
                  <a:srgbClr val="0000FF"/>
                </a:solidFill>
                <a:ea typeface="ＭＳ Ｐゴシック" panose="020B0600070205080204" pitchFamily="34" charset="-128"/>
              </a:rPr>
              <a:t>environment</a:t>
            </a:r>
          </a:p>
          <a:p>
            <a:r>
              <a:rPr lang="en-GB" altLang="en-US">
                <a:ea typeface="ＭＳ Ｐゴシック" panose="020B0600070205080204" pitchFamily="34" charset="-128"/>
              </a:rPr>
              <a:t>Easier to learn and “lighter weight” than its competition: VHDL</a:t>
            </a:r>
          </a:p>
          <a:p>
            <a:r>
              <a:rPr lang="en-GB" altLang="en-US">
                <a:ea typeface="ＭＳ Ｐゴシック" panose="020B0600070205080204" pitchFamily="34" charset="-128"/>
              </a:rPr>
              <a:t>Very popular with chip designers</a:t>
            </a:r>
          </a:p>
          <a:p>
            <a:endParaRPr lang="en-GB" altLang="en-US">
              <a:ea typeface="ＭＳ Ｐゴシック" panose="020B0600070205080204" pitchFamily="34" charset="-128"/>
            </a:endParaRPr>
          </a:p>
          <a:p>
            <a:r>
              <a:rPr lang="en-GB" altLang="en-US">
                <a:ea typeface="ＭＳ Ｐゴシック" panose="020B0600070205080204" pitchFamily="34" charset="-128"/>
              </a:rPr>
              <a:t>For this lecture, we will:</a:t>
            </a:r>
          </a:p>
          <a:p>
            <a:pPr lvl="1">
              <a:buFont typeface="Wingdings" pitchFamily="2" charset="2"/>
              <a:buChar char="q"/>
            </a:pPr>
            <a:r>
              <a:rPr lang="en-GB" altLang="en-US" sz="2000">
                <a:ea typeface="ＭＳ Ｐゴシック" panose="020B0600070205080204" pitchFamily="34" charset="-128"/>
              </a:rPr>
              <a:t>Learn through examples and practical exercises</a:t>
            </a:r>
          </a:p>
          <a:p>
            <a:pPr lvl="1">
              <a:buFont typeface="Wingdings" pitchFamily="2" charset="2"/>
              <a:buChar char="q"/>
            </a:pPr>
            <a:r>
              <a:rPr lang="en-GB" altLang="en-US" sz="2000">
                <a:ea typeface="ＭＳ Ｐゴシック" panose="020B0600070205080204" pitchFamily="34" charset="-128"/>
              </a:rPr>
              <a:t>Use two examples: 2-to-1 multiplexer and 7 segment decoder</a:t>
            </a:r>
          </a:p>
          <a:p>
            <a:endParaRPr lang="en-GB" altLang="en-US" sz="2400">
              <a:ea typeface="ＭＳ Ｐゴシック" panose="020B0600070205080204" pitchFamily="34" charset="-128"/>
            </a:endParaRPr>
          </a:p>
          <a:p>
            <a:endParaRPr lang="el-GR" altLang="en-US">
              <a:ea typeface="ＭＳ Ｐゴシック" panose="020B0600070205080204" pitchFamily="34" charset="-128"/>
            </a:endParaRPr>
          </a:p>
        </p:txBody>
      </p:sp>
    </p:spTree>
  </p:cSld>
  <p:clrMapOvr>
    <a:masterClrMapping/>
  </p:clrMapOvr>
  <p:transition>
    <p:checke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571F2BE2-5026-6141-B069-B9141B55FA48}"/>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Structure of a Module</a:t>
            </a:r>
          </a:p>
        </p:txBody>
      </p:sp>
      <p:sp>
        <p:nvSpPr>
          <p:cNvPr id="12290" name="Rectangle 3">
            <a:extLst>
              <a:ext uri="{FF2B5EF4-FFF2-40B4-BE49-F238E27FC236}">
                <a16:creationId xmlns:a16="http://schemas.microsoft.com/office/drawing/2014/main" id="{EA8CA7CB-ABB3-0B4C-8D59-6362EBAF3FCE}"/>
              </a:ext>
            </a:extLst>
          </p:cNvPr>
          <p:cNvSpPr txBox="1">
            <a:spLocks noChangeArrowheads="1"/>
          </p:cNvSpPr>
          <p:nvPr/>
        </p:nvSpPr>
        <p:spPr bwMode="auto">
          <a:xfrm>
            <a:off x="558800" y="1125538"/>
            <a:ext cx="511492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sz="1800"/>
              <a:t>Verilog design contains </a:t>
            </a:r>
            <a:r>
              <a:rPr lang="en-GB" altLang="en-US" sz="1800" b="1">
                <a:solidFill>
                  <a:srgbClr val="CC0000"/>
                </a:solidFill>
              </a:rPr>
              <a:t>interconnected modules</a:t>
            </a:r>
          </a:p>
          <a:p>
            <a:r>
              <a:rPr lang="en-GB" altLang="en-US" sz="1800"/>
              <a:t>A module has collections of low-level gates, statements, and other modules</a:t>
            </a:r>
          </a:p>
          <a:p>
            <a:r>
              <a:rPr lang="en-GB" altLang="en-US" sz="1800"/>
              <a:t>Here is an example of a simple module that describes a 2-to-1 multiplexer:</a:t>
            </a:r>
          </a:p>
          <a:p>
            <a:endParaRPr lang="en-GB" altLang="en-US" sz="1800"/>
          </a:p>
          <a:p>
            <a:endParaRPr lang="en-GB" altLang="en-US" sz="1800"/>
          </a:p>
          <a:p>
            <a:endParaRPr lang="el-GR" altLang="en-US" sz="1800"/>
          </a:p>
        </p:txBody>
      </p:sp>
      <p:pic>
        <p:nvPicPr>
          <p:cNvPr id="12291" name="Picture 3">
            <a:extLst>
              <a:ext uri="{FF2B5EF4-FFF2-40B4-BE49-F238E27FC236}">
                <a16:creationId xmlns:a16="http://schemas.microsoft.com/office/drawing/2014/main" id="{FE83CD23-6A06-864B-BE9C-06715CF7B5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3263" y="3336925"/>
            <a:ext cx="4505325" cy="304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Rectangle 3">
            <a:extLst>
              <a:ext uri="{FF2B5EF4-FFF2-40B4-BE49-F238E27FC236}">
                <a16:creationId xmlns:a16="http://schemas.microsoft.com/office/drawing/2014/main" id="{49EA74D9-A950-7F49-ACE7-175DC8A996DD}"/>
              </a:ext>
            </a:extLst>
          </p:cNvPr>
          <p:cNvSpPr txBox="1">
            <a:spLocks noChangeArrowheads="1"/>
          </p:cNvSpPr>
          <p:nvPr/>
        </p:nvSpPr>
        <p:spPr bwMode="auto">
          <a:xfrm>
            <a:off x="5529263" y="3141663"/>
            <a:ext cx="417830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sz="1600"/>
              <a:t>//  to end-of-line is comment. Can also use /* … */ for multiline comments</a:t>
            </a:r>
            <a:endParaRPr lang="en-GB" altLang="en-US" sz="2800"/>
          </a:p>
          <a:p>
            <a:r>
              <a:rPr lang="en-GB" altLang="en-US" sz="1600"/>
              <a:t>Declare and name module; list its ports; terminate with ‘;’</a:t>
            </a:r>
          </a:p>
          <a:p>
            <a:endParaRPr lang="en-GB" altLang="en-US" sz="1600"/>
          </a:p>
          <a:p>
            <a:r>
              <a:rPr lang="en-GB" altLang="en-US" sz="1600"/>
              <a:t>Specify port as input, output (or inout if bidirectional)</a:t>
            </a:r>
          </a:p>
          <a:p>
            <a:endParaRPr lang="en-GB" altLang="en-US" sz="1600"/>
          </a:p>
          <a:p>
            <a:r>
              <a:rPr lang="en-GB" altLang="en-US" sz="1600"/>
              <a:t>Express modules behaviour; each statement executes in parallel; </a:t>
            </a:r>
            <a:r>
              <a:rPr lang="en-GB" altLang="en-US" sz="1600">
                <a:solidFill>
                  <a:srgbClr val="CC0000"/>
                </a:solidFill>
              </a:rPr>
              <a:t>ORDER DOES NOT MATTER</a:t>
            </a:r>
            <a:endParaRPr lang="el-GR" altLang="en-US" sz="1600">
              <a:solidFill>
                <a:srgbClr val="CC0000"/>
              </a:solidFill>
            </a:endParaRPr>
          </a:p>
        </p:txBody>
      </p:sp>
      <p:sp>
        <p:nvSpPr>
          <p:cNvPr id="12293" name="Rectangle 4">
            <a:extLst>
              <a:ext uri="{FF2B5EF4-FFF2-40B4-BE49-F238E27FC236}">
                <a16:creationId xmlns:a16="http://schemas.microsoft.com/office/drawing/2014/main" id="{83EFCAAC-4EBC-6046-9723-309ED4FE150D}"/>
              </a:ext>
            </a:extLst>
          </p:cNvPr>
          <p:cNvSpPr>
            <a:spLocks noChangeArrowheads="1"/>
          </p:cNvSpPr>
          <p:nvPr/>
        </p:nvSpPr>
        <p:spPr bwMode="auto">
          <a:xfrm>
            <a:off x="487363" y="4437063"/>
            <a:ext cx="9147175" cy="647700"/>
          </a:xfrm>
          <a:prstGeom prst="rect">
            <a:avLst/>
          </a:prstGeom>
          <a:solidFill>
            <a:srgbClr val="FF9300">
              <a:alpha val="50980"/>
            </a:srgbClr>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28" name="Rectangle 27">
            <a:extLst>
              <a:ext uri="{FF2B5EF4-FFF2-40B4-BE49-F238E27FC236}">
                <a16:creationId xmlns:a16="http://schemas.microsoft.com/office/drawing/2014/main" id="{88BE722C-0C66-3040-8EE2-F4284A7CD3E8}"/>
              </a:ext>
            </a:extLst>
          </p:cNvPr>
          <p:cNvSpPr/>
          <p:nvPr/>
        </p:nvSpPr>
        <p:spPr bwMode="auto">
          <a:xfrm>
            <a:off x="414338" y="5300663"/>
            <a:ext cx="9220200" cy="792162"/>
          </a:xfrm>
          <a:prstGeom prst="rect">
            <a:avLst/>
          </a:prstGeom>
          <a:solidFill>
            <a:schemeClr val="accent2">
              <a:lumMod val="40000"/>
              <a:lumOff val="60000"/>
              <a:alpha val="51000"/>
            </a:schemeClr>
          </a:solidFill>
          <a:ln w="12700" cap="flat" cmpd="sng" algn="ctr">
            <a:noFill/>
            <a:prstDash val="solid"/>
            <a:round/>
            <a:headEnd type="none" w="sm" len="sm"/>
            <a:tailEnd type="none" w="sm" len="sm"/>
          </a:ln>
          <a:effectLst/>
        </p:spPr>
        <p:txBody>
          <a:bodyPr/>
          <a:lstStyle/>
          <a:p>
            <a:pPr>
              <a:defRPr/>
            </a:pPr>
            <a:endParaRPr lang="en-US">
              <a:latin typeface="Arial" charset="0"/>
              <a:ea typeface="ＭＳ Ｐゴシック" charset="0"/>
              <a:cs typeface="ＭＳ Ｐゴシック" charset="0"/>
            </a:endParaRPr>
          </a:p>
        </p:txBody>
      </p:sp>
      <p:sp>
        <p:nvSpPr>
          <p:cNvPr id="12295" name="TextBox 1">
            <a:extLst>
              <a:ext uri="{FF2B5EF4-FFF2-40B4-BE49-F238E27FC236}">
                <a16:creationId xmlns:a16="http://schemas.microsoft.com/office/drawing/2014/main" id="{2EE7B991-F961-9C4B-921E-85010E99210E}"/>
              </a:ext>
            </a:extLst>
          </p:cNvPr>
          <p:cNvSpPr txBox="1">
            <a:spLocks noChangeArrowheads="1"/>
          </p:cNvSpPr>
          <p:nvPr/>
        </p:nvSpPr>
        <p:spPr bwMode="auto">
          <a:xfrm>
            <a:off x="8266113" y="1412875"/>
            <a:ext cx="11303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600"/>
              <a:t>sel       out</a:t>
            </a:r>
          </a:p>
          <a:p>
            <a:pPr eaLnBrk="1" hangingPunct="1">
              <a:spcBef>
                <a:spcPct val="0"/>
              </a:spcBef>
              <a:buClrTx/>
              <a:buSzTx/>
              <a:buFontTx/>
              <a:buNone/>
            </a:pPr>
            <a:endParaRPr lang="en-US" altLang="en-US" sz="1600"/>
          </a:p>
          <a:p>
            <a:pPr eaLnBrk="1" hangingPunct="1">
              <a:spcBef>
                <a:spcPct val="0"/>
              </a:spcBef>
              <a:buClrTx/>
              <a:buSzTx/>
              <a:buFontTx/>
              <a:buNone/>
            </a:pPr>
            <a:r>
              <a:rPr lang="en-US" altLang="en-US" sz="1600"/>
              <a:t> 0           b</a:t>
            </a:r>
          </a:p>
          <a:p>
            <a:pPr eaLnBrk="1" hangingPunct="1">
              <a:spcBef>
                <a:spcPct val="0"/>
              </a:spcBef>
              <a:buClrTx/>
              <a:buSzTx/>
              <a:buFontTx/>
              <a:buNone/>
            </a:pPr>
            <a:r>
              <a:rPr lang="en-US" altLang="en-US" sz="1600"/>
              <a:t> 1           a</a:t>
            </a:r>
          </a:p>
        </p:txBody>
      </p:sp>
      <p:cxnSp>
        <p:nvCxnSpPr>
          <p:cNvPr id="12296" name="Straight Connector 3">
            <a:extLst>
              <a:ext uri="{FF2B5EF4-FFF2-40B4-BE49-F238E27FC236}">
                <a16:creationId xmlns:a16="http://schemas.microsoft.com/office/drawing/2014/main" id="{9F106899-458D-AD44-9B10-466ACDC6A670}"/>
              </a:ext>
            </a:extLst>
          </p:cNvPr>
          <p:cNvCxnSpPr>
            <a:cxnSpLocks noChangeShapeType="1"/>
          </p:cNvCxnSpPr>
          <p:nvPr/>
        </p:nvCxnSpPr>
        <p:spPr bwMode="auto">
          <a:xfrm>
            <a:off x="8193088" y="1844675"/>
            <a:ext cx="115252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12297" name="Straight Connector 11">
            <a:extLst>
              <a:ext uri="{FF2B5EF4-FFF2-40B4-BE49-F238E27FC236}">
                <a16:creationId xmlns:a16="http://schemas.microsoft.com/office/drawing/2014/main" id="{E3FCC5C5-3196-8D4C-B550-3563EAA7FC3C}"/>
              </a:ext>
            </a:extLst>
          </p:cNvPr>
          <p:cNvCxnSpPr>
            <a:cxnSpLocks noChangeShapeType="1"/>
          </p:cNvCxnSpPr>
          <p:nvPr/>
        </p:nvCxnSpPr>
        <p:spPr bwMode="auto">
          <a:xfrm>
            <a:off x="8753475" y="1412875"/>
            <a:ext cx="15875" cy="100806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pic>
        <p:nvPicPr>
          <p:cNvPr id="12298" name="Picture 1">
            <a:extLst>
              <a:ext uri="{FF2B5EF4-FFF2-40B4-BE49-F238E27FC236}">
                <a16:creationId xmlns:a16="http://schemas.microsoft.com/office/drawing/2014/main" id="{2958573E-3D52-9640-BC2A-A3D9725052C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73725" y="1184275"/>
            <a:ext cx="2519363"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337" name="Picture 8">
            <a:extLst>
              <a:ext uri="{FF2B5EF4-FFF2-40B4-BE49-F238E27FC236}">
                <a16:creationId xmlns:a16="http://schemas.microsoft.com/office/drawing/2014/main" id="{CA59E55C-1705-E44D-A5D1-A3E2A83EDCA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9313" y="4733925"/>
            <a:ext cx="9017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8" name="Picture 1">
            <a:extLst>
              <a:ext uri="{FF2B5EF4-FFF2-40B4-BE49-F238E27FC236}">
                <a16:creationId xmlns:a16="http://schemas.microsoft.com/office/drawing/2014/main" id="{ED3A4D3B-F415-CB40-B247-4336CC5D866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52513"/>
            <a:ext cx="3817938" cy="231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2">
            <a:extLst>
              <a:ext uri="{FF2B5EF4-FFF2-40B4-BE49-F238E27FC236}">
                <a16:creationId xmlns:a16="http://schemas.microsoft.com/office/drawing/2014/main" id="{AD0A2316-2F3D-E344-9EA3-7F66CDAC5825}"/>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Continuous Assignment</a:t>
            </a:r>
          </a:p>
        </p:txBody>
      </p:sp>
      <p:sp>
        <p:nvSpPr>
          <p:cNvPr id="14340" name="Rectangle 3">
            <a:extLst>
              <a:ext uri="{FF2B5EF4-FFF2-40B4-BE49-F238E27FC236}">
                <a16:creationId xmlns:a16="http://schemas.microsoft.com/office/drawing/2014/main" id="{C0E6171E-E5DF-9743-95D1-B78BF9FBDA4C}"/>
              </a:ext>
            </a:extLst>
          </p:cNvPr>
          <p:cNvSpPr txBox="1">
            <a:spLocks noChangeArrowheads="1"/>
          </p:cNvSpPr>
          <p:nvPr/>
        </p:nvSpPr>
        <p:spPr bwMode="auto">
          <a:xfrm>
            <a:off x="4160838" y="1052513"/>
            <a:ext cx="5745162"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80010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sz="1800"/>
              <a:t>Keyword </a:t>
            </a:r>
            <a:r>
              <a:rPr lang="en-GB" altLang="en-US" sz="1800" b="1">
                <a:solidFill>
                  <a:srgbClr val="0070C0"/>
                </a:solidFill>
              </a:rPr>
              <a:t>assign</a:t>
            </a:r>
            <a:r>
              <a:rPr lang="en-GB" altLang="en-US" sz="1800">
                <a:solidFill>
                  <a:srgbClr val="0070C0"/>
                </a:solidFill>
              </a:rPr>
              <a:t> </a:t>
            </a:r>
            <a:r>
              <a:rPr lang="en-GB" altLang="en-US" sz="1800"/>
              <a:t>specifies </a:t>
            </a:r>
            <a:r>
              <a:rPr lang="en-GB" altLang="en-US" sz="1800" b="1">
                <a:solidFill>
                  <a:srgbClr val="FF0000"/>
                </a:solidFill>
              </a:rPr>
              <a:t>continuous assignment </a:t>
            </a:r>
            <a:r>
              <a:rPr lang="en-GB" altLang="en-US" sz="1800"/>
              <a:t>to describe combinational logic</a:t>
            </a:r>
          </a:p>
          <a:p>
            <a:r>
              <a:rPr lang="en-GB" altLang="en-US" sz="1800"/>
              <a:t>Right-hand expression continuously evaluated …. responding to input changes immediately</a:t>
            </a:r>
          </a:p>
          <a:p>
            <a:r>
              <a:rPr lang="en-GB" altLang="en-US" sz="1800"/>
              <a:t>Left-hand is a net driven with evaluated value</a:t>
            </a:r>
          </a:p>
          <a:p>
            <a:r>
              <a:rPr lang="en-GB" altLang="en-US" sz="1800"/>
              <a:t>Left side must be a scalar, a net or a concatenation of nets and vector nets.  (nets, vectors etc. will be described later)</a:t>
            </a:r>
          </a:p>
          <a:p>
            <a:r>
              <a:rPr lang="en-GB" altLang="en-US" sz="1800"/>
              <a:t>All continuous assignments execute in parallel</a:t>
            </a:r>
          </a:p>
          <a:p>
            <a:r>
              <a:rPr lang="en-GB" altLang="en-US" sz="1800"/>
              <a:t>Operators in expressions are low-level:</a:t>
            </a:r>
          </a:p>
          <a:p>
            <a:pPr lvl="1">
              <a:buFontTx/>
              <a:buChar char="-"/>
            </a:pPr>
            <a:r>
              <a:rPr lang="en-GB" altLang="en-US" sz="1800"/>
              <a:t>Conditional assignment: (cond)</a:t>
            </a:r>
            <a:r>
              <a:rPr lang="en-GB" altLang="en-US" sz="1800" b="1">
                <a:solidFill>
                  <a:srgbClr val="000000"/>
                </a:solidFill>
              </a:rPr>
              <a:t>?</a:t>
            </a:r>
            <a:r>
              <a:rPr lang="en-GB" altLang="en-US" sz="1800"/>
              <a:t> vTrue</a:t>
            </a:r>
            <a:r>
              <a:rPr lang="en-GB" altLang="en-US" sz="1800" b="1">
                <a:solidFill>
                  <a:srgbClr val="000000"/>
                </a:solidFill>
              </a:rPr>
              <a:t>:</a:t>
            </a:r>
            <a:r>
              <a:rPr lang="en-GB" altLang="en-US" sz="1800"/>
              <a:t> vFalse</a:t>
            </a:r>
          </a:p>
          <a:p>
            <a:pPr lvl="1">
              <a:buFontTx/>
              <a:buChar char="-"/>
            </a:pPr>
            <a:r>
              <a:rPr lang="en-GB" altLang="en-US" sz="1800"/>
              <a:t>Boolean: ~, &amp;, |, </a:t>
            </a:r>
          </a:p>
          <a:p>
            <a:pPr lvl="1">
              <a:buFontTx/>
              <a:buChar char="-"/>
            </a:pPr>
            <a:r>
              <a:rPr lang="en-GB" altLang="en-US" sz="1800"/>
              <a:t>Arithmetic: +, -, * </a:t>
            </a:r>
          </a:p>
          <a:p>
            <a:pPr lvl="1">
              <a:buSzPct val="75000"/>
              <a:buFont typeface="Monotype Sorts" pitchFamily="2" charset="2"/>
              <a:buChar char="u"/>
            </a:pPr>
            <a:r>
              <a:rPr lang="en-GB" altLang="en-US" sz="1800"/>
              <a:t>Operators can be nested.  For example, here is a 4-to-1 mux:</a:t>
            </a:r>
          </a:p>
          <a:p>
            <a:pPr lvl="1">
              <a:buSzPct val="75000"/>
              <a:buFont typeface="Monotype Sorts" pitchFamily="2" charset="2"/>
              <a:buChar char="u"/>
            </a:pPr>
            <a:endParaRPr lang="en-GB" altLang="en-US" sz="1800"/>
          </a:p>
          <a:p>
            <a:endParaRPr lang="el-GR" altLang="en-US" sz="1800"/>
          </a:p>
        </p:txBody>
      </p:sp>
      <p:sp>
        <p:nvSpPr>
          <p:cNvPr id="28" name="Rectangle 27">
            <a:extLst>
              <a:ext uri="{FF2B5EF4-FFF2-40B4-BE49-F238E27FC236}">
                <a16:creationId xmlns:a16="http://schemas.microsoft.com/office/drawing/2014/main" id="{A650149E-2FD1-1A4A-9D98-7653A0C4DC11}"/>
              </a:ext>
            </a:extLst>
          </p:cNvPr>
          <p:cNvSpPr/>
          <p:nvPr/>
        </p:nvSpPr>
        <p:spPr bwMode="auto">
          <a:xfrm>
            <a:off x="558800" y="2349500"/>
            <a:ext cx="3386138" cy="792163"/>
          </a:xfrm>
          <a:prstGeom prst="rect">
            <a:avLst/>
          </a:prstGeom>
          <a:solidFill>
            <a:schemeClr val="accent2">
              <a:lumMod val="40000"/>
              <a:lumOff val="60000"/>
              <a:alpha val="51000"/>
            </a:schemeClr>
          </a:solidFill>
          <a:ln w="12700" cap="flat" cmpd="sng" algn="ctr">
            <a:noFill/>
            <a:prstDash val="solid"/>
            <a:round/>
            <a:headEnd type="none" w="sm" len="sm"/>
            <a:tailEnd type="none" w="sm" len="sm"/>
          </a:ln>
          <a:effectLst/>
        </p:spPr>
        <p:txBody>
          <a:bodyPr/>
          <a:lstStyle/>
          <a:p>
            <a:pPr>
              <a:defRPr/>
            </a:pPr>
            <a:endParaRPr lang="en-US">
              <a:latin typeface="Arial" charset="0"/>
              <a:ea typeface="ＭＳ Ｐゴシック" charset="0"/>
              <a:cs typeface="ＭＳ Ｐゴシック" charset="0"/>
            </a:endParaRPr>
          </a:p>
        </p:txBody>
      </p:sp>
      <p:pic>
        <p:nvPicPr>
          <p:cNvPr id="14342" name="Picture 2">
            <a:extLst>
              <a:ext uri="{FF2B5EF4-FFF2-40B4-BE49-F238E27FC236}">
                <a16:creationId xmlns:a16="http://schemas.microsoft.com/office/drawing/2014/main" id="{AE4F6F9D-4749-4646-A324-91C6E1235CC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00475" y="5805488"/>
            <a:ext cx="59785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1">
            <a:extLst>
              <a:ext uri="{FF2B5EF4-FFF2-40B4-BE49-F238E27FC236}">
                <a16:creationId xmlns:a16="http://schemas.microsoft.com/office/drawing/2014/main" id="{D4FF8689-A8F6-B94E-A91A-BAF8B0BEBE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9313" y="3859213"/>
            <a:ext cx="9017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9">
            <a:extLst>
              <a:ext uri="{FF2B5EF4-FFF2-40B4-BE49-F238E27FC236}">
                <a16:creationId xmlns:a16="http://schemas.microsoft.com/office/drawing/2014/main" id="{A6FAA9F2-7574-3246-9F39-5C70B8FAD8B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12913" y="4292600"/>
            <a:ext cx="9017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345" name="Straight Connector 5">
            <a:extLst>
              <a:ext uri="{FF2B5EF4-FFF2-40B4-BE49-F238E27FC236}">
                <a16:creationId xmlns:a16="http://schemas.microsoft.com/office/drawing/2014/main" id="{EA715CFA-FE0E-144E-B2CF-D0DA105E0D36}"/>
              </a:ext>
            </a:extLst>
          </p:cNvPr>
          <p:cNvCxnSpPr>
            <a:cxnSpLocks noChangeShapeType="1"/>
          </p:cNvCxnSpPr>
          <p:nvPr/>
        </p:nvCxnSpPr>
        <p:spPr bwMode="auto">
          <a:xfrm>
            <a:off x="1712913" y="4292600"/>
            <a:ext cx="0" cy="21590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cxnSp>
      <p:cxnSp>
        <p:nvCxnSpPr>
          <p:cNvPr id="14346" name="Straight Connector 15">
            <a:extLst>
              <a:ext uri="{FF2B5EF4-FFF2-40B4-BE49-F238E27FC236}">
                <a16:creationId xmlns:a16="http://schemas.microsoft.com/office/drawing/2014/main" id="{09DD2234-D08A-0E46-B2F3-62E04ED2BA5F}"/>
              </a:ext>
            </a:extLst>
          </p:cNvPr>
          <p:cNvCxnSpPr>
            <a:cxnSpLocks noChangeShapeType="1"/>
          </p:cNvCxnSpPr>
          <p:nvPr/>
        </p:nvCxnSpPr>
        <p:spPr bwMode="auto">
          <a:xfrm>
            <a:off x="1712913" y="4868863"/>
            <a:ext cx="0" cy="288925"/>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cxnSp>
      <p:cxnSp>
        <p:nvCxnSpPr>
          <p:cNvPr id="14347" name="Straight Connector 17">
            <a:extLst>
              <a:ext uri="{FF2B5EF4-FFF2-40B4-BE49-F238E27FC236}">
                <a16:creationId xmlns:a16="http://schemas.microsoft.com/office/drawing/2014/main" id="{EE5486BA-43E0-5F4C-94B2-733849634212}"/>
              </a:ext>
            </a:extLst>
          </p:cNvPr>
          <p:cNvCxnSpPr>
            <a:cxnSpLocks noChangeShapeType="1"/>
          </p:cNvCxnSpPr>
          <p:nvPr/>
        </p:nvCxnSpPr>
        <p:spPr bwMode="auto">
          <a:xfrm>
            <a:off x="1136650" y="4581525"/>
            <a:ext cx="0" cy="287338"/>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cxnSp>
      <p:cxnSp>
        <p:nvCxnSpPr>
          <p:cNvPr id="14348" name="Straight Connector 18">
            <a:extLst>
              <a:ext uri="{FF2B5EF4-FFF2-40B4-BE49-F238E27FC236}">
                <a16:creationId xmlns:a16="http://schemas.microsoft.com/office/drawing/2014/main" id="{35C6D68C-624A-D244-9FDB-A862F36D7B07}"/>
              </a:ext>
            </a:extLst>
          </p:cNvPr>
          <p:cNvCxnSpPr>
            <a:cxnSpLocks noChangeShapeType="1"/>
          </p:cNvCxnSpPr>
          <p:nvPr/>
        </p:nvCxnSpPr>
        <p:spPr bwMode="auto">
          <a:xfrm>
            <a:off x="2000250" y="5013325"/>
            <a:ext cx="0" cy="647700"/>
          </a:xfrm>
          <a:prstGeom prst="line">
            <a:avLst/>
          </a:prstGeom>
          <a:noFill/>
          <a:ln w="38100">
            <a:solidFill>
              <a:srgbClr val="000000"/>
            </a:solidFill>
            <a:round/>
            <a:headEnd type="none" w="sm" len="sm"/>
            <a:tailEnd type="none" w="sm" len="sm"/>
          </a:ln>
          <a:extLst>
            <a:ext uri="{909E8E84-426E-40DD-AFC4-6F175D3DCCD1}">
              <a14:hiddenFill xmlns:a14="http://schemas.microsoft.com/office/drawing/2010/main">
                <a:noFill/>
              </a14:hiddenFill>
            </a:ext>
          </a:extLst>
        </p:spPr>
      </p:cxnSp>
      <p:sp>
        <p:nvSpPr>
          <p:cNvPr id="14349" name="TextBox 11">
            <a:extLst>
              <a:ext uri="{FF2B5EF4-FFF2-40B4-BE49-F238E27FC236}">
                <a16:creationId xmlns:a16="http://schemas.microsoft.com/office/drawing/2014/main" id="{84BF78E8-CE43-9E4C-804B-CC79EEA38CF0}"/>
              </a:ext>
            </a:extLst>
          </p:cNvPr>
          <p:cNvSpPr txBox="1">
            <a:spLocks noChangeArrowheads="1"/>
          </p:cNvSpPr>
          <p:nvPr/>
        </p:nvSpPr>
        <p:spPr bwMode="auto">
          <a:xfrm>
            <a:off x="992188" y="5600700"/>
            <a:ext cx="3698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latin typeface="Courier" pitchFamily="2" charset="0"/>
              </a:rPr>
              <a:t>s0</a:t>
            </a:r>
          </a:p>
        </p:txBody>
      </p:sp>
      <p:sp>
        <p:nvSpPr>
          <p:cNvPr id="14350" name="TextBox 22">
            <a:extLst>
              <a:ext uri="{FF2B5EF4-FFF2-40B4-BE49-F238E27FC236}">
                <a16:creationId xmlns:a16="http://schemas.microsoft.com/office/drawing/2014/main" id="{E1215FAA-D8DE-304C-A8A9-0C2A0BBDB72C}"/>
              </a:ext>
            </a:extLst>
          </p:cNvPr>
          <p:cNvSpPr txBox="1">
            <a:spLocks noChangeArrowheads="1"/>
          </p:cNvSpPr>
          <p:nvPr/>
        </p:nvSpPr>
        <p:spPr bwMode="auto">
          <a:xfrm>
            <a:off x="1784350" y="5589588"/>
            <a:ext cx="3698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latin typeface="Courier" pitchFamily="2" charset="0"/>
              </a:rPr>
              <a:t>s1</a:t>
            </a:r>
          </a:p>
        </p:txBody>
      </p:sp>
      <p:sp>
        <p:nvSpPr>
          <p:cNvPr id="14351" name="TextBox 23">
            <a:extLst>
              <a:ext uri="{FF2B5EF4-FFF2-40B4-BE49-F238E27FC236}">
                <a16:creationId xmlns:a16="http://schemas.microsoft.com/office/drawing/2014/main" id="{7E0A36C5-7BB0-924B-822A-B5DD03E76975}"/>
              </a:ext>
            </a:extLst>
          </p:cNvPr>
          <p:cNvSpPr txBox="1">
            <a:spLocks noChangeArrowheads="1"/>
          </p:cNvSpPr>
          <p:nvPr/>
        </p:nvSpPr>
        <p:spPr bwMode="auto">
          <a:xfrm>
            <a:off x="2649538" y="4581525"/>
            <a:ext cx="4603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latin typeface="Courier" pitchFamily="2" charset="0"/>
              </a:rPr>
              <a:t>out</a:t>
            </a:r>
          </a:p>
        </p:txBody>
      </p:sp>
      <p:sp>
        <p:nvSpPr>
          <p:cNvPr id="14352" name="TextBox 24">
            <a:extLst>
              <a:ext uri="{FF2B5EF4-FFF2-40B4-BE49-F238E27FC236}">
                <a16:creationId xmlns:a16="http://schemas.microsoft.com/office/drawing/2014/main" id="{AEDA152B-5C23-6640-8A4C-F263CEAB151C}"/>
              </a:ext>
            </a:extLst>
          </p:cNvPr>
          <p:cNvSpPr txBox="1">
            <a:spLocks noChangeArrowheads="1"/>
          </p:cNvSpPr>
          <p:nvPr/>
        </p:nvSpPr>
        <p:spPr bwMode="auto">
          <a:xfrm>
            <a:off x="344488" y="3871913"/>
            <a:ext cx="36988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latin typeface="Courier" pitchFamily="2" charset="0"/>
              </a:rPr>
              <a:t>i3</a:t>
            </a:r>
          </a:p>
        </p:txBody>
      </p:sp>
      <p:sp>
        <p:nvSpPr>
          <p:cNvPr id="14353" name="TextBox 25">
            <a:extLst>
              <a:ext uri="{FF2B5EF4-FFF2-40B4-BE49-F238E27FC236}">
                <a16:creationId xmlns:a16="http://schemas.microsoft.com/office/drawing/2014/main" id="{35999B82-97F4-704A-A8F6-0D31E10F8A78}"/>
              </a:ext>
            </a:extLst>
          </p:cNvPr>
          <p:cNvSpPr txBox="1">
            <a:spLocks noChangeArrowheads="1"/>
          </p:cNvSpPr>
          <p:nvPr/>
        </p:nvSpPr>
        <p:spPr bwMode="auto">
          <a:xfrm>
            <a:off x="344488" y="4292600"/>
            <a:ext cx="3698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latin typeface="Courier" pitchFamily="2" charset="0"/>
              </a:rPr>
              <a:t>i2</a:t>
            </a:r>
          </a:p>
        </p:txBody>
      </p:sp>
      <p:sp>
        <p:nvSpPr>
          <p:cNvPr id="14354" name="TextBox 26">
            <a:extLst>
              <a:ext uri="{FF2B5EF4-FFF2-40B4-BE49-F238E27FC236}">
                <a16:creationId xmlns:a16="http://schemas.microsoft.com/office/drawing/2014/main" id="{C8C4591F-3DBD-5741-A455-E7276B58991D}"/>
              </a:ext>
            </a:extLst>
          </p:cNvPr>
          <p:cNvSpPr txBox="1">
            <a:spLocks noChangeArrowheads="1"/>
          </p:cNvSpPr>
          <p:nvPr/>
        </p:nvSpPr>
        <p:spPr bwMode="auto">
          <a:xfrm>
            <a:off x="344488" y="4714875"/>
            <a:ext cx="3698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latin typeface="Courier" pitchFamily="2" charset="0"/>
              </a:rPr>
              <a:t>i1</a:t>
            </a:r>
          </a:p>
        </p:txBody>
      </p:sp>
      <p:sp>
        <p:nvSpPr>
          <p:cNvPr id="14355" name="TextBox 28">
            <a:extLst>
              <a:ext uri="{FF2B5EF4-FFF2-40B4-BE49-F238E27FC236}">
                <a16:creationId xmlns:a16="http://schemas.microsoft.com/office/drawing/2014/main" id="{B07CDB11-7CFF-B948-B865-7FFD82C703DE}"/>
              </a:ext>
            </a:extLst>
          </p:cNvPr>
          <p:cNvSpPr txBox="1">
            <a:spLocks noChangeArrowheads="1"/>
          </p:cNvSpPr>
          <p:nvPr/>
        </p:nvSpPr>
        <p:spPr bwMode="auto">
          <a:xfrm>
            <a:off x="344488" y="5135563"/>
            <a:ext cx="3698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200">
                <a:latin typeface="Courier" pitchFamily="2" charset="0"/>
              </a:rPr>
              <a:t>i0</a:t>
            </a:r>
          </a:p>
        </p:txBody>
      </p:sp>
      <p:sp>
        <p:nvSpPr>
          <p:cNvPr id="14356" name="Oval 1">
            <a:extLst>
              <a:ext uri="{FF2B5EF4-FFF2-40B4-BE49-F238E27FC236}">
                <a16:creationId xmlns:a16="http://schemas.microsoft.com/office/drawing/2014/main" id="{0CD7F238-BBDE-614A-BB58-A824D67A931D}"/>
              </a:ext>
            </a:extLst>
          </p:cNvPr>
          <p:cNvSpPr>
            <a:spLocks noChangeArrowheads="1"/>
          </p:cNvSpPr>
          <p:nvPr/>
        </p:nvSpPr>
        <p:spPr bwMode="auto">
          <a:xfrm>
            <a:off x="6105525" y="5732463"/>
            <a:ext cx="1655763" cy="576262"/>
          </a:xfrm>
          <a:prstGeom prst="ellipse">
            <a:avLst/>
          </a:prstGeom>
          <a:noFill/>
          <a:ln w="38100">
            <a:solidFill>
              <a:srgbClr val="CC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cxnSp>
        <p:nvCxnSpPr>
          <p:cNvPr id="14357" name="Straight Arrow Connector 3">
            <a:extLst>
              <a:ext uri="{FF2B5EF4-FFF2-40B4-BE49-F238E27FC236}">
                <a16:creationId xmlns:a16="http://schemas.microsoft.com/office/drawing/2014/main" id="{3A28AC1E-32F1-6946-BBF6-E84DDCE6E1B0}"/>
              </a:ext>
            </a:extLst>
          </p:cNvPr>
          <p:cNvCxnSpPr>
            <a:cxnSpLocks noChangeShapeType="1"/>
          </p:cNvCxnSpPr>
          <p:nvPr/>
        </p:nvCxnSpPr>
        <p:spPr bwMode="auto">
          <a:xfrm flipH="1" flipV="1">
            <a:off x="1352550" y="4437063"/>
            <a:ext cx="5256213" cy="1295400"/>
          </a:xfrm>
          <a:prstGeom prst="straightConnector1">
            <a:avLst/>
          </a:prstGeom>
          <a:noFill/>
          <a:ln w="38100">
            <a:solidFill>
              <a:srgbClr val="CC0000"/>
            </a:solidFill>
            <a:round/>
            <a:headEnd type="none" w="sm" len="sm"/>
            <a:tailEnd type="arrow" w="med" len="med"/>
          </a:ln>
          <a:extLst>
            <a:ext uri="{909E8E84-426E-40DD-AFC4-6F175D3DCCD1}">
              <a14:hiddenFill xmlns:a14="http://schemas.microsoft.com/office/drawing/2010/main">
                <a:noFill/>
              </a14:hiddenFill>
            </a:ext>
          </a:extLst>
        </p:spPr>
      </p:cxnSp>
    </p:spTree>
  </p:cSld>
  <p:clrMapOvr>
    <a:masterClrMapping/>
  </p:clrMapOvr>
  <p:transition>
    <p:checke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6F2772AF-5743-1F4E-A90F-798C20C4C9E8}"/>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Description at Gate Level</a:t>
            </a:r>
          </a:p>
        </p:txBody>
      </p:sp>
      <p:sp>
        <p:nvSpPr>
          <p:cNvPr id="16386" name="Rectangle 3">
            <a:extLst>
              <a:ext uri="{FF2B5EF4-FFF2-40B4-BE49-F238E27FC236}">
                <a16:creationId xmlns:a16="http://schemas.microsoft.com/office/drawing/2014/main" id="{4CB5D47B-767F-A446-8605-844B64EF219A}"/>
              </a:ext>
            </a:extLst>
          </p:cNvPr>
          <p:cNvSpPr txBox="1">
            <a:spLocks noChangeArrowheads="1"/>
          </p:cNvSpPr>
          <p:nvPr/>
        </p:nvSpPr>
        <p:spPr bwMode="auto">
          <a:xfrm>
            <a:off x="5097463" y="1052513"/>
            <a:ext cx="4808537"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r>
              <a:rPr lang="en-GB" altLang="en-US" sz="1800"/>
              <a:t>Built-in logic gate primitives:</a:t>
            </a:r>
          </a:p>
          <a:p>
            <a:pPr lvl="1">
              <a:buFont typeface="Wingdings" pitchFamily="2" charset="2"/>
              <a:buChar char="q"/>
            </a:pPr>
            <a:r>
              <a:rPr lang="en-GB" altLang="en-US" sz="1800"/>
              <a:t>and, nand, or, nor, xor, xnor, not, buf</a:t>
            </a:r>
          </a:p>
          <a:p>
            <a:r>
              <a:rPr lang="en-GB" altLang="en-US" sz="1800"/>
              <a:t>Can use arbitrary number of inputs, e.g. and gate_name (out, in1, in2, in3, …)</a:t>
            </a:r>
          </a:p>
          <a:p>
            <a:r>
              <a:rPr lang="en-GB" altLang="en-US" sz="1800"/>
              <a:t>Tri-state buffers: bufif1 and bufif0</a:t>
            </a:r>
          </a:p>
          <a:p>
            <a:r>
              <a:rPr lang="en-GB" altLang="en-US" sz="1800"/>
              <a:t>Connect gates with nets using declaration keyword wire</a:t>
            </a:r>
          </a:p>
          <a:p>
            <a:r>
              <a:rPr lang="en-GB" altLang="en-US" sz="1800"/>
              <a:t>          </a:t>
            </a:r>
            <a:r>
              <a:rPr lang="en-GB" altLang="en-US" sz="1800" b="1">
                <a:solidFill>
                  <a:srgbClr val="3366FF"/>
                </a:solidFill>
              </a:rPr>
              <a:t>and a1 (out1, a, sel);     </a:t>
            </a:r>
          </a:p>
          <a:p>
            <a:r>
              <a:rPr lang="en-GB" altLang="en-US" sz="1800"/>
              <a:t>This statement is an </a:t>
            </a:r>
            <a:r>
              <a:rPr lang="en-GB" altLang="en-US" sz="1800" b="1"/>
              <a:t>instantiation</a:t>
            </a:r>
            <a:r>
              <a:rPr lang="en-GB" altLang="en-US" sz="1800"/>
              <a:t> of an AND gate.  </a:t>
            </a:r>
            <a:r>
              <a:rPr lang="en-GB" altLang="en-US" sz="1800" b="1">
                <a:solidFill>
                  <a:srgbClr val="3366FF"/>
                </a:solidFill>
              </a:rPr>
              <a:t>a1</a:t>
            </a:r>
            <a:r>
              <a:rPr lang="en-GB" altLang="en-US" sz="1800"/>
              <a:t> is the name of THIS particular AND gate.</a:t>
            </a:r>
          </a:p>
          <a:p>
            <a:pPr>
              <a:buFont typeface="Monotype Sorts" pitchFamily="2" charset="2"/>
              <a:buNone/>
            </a:pPr>
            <a:endParaRPr lang="en-GB" altLang="en-US" sz="3000"/>
          </a:p>
          <a:p>
            <a:endParaRPr lang="en-GB" altLang="en-US" sz="1800"/>
          </a:p>
          <a:p>
            <a:pPr lvl="1">
              <a:buSzPct val="75000"/>
              <a:buFont typeface="Monotype Sorts" pitchFamily="2" charset="2"/>
              <a:buChar char="u"/>
            </a:pPr>
            <a:endParaRPr lang="en-GB" altLang="en-US" sz="1800"/>
          </a:p>
          <a:p>
            <a:endParaRPr lang="el-GR" altLang="en-US" sz="1800"/>
          </a:p>
        </p:txBody>
      </p:sp>
      <p:pic>
        <p:nvPicPr>
          <p:cNvPr id="16387" name="Picture 3">
            <a:extLst>
              <a:ext uri="{FF2B5EF4-FFF2-40B4-BE49-F238E27FC236}">
                <a16:creationId xmlns:a16="http://schemas.microsoft.com/office/drawing/2014/main" id="{A8E956E8-795F-2340-8291-8A425817039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1463" y="1125538"/>
            <a:ext cx="4217987"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Rectangle 27">
            <a:extLst>
              <a:ext uri="{FF2B5EF4-FFF2-40B4-BE49-F238E27FC236}">
                <a16:creationId xmlns:a16="http://schemas.microsoft.com/office/drawing/2014/main" id="{0C89D08A-08A6-6244-B500-D18AE1AB467D}"/>
              </a:ext>
            </a:extLst>
          </p:cNvPr>
          <p:cNvSpPr/>
          <p:nvPr/>
        </p:nvSpPr>
        <p:spPr bwMode="auto">
          <a:xfrm>
            <a:off x="558800" y="2924175"/>
            <a:ext cx="2881313" cy="1009650"/>
          </a:xfrm>
          <a:prstGeom prst="rect">
            <a:avLst/>
          </a:prstGeom>
          <a:solidFill>
            <a:schemeClr val="accent2">
              <a:lumMod val="40000"/>
              <a:lumOff val="60000"/>
              <a:alpha val="51000"/>
            </a:schemeClr>
          </a:solidFill>
          <a:ln w="12700" cap="flat" cmpd="sng" algn="ctr">
            <a:noFill/>
            <a:prstDash val="solid"/>
            <a:round/>
            <a:headEnd type="none" w="sm" len="sm"/>
            <a:tailEnd type="none" w="sm" len="sm"/>
          </a:ln>
          <a:effectLst/>
        </p:spPr>
        <p:txBody>
          <a:bodyPr/>
          <a:lstStyle/>
          <a:p>
            <a:pPr>
              <a:defRPr/>
            </a:pPr>
            <a:endParaRPr lang="en-US">
              <a:latin typeface="Arial" charset="0"/>
              <a:ea typeface="ＭＳ Ｐゴシック" charset="0"/>
              <a:cs typeface="ＭＳ Ｐゴシック" charset="0"/>
            </a:endParaRPr>
          </a:p>
        </p:txBody>
      </p:sp>
      <p:pic>
        <p:nvPicPr>
          <p:cNvPr id="16389" name="Picture 1">
            <a:extLst>
              <a:ext uri="{FF2B5EF4-FFF2-40B4-BE49-F238E27FC236}">
                <a16:creationId xmlns:a16="http://schemas.microsoft.com/office/drawing/2014/main" id="{EA30E534-56FD-DD47-BDF0-EBE2EADF059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3050" y="4437063"/>
            <a:ext cx="4319588" cy="189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8433" name="Picture 1">
            <a:extLst>
              <a:ext uri="{FF2B5EF4-FFF2-40B4-BE49-F238E27FC236}">
                <a16:creationId xmlns:a16="http://schemas.microsoft.com/office/drawing/2014/main" id="{D8BA32E3-6845-DC4A-BDA5-D2084F834A0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438" y="3068638"/>
            <a:ext cx="4776787"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4" name="Rectangle 8">
            <a:extLst>
              <a:ext uri="{FF2B5EF4-FFF2-40B4-BE49-F238E27FC236}">
                <a16:creationId xmlns:a16="http://schemas.microsoft.com/office/drawing/2014/main" id="{446D7926-A9FC-0743-97B6-BEB37D45C2E9}"/>
              </a:ext>
            </a:extLst>
          </p:cNvPr>
          <p:cNvSpPr>
            <a:spLocks noChangeArrowheads="1"/>
          </p:cNvSpPr>
          <p:nvPr/>
        </p:nvSpPr>
        <p:spPr bwMode="auto">
          <a:xfrm>
            <a:off x="414338" y="4868863"/>
            <a:ext cx="9293225" cy="1296987"/>
          </a:xfrm>
          <a:prstGeom prst="rect">
            <a:avLst/>
          </a:prstGeom>
          <a:solidFill>
            <a:srgbClr val="00D600">
              <a:alpha val="29019"/>
            </a:srgbClr>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18435" name="Rectangle 7">
            <a:extLst>
              <a:ext uri="{FF2B5EF4-FFF2-40B4-BE49-F238E27FC236}">
                <a16:creationId xmlns:a16="http://schemas.microsoft.com/office/drawing/2014/main" id="{BE6BF2E2-FA9A-5141-95AE-FD7CB6373410}"/>
              </a:ext>
            </a:extLst>
          </p:cNvPr>
          <p:cNvSpPr>
            <a:spLocks noChangeArrowheads="1"/>
          </p:cNvSpPr>
          <p:nvPr/>
        </p:nvSpPr>
        <p:spPr bwMode="auto">
          <a:xfrm>
            <a:off x="414338" y="4364038"/>
            <a:ext cx="9293225" cy="504825"/>
          </a:xfrm>
          <a:prstGeom prst="rect">
            <a:avLst/>
          </a:prstGeom>
          <a:solidFill>
            <a:srgbClr val="FF6600">
              <a:alpha val="29019"/>
            </a:srgbClr>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28" name="Rectangle 27">
            <a:extLst>
              <a:ext uri="{FF2B5EF4-FFF2-40B4-BE49-F238E27FC236}">
                <a16:creationId xmlns:a16="http://schemas.microsoft.com/office/drawing/2014/main" id="{F150A916-67B4-0D41-B3B0-56FD3819DCEC}"/>
              </a:ext>
            </a:extLst>
          </p:cNvPr>
          <p:cNvSpPr/>
          <p:nvPr/>
        </p:nvSpPr>
        <p:spPr bwMode="auto">
          <a:xfrm>
            <a:off x="414338" y="3284538"/>
            <a:ext cx="9293225" cy="1081087"/>
          </a:xfrm>
          <a:prstGeom prst="rect">
            <a:avLst/>
          </a:prstGeom>
          <a:solidFill>
            <a:schemeClr val="accent2">
              <a:lumMod val="40000"/>
              <a:lumOff val="60000"/>
              <a:alpha val="36000"/>
            </a:schemeClr>
          </a:solidFill>
          <a:ln w="12700" cap="flat" cmpd="sng" algn="ctr">
            <a:noFill/>
            <a:prstDash val="solid"/>
            <a:round/>
            <a:headEnd type="none" w="sm" len="sm"/>
            <a:tailEnd type="none" w="sm" len="sm"/>
          </a:ln>
          <a:effectLst/>
        </p:spPr>
        <p:txBody>
          <a:bodyPr/>
          <a:lstStyle/>
          <a:p>
            <a:pPr>
              <a:defRPr/>
            </a:pPr>
            <a:endParaRPr lang="en-US">
              <a:latin typeface="Arial" charset="0"/>
              <a:ea typeface="ＭＳ Ｐゴシック" charset="0"/>
              <a:cs typeface="ＭＳ Ｐゴシック" charset="0"/>
            </a:endParaRPr>
          </a:p>
        </p:txBody>
      </p:sp>
      <p:sp>
        <p:nvSpPr>
          <p:cNvPr id="18437" name="Rectangle 2">
            <a:extLst>
              <a:ext uri="{FF2B5EF4-FFF2-40B4-BE49-F238E27FC236}">
                <a16:creationId xmlns:a16="http://schemas.microsoft.com/office/drawing/2014/main" id="{A1235A85-1042-B046-BB0C-8500E4ADC70E}"/>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Procedural Assignment using “always”</a:t>
            </a:r>
          </a:p>
        </p:txBody>
      </p:sp>
      <p:sp>
        <p:nvSpPr>
          <p:cNvPr id="18438" name="Rectangle 3">
            <a:extLst>
              <a:ext uri="{FF2B5EF4-FFF2-40B4-BE49-F238E27FC236}">
                <a16:creationId xmlns:a16="http://schemas.microsoft.com/office/drawing/2014/main" id="{6D7C721B-CD61-534D-B972-9E1181973257}"/>
              </a:ext>
            </a:extLst>
          </p:cNvPr>
          <p:cNvSpPr txBox="1">
            <a:spLocks noChangeArrowheads="1"/>
          </p:cNvSpPr>
          <p:nvPr/>
        </p:nvSpPr>
        <p:spPr bwMode="auto">
          <a:xfrm>
            <a:off x="487363" y="1125538"/>
            <a:ext cx="9004300"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Keyword </a:t>
            </a:r>
            <a:r>
              <a:rPr lang="en-GB" altLang="en-US" b="1">
                <a:solidFill>
                  <a:schemeClr val="accent2"/>
                </a:solidFill>
              </a:rPr>
              <a:t>always</a:t>
            </a:r>
            <a:r>
              <a:rPr lang="en-GB" altLang="en-US">
                <a:solidFill>
                  <a:schemeClr val="accent2"/>
                </a:solidFill>
              </a:rPr>
              <a:t> </a:t>
            </a:r>
            <a:r>
              <a:rPr lang="en-GB" altLang="en-US" sz="1800"/>
              <a:t>and </a:t>
            </a:r>
            <a:r>
              <a:rPr lang="en-GB" altLang="en-US" b="1">
                <a:solidFill>
                  <a:schemeClr val="accent2"/>
                </a:solidFill>
              </a:rPr>
              <a:t>initial</a:t>
            </a:r>
            <a:r>
              <a:rPr lang="en-GB" altLang="en-US"/>
              <a:t> </a:t>
            </a:r>
            <a:r>
              <a:rPr lang="en-GB" altLang="en-US" sz="1800"/>
              <a:t>are used to define </a:t>
            </a:r>
            <a:r>
              <a:rPr lang="en-GB" altLang="en-US" sz="1800" b="1">
                <a:solidFill>
                  <a:srgbClr val="FF0000"/>
                </a:solidFill>
              </a:rPr>
              <a:t>procedural assignment</a:t>
            </a:r>
            <a:r>
              <a:rPr lang="en-GB" altLang="en-US" sz="1800"/>
              <a:t>, similar to procedures in software</a:t>
            </a:r>
          </a:p>
          <a:p>
            <a:pPr>
              <a:spcBef>
                <a:spcPts val="600"/>
              </a:spcBef>
            </a:pPr>
            <a:r>
              <a:rPr lang="en-GB" altLang="en-US" sz="1800"/>
              <a:t>Good for behavioural description of hardware including combinational and sequential logic</a:t>
            </a:r>
          </a:p>
          <a:p>
            <a:pPr>
              <a:spcBef>
                <a:spcPts val="600"/>
              </a:spcBef>
            </a:pPr>
            <a:r>
              <a:rPr lang="en-GB" altLang="en-US" sz="1800"/>
              <a:t>Support richer C-like constructs such as </a:t>
            </a:r>
            <a:r>
              <a:rPr lang="en-GB" altLang="en-US" b="1">
                <a:solidFill>
                  <a:schemeClr val="accent2"/>
                </a:solidFill>
              </a:rPr>
              <a:t>if, for, while, case </a:t>
            </a:r>
            <a:r>
              <a:rPr lang="en-GB" altLang="en-US" sz="1800"/>
              <a:t>etc.</a:t>
            </a:r>
          </a:p>
        </p:txBody>
      </p:sp>
      <p:sp>
        <p:nvSpPr>
          <p:cNvPr id="18439" name="Rectangle 3">
            <a:extLst>
              <a:ext uri="{FF2B5EF4-FFF2-40B4-BE49-F238E27FC236}">
                <a16:creationId xmlns:a16="http://schemas.microsoft.com/office/drawing/2014/main" id="{D7E6BEC9-00B5-2D47-B164-3AE3884C47B8}"/>
              </a:ext>
            </a:extLst>
          </p:cNvPr>
          <p:cNvSpPr txBox="1">
            <a:spLocks noChangeArrowheads="1"/>
          </p:cNvSpPr>
          <p:nvPr/>
        </p:nvSpPr>
        <p:spPr bwMode="auto">
          <a:xfrm>
            <a:off x="5024438" y="2997200"/>
            <a:ext cx="4881562"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400050" indent="-34290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Declarations same as before</a:t>
            </a:r>
          </a:p>
          <a:p>
            <a:pPr>
              <a:spcBef>
                <a:spcPts val="600"/>
              </a:spcBef>
            </a:pPr>
            <a:r>
              <a:rPr lang="en-GB" altLang="en-US" sz="1800"/>
              <a:t>Assignment inside an always block must be declared as variable data type such as </a:t>
            </a:r>
            <a:r>
              <a:rPr lang="en-GB" altLang="en-US" b="1">
                <a:solidFill>
                  <a:srgbClr val="3333CC"/>
                </a:solidFill>
              </a:rPr>
              <a:t>reg</a:t>
            </a:r>
            <a:r>
              <a:rPr lang="en-GB" altLang="en-US"/>
              <a:t>  </a:t>
            </a:r>
            <a:r>
              <a:rPr lang="en-GB" altLang="en-US" sz="1800"/>
              <a:t>(see later)</a:t>
            </a:r>
          </a:p>
          <a:p>
            <a:pPr>
              <a:spcBef>
                <a:spcPts val="600"/>
              </a:spcBef>
            </a:pPr>
            <a:r>
              <a:rPr lang="en-GB" altLang="en-US" sz="1800" b="1">
                <a:solidFill>
                  <a:srgbClr val="3333CC"/>
                </a:solidFill>
              </a:rPr>
              <a:t>always</a:t>
            </a:r>
            <a:r>
              <a:rPr lang="en-GB" altLang="en-US" sz="1800">
                <a:solidFill>
                  <a:srgbClr val="3333CC"/>
                </a:solidFill>
              </a:rPr>
              <a:t> </a:t>
            </a:r>
            <a:r>
              <a:rPr lang="en-GB" altLang="en-US" sz="1800"/>
              <a:t>block runs once whenever a signal in the </a:t>
            </a:r>
            <a:r>
              <a:rPr lang="en-GB" altLang="en-US" sz="1800" b="1">
                <a:solidFill>
                  <a:srgbClr val="FB0737"/>
                </a:solidFill>
              </a:rPr>
              <a:t>sensitivity list </a:t>
            </a:r>
            <a:r>
              <a:rPr lang="en-GB" altLang="en-US" sz="1800"/>
              <a:t>changes value</a:t>
            </a:r>
          </a:p>
          <a:p>
            <a:pPr>
              <a:spcBef>
                <a:spcPts val="600"/>
              </a:spcBef>
            </a:pPr>
            <a:r>
              <a:rPr lang="en-GB" altLang="en-US" sz="1800"/>
              <a:t>Statements inside the always block are </a:t>
            </a:r>
            <a:r>
              <a:rPr lang="en-GB" altLang="en-US" sz="1800" b="1">
                <a:solidFill>
                  <a:srgbClr val="FB0737"/>
                </a:solidFill>
              </a:rPr>
              <a:t>executed sequentially</a:t>
            </a:r>
            <a:r>
              <a:rPr lang="en-GB" altLang="en-US" sz="1800"/>
              <a:t>.  ORDER MATTERS!</a:t>
            </a:r>
          </a:p>
          <a:p>
            <a:pPr>
              <a:spcBef>
                <a:spcPts val="600"/>
              </a:spcBef>
            </a:pPr>
            <a:r>
              <a:rPr lang="en-GB" altLang="en-US" sz="1800"/>
              <a:t>Sandwiched between begin/end</a:t>
            </a:r>
          </a:p>
          <a:p>
            <a:pPr>
              <a:spcBef>
                <a:spcPts val="600"/>
              </a:spcBef>
            </a:pPr>
            <a:endParaRPr lang="en-GB" altLang="en-US" sz="1800"/>
          </a:p>
          <a:p>
            <a:pPr lvl="1">
              <a:spcBef>
                <a:spcPts val="600"/>
              </a:spcBef>
              <a:buSzPct val="75000"/>
              <a:buFont typeface="Monotype Sorts" pitchFamily="2" charset="2"/>
              <a:buChar char="u"/>
            </a:pPr>
            <a:endParaRPr lang="en-GB" altLang="en-US" sz="1800"/>
          </a:p>
          <a:p>
            <a:pPr>
              <a:spcBef>
                <a:spcPts val="600"/>
              </a:spcBef>
            </a:pPr>
            <a:endParaRPr lang="el-GR" altLang="en-US" sz="1800"/>
          </a:p>
        </p:txBody>
      </p:sp>
      <p:sp>
        <p:nvSpPr>
          <p:cNvPr id="9" name="TextBox 8">
            <a:extLst>
              <a:ext uri="{FF2B5EF4-FFF2-40B4-BE49-F238E27FC236}">
                <a16:creationId xmlns:a16="http://schemas.microsoft.com/office/drawing/2014/main" id="{06BE0986-03D3-4946-B292-5F8355B42338}"/>
              </a:ext>
            </a:extLst>
          </p:cNvPr>
          <p:cNvSpPr txBox="1"/>
          <p:nvPr/>
        </p:nvSpPr>
        <p:spPr>
          <a:xfrm>
            <a:off x="3584575" y="3900488"/>
            <a:ext cx="1351652" cy="338554"/>
          </a:xfrm>
          <a:prstGeom prst="rect">
            <a:avLst/>
          </a:prstGeom>
          <a:solidFill>
            <a:srgbClr val="000000"/>
          </a:solidFill>
        </p:spPr>
        <p:txBody>
          <a:bodyPr wrap="none">
            <a:spAutoFit/>
          </a:bodyPr>
          <a:lstStyle/>
          <a:p>
            <a:pPr eaLnBrk="1" hangingPunct="1">
              <a:defRPr/>
            </a:pPr>
            <a:r>
              <a:rPr lang="en-US" sz="1600" dirty="0">
                <a:solidFill>
                  <a:schemeClr val="bg1"/>
                </a:solidFill>
                <a:latin typeface="+mn-lt"/>
                <a:ea typeface="ＭＳ Ｐゴシック" charset="0"/>
                <a:cs typeface="ＭＳ Ｐゴシック" charset="0"/>
              </a:rPr>
              <a:t>always @ (*)</a:t>
            </a:r>
          </a:p>
        </p:txBody>
      </p:sp>
      <p:cxnSp>
        <p:nvCxnSpPr>
          <p:cNvPr id="18441" name="Straight Arrow Connector 2">
            <a:extLst>
              <a:ext uri="{FF2B5EF4-FFF2-40B4-BE49-F238E27FC236}">
                <a16:creationId xmlns:a16="http://schemas.microsoft.com/office/drawing/2014/main" id="{6FDB6220-9F45-1D44-A1BF-4B6C7A69D24B}"/>
              </a:ext>
            </a:extLst>
          </p:cNvPr>
          <p:cNvCxnSpPr>
            <a:cxnSpLocks noChangeShapeType="1"/>
          </p:cNvCxnSpPr>
          <p:nvPr/>
        </p:nvCxnSpPr>
        <p:spPr bwMode="auto">
          <a:xfrm flipH="1">
            <a:off x="3152775" y="4221163"/>
            <a:ext cx="431800" cy="144462"/>
          </a:xfrm>
          <a:prstGeom prst="straightConnector1">
            <a:avLst/>
          </a:prstGeom>
          <a:noFill/>
          <a:ln w="12700">
            <a:solidFill>
              <a:schemeClr val="tx1"/>
            </a:solidFill>
            <a:round/>
            <a:headEnd type="none" w="sm" len="sm"/>
            <a:tailEnd type="arrow" w="med" len="med"/>
          </a:ln>
          <a:extLst>
            <a:ext uri="{909E8E84-426E-40DD-AFC4-6F175D3DCCD1}">
              <a14:hiddenFill xmlns:a14="http://schemas.microsoft.com/office/drawing/2010/main">
                <a:noFill/>
              </a14:hiddenFill>
            </a:ext>
          </a:extLst>
        </p:spPr>
      </p:cxnSp>
    </p:spTree>
  </p:cSld>
  <p:clrMapOvr>
    <a:masterClrMapping/>
  </p:clrMapOvr>
  <p:transition>
    <p:checke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7DC18208-BA5D-4848-BA6F-0119A6CB29C5}"/>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Verilog “register” is NOT what it appears!</a:t>
            </a:r>
          </a:p>
        </p:txBody>
      </p:sp>
      <p:sp>
        <p:nvSpPr>
          <p:cNvPr id="10" name="Rectangle 3">
            <a:extLst>
              <a:ext uri="{FF2B5EF4-FFF2-40B4-BE49-F238E27FC236}">
                <a16:creationId xmlns:a16="http://schemas.microsoft.com/office/drawing/2014/main" id="{EE2BBD62-62F0-BD40-8974-EC2E03787009}"/>
              </a:ext>
            </a:extLst>
          </p:cNvPr>
          <p:cNvSpPr txBox="1">
            <a:spLocks noChangeArrowheads="1"/>
          </p:cNvSpPr>
          <p:nvPr/>
        </p:nvSpPr>
        <p:spPr bwMode="auto">
          <a:xfrm>
            <a:off x="487363" y="1125538"/>
            <a:ext cx="9004300" cy="4967287"/>
          </a:xfrm>
          <a:prstGeom prst="rect">
            <a:avLst/>
          </a:prstGeom>
          <a:noFill/>
          <a:ln>
            <a:noFill/>
          </a:ln>
          <a:extLst>
            <a:ext uri="{FAA26D3D-D897-4be2-8F04-BA451C77F1D7}">
              <ma14:placeholderFlag xmlns="" xmlns:ma14="http://schemas.microsoft.com/office/mac/drawingml/2011/main" val="1"/>
            </a:ext>
          </a:extLst>
        </p:spPr>
        <p:txBody>
          <a:bodyPr lIns="92075" tIns="46038" rIns="92075" bIns="46038"/>
          <a:lstStyle>
            <a:lvl1pPr>
              <a:defRPr sz="2000">
                <a:solidFill>
                  <a:schemeClr val="tx1"/>
                </a:solidFill>
                <a:latin typeface="Arial" charset="0"/>
                <a:ea typeface="ＭＳ Ｐゴシック" charset="0"/>
                <a:cs typeface="ＭＳ Ｐゴシック" charset="0"/>
              </a:defRPr>
            </a:lvl1pPr>
            <a:lvl2pPr>
              <a:defRPr>
                <a:solidFill>
                  <a:schemeClr val="tx1"/>
                </a:solidFill>
                <a:latin typeface="Arial" charset="0"/>
                <a:ea typeface="ＭＳ Ｐゴシック" charset="0"/>
              </a:defRPr>
            </a:lvl2pPr>
            <a:lvl3pPr>
              <a:defRPr sz="1600">
                <a:solidFill>
                  <a:schemeClr val="tx1"/>
                </a:solidFill>
                <a:latin typeface="Arial" charset="0"/>
                <a:ea typeface="ＭＳ Ｐゴシック" charset="0"/>
              </a:defRPr>
            </a:lvl3pPr>
            <a:lvl4pPr>
              <a:defRPr sz="1400">
                <a:solidFill>
                  <a:schemeClr val="tx1"/>
                </a:solidFill>
                <a:latin typeface="Arial" charset="0"/>
                <a:ea typeface="ＭＳ Ｐゴシック" charset="0"/>
              </a:defRPr>
            </a:lvl4pPr>
            <a:lvl5pPr>
              <a:defRPr sz="1400">
                <a:solidFill>
                  <a:schemeClr val="tx1"/>
                </a:solidFill>
                <a:latin typeface="Arial" charset="0"/>
                <a:ea typeface="ＭＳ Ｐゴシック" charset="0"/>
              </a:defRPr>
            </a:lvl5pPr>
            <a:lvl6pPr>
              <a:defRPr sz="1400">
                <a:solidFill>
                  <a:schemeClr val="tx1"/>
                </a:solidFill>
                <a:latin typeface="Arial" charset="0"/>
                <a:ea typeface="ＭＳ Ｐゴシック" charset="0"/>
              </a:defRPr>
            </a:lvl6pPr>
            <a:lvl7pPr>
              <a:defRPr sz="1400">
                <a:solidFill>
                  <a:schemeClr val="tx1"/>
                </a:solidFill>
                <a:latin typeface="Arial" charset="0"/>
                <a:ea typeface="ＭＳ Ｐゴシック" charset="0"/>
              </a:defRPr>
            </a:lvl7pPr>
            <a:lvl8pPr>
              <a:defRPr sz="1400">
                <a:solidFill>
                  <a:schemeClr val="tx1"/>
                </a:solidFill>
                <a:latin typeface="Arial" charset="0"/>
                <a:ea typeface="ＭＳ Ｐゴシック" charset="0"/>
              </a:defRPr>
            </a:lvl8pPr>
            <a:lvl9pPr>
              <a:defRPr sz="1400">
                <a:solidFill>
                  <a:schemeClr val="tx1"/>
                </a:solidFill>
                <a:latin typeface="Arial" charset="0"/>
                <a:ea typeface="ＭＳ Ｐゴシック" charset="0"/>
              </a:defRPr>
            </a:lvl9pPr>
          </a:lstStyle>
          <a:p>
            <a:pPr marL="342900" indent="-342900">
              <a:spcBef>
                <a:spcPts val="600"/>
              </a:spcBef>
              <a:buClr>
                <a:srgbClr val="842C00"/>
              </a:buClr>
              <a:buSzPct val="75000"/>
              <a:buFont typeface="Monotype Sorts" charset="0"/>
              <a:buChar char="u"/>
              <a:defRPr/>
            </a:pPr>
            <a:r>
              <a:rPr lang="en-GB" sz="1800" dirty="0"/>
              <a:t>Registers normally represents storage elements in digital logic, they need clock signals to update their output value</a:t>
            </a:r>
          </a:p>
          <a:p>
            <a:pPr marL="342900" indent="-342900">
              <a:spcBef>
                <a:spcPts val="600"/>
              </a:spcBef>
              <a:buClr>
                <a:srgbClr val="842C00"/>
              </a:buClr>
              <a:buSzPct val="75000"/>
              <a:buFont typeface="Monotype Sorts" charset="0"/>
              <a:buChar char="u"/>
              <a:defRPr/>
            </a:pPr>
            <a:r>
              <a:rPr lang="en-GB" sz="1800" dirty="0"/>
              <a:t>In Verilog </a:t>
            </a:r>
            <a:r>
              <a:rPr lang="en-GB" b="1" dirty="0" err="1">
                <a:solidFill>
                  <a:schemeClr val="accent2"/>
                </a:solidFill>
              </a:rPr>
              <a:t>reg</a:t>
            </a:r>
            <a:r>
              <a:rPr lang="en-GB" dirty="0">
                <a:solidFill>
                  <a:schemeClr val="accent2"/>
                </a:solidFill>
              </a:rPr>
              <a:t> </a:t>
            </a:r>
            <a:r>
              <a:rPr lang="en-GB" sz="1800" dirty="0"/>
              <a:t>is NOT the same as a digital register, it is used only to declare a variable that holds a value</a:t>
            </a:r>
          </a:p>
          <a:p>
            <a:pPr marL="342900" indent="-342900">
              <a:spcBef>
                <a:spcPts val="600"/>
              </a:spcBef>
              <a:buClr>
                <a:srgbClr val="842C00"/>
              </a:buClr>
              <a:buSzPct val="75000"/>
              <a:buFont typeface="Monotype Sorts" charset="0"/>
              <a:buChar char="u"/>
              <a:defRPr/>
            </a:pPr>
            <a:r>
              <a:rPr lang="en-GB" sz="1800" dirty="0"/>
              <a:t>Values of variables (declared as </a:t>
            </a:r>
            <a:r>
              <a:rPr lang="en-GB" sz="1800" b="1" dirty="0" err="1">
                <a:solidFill>
                  <a:schemeClr val="accent2"/>
                </a:solidFill>
              </a:rPr>
              <a:t>reg</a:t>
            </a:r>
            <a:r>
              <a:rPr lang="en-GB" sz="1800" dirty="0">
                <a:solidFill>
                  <a:schemeClr val="accent2"/>
                </a:solidFill>
              </a:rPr>
              <a:t> </a:t>
            </a:r>
            <a:r>
              <a:rPr lang="en-GB" sz="1800" dirty="0"/>
              <a:t>) can be changed anytime in a simulation, and can be used for nets of a combinational circuit</a:t>
            </a:r>
          </a:p>
          <a:p>
            <a:pPr marL="342900" indent="-342900">
              <a:spcBef>
                <a:spcPts val="600"/>
              </a:spcBef>
              <a:buClr>
                <a:srgbClr val="842C00"/>
              </a:buClr>
              <a:buSzPct val="75000"/>
              <a:buFont typeface="Monotype Sorts" charset="0"/>
              <a:buChar char="u"/>
              <a:defRPr/>
            </a:pPr>
            <a:r>
              <a:rPr lang="en-GB" sz="1800" dirty="0"/>
              <a:t>In other words, in Verilog, </a:t>
            </a:r>
            <a:r>
              <a:rPr lang="en-GB" b="1" dirty="0" err="1">
                <a:solidFill>
                  <a:schemeClr val="accent2"/>
                </a:solidFill>
              </a:rPr>
              <a:t>reg</a:t>
            </a:r>
            <a:r>
              <a:rPr lang="en-GB" sz="1800" dirty="0"/>
              <a:t> is similar to declarations such as </a:t>
            </a:r>
            <a:r>
              <a:rPr lang="en-GB" b="1" dirty="0" err="1">
                <a:solidFill>
                  <a:schemeClr val="accent2"/>
                </a:solidFill>
              </a:rPr>
              <a:t>int</a:t>
            </a:r>
            <a:r>
              <a:rPr lang="en-GB" b="1" dirty="0">
                <a:solidFill>
                  <a:schemeClr val="accent2"/>
                </a:solidFill>
              </a:rPr>
              <a:t>,</a:t>
            </a:r>
            <a:r>
              <a:rPr lang="en-GB" sz="1800" dirty="0"/>
              <a:t> </a:t>
            </a:r>
            <a:r>
              <a:rPr lang="en-GB" b="1" dirty="0">
                <a:solidFill>
                  <a:schemeClr val="accent2"/>
                </a:solidFill>
              </a:rPr>
              <a:t>real</a:t>
            </a:r>
            <a:r>
              <a:rPr lang="en-GB" sz="1800" dirty="0"/>
              <a:t> etc.  When you use: </a:t>
            </a:r>
          </a:p>
          <a:p>
            <a:pPr>
              <a:spcBef>
                <a:spcPts val="600"/>
              </a:spcBef>
              <a:buClr>
                <a:srgbClr val="842C00"/>
              </a:buClr>
              <a:buSzPct val="75000"/>
              <a:defRPr/>
            </a:pPr>
            <a:r>
              <a:rPr lang="en-GB" sz="1800" dirty="0"/>
              <a:t>           </a:t>
            </a:r>
            <a:r>
              <a:rPr lang="en-GB" sz="1800" b="1" dirty="0" err="1">
                <a:solidFill>
                  <a:schemeClr val="accent2"/>
                </a:solidFill>
              </a:rPr>
              <a:t>reg</a:t>
            </a:r>
            <a:r>
              <a:rPr lang="en-GB" sz="1800" b="1" dirty="0">
                <a:solidFill>
                  <a:schemeClr val="accent2"/>
                </a:solidFill>
              </a:rPr>
              <a:t>     </a:t>
            </a:r>
            <a:r>
              <a:rPr lang="en-GB" sz="1800" b="1" dirty="0" err="1">
                <a:solidFill>
                  <a:schemeClr val="accent2"/>
                </a:solidFill>
              </a:rPr>
              <a:t>signal_a</a:t>
            </a:r>
            <a:r>
              <a:rPr lang="en-GB" sz="1800" b="1" dirty="0">
                <a:solidFill>
                  <a:schemeClr val="accent2"/>
                </a:solidFill>
              </a:rPr>
              <a:t>;</a:t>
            </a:r>
          </a:p>
          <a:p>
            <a:pPr>
              <a:spcBef>
                <a:spcPts val="600"/>
              </a:spcBef>
              <a:buClr>
                <a:srgbClr val="842C00"/>
              </a:buClr>
              <a:buSzPct val="75000"/>
              <a:defRPr/>
            </a:pPr>
            <a:r>
              <a:rPr lang="en-GB" sz="1800" dirty="0"/>
              <a:t>         whether a physical register (or D-FF) is </a:t>
            </a:r>
            <a:r>
              <a:rPr lang="en-GB" sz="1800" dirty="0" err="1"/>
              <a:t>sythesized</a:t>
            </a:r>
            <a:r>
              <a:rPr lang="en-GB" sz="1800" dirty="0"/>
              <a:t> to store </a:t>
            </a:r>
            <a:r>
              <a:rPr lang="en-GB" sz="1800" b="1" dirty="0" err="1"/>
              <a:t>signal_a</a:t>
            </a:r>
            <a:r>
              <a:rPr lang="en-GB" sz="1800" b="1" dirty="0"/>
              <a:t> </a:t>
            </a:r>
            <a:r>
              <a:rPr lang="en-GB" sz="1800" dirty="0"/>
              <a:t>or not would depend on the rest of the Verilog code.</a:t>
            </a:r>
          </a:p>
          <a:p>
            <a:pPr marL="342900" indent="-342900">
              <a:spcBef>
                <a:spcPts val="600"/>
              </a:spcBef>
              <a:buClr>
                <a:srgbClr val="842C00"/>
              </a:buClr>
              <a:buSzPct val="75000"/>
              <a:buFont typeface="Monotype Sorts" charset="0"/>
              <a:buNone/>
              <a:defRPr/>
            </a:pPr>
            <a:endParaRPr lang="en-GB" sz="1800" dirty="0"/>
          </a:p>
        </p:txBody>
      </p:sp>
    </p:spTree>
  </p:cSld>
  <p:clrMapOvr>
    <a:masterClrMapping/>
  </p:clrMapOvr>
  <p:transition>
    <p:checke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6F04F92A-5D0D-CC49-9636-6FCEE240F1CB}"/>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case statement – better alternative to if-else</a:t>
            </a:r>
          </a:p>
        </p:txBody>
      </p:sp>
      <p:sp>
        <p:nvSpPr>
          <p:cNvPr id="24578" name="Rectangle 3">
            <a:extLst>
              <a:ext uri="{FF2B5EF4-FFF2-40B4-BE49-F238E27FC236}">
                <a16:creationId xmlns:a16="http://schemas.microsoft.com/office/drawing/2014/main" id="{8B014A6B-FC23-7749-9870-7FF05AB87DB4}"/>
              </a:ext>
            </a:extLst>
          </p:cNvPr>
          <p:cNvSpPr txBox="1">
            <a:spLocks noChangeArrowheads="1"/>
          </p:cNvSpPr>
          <p:nvPr/>
        </p:nvSpPr>
        <p:spPr bwMode="auto">
          <a:xfrm>
            <a:off x="487363" y="1052513"/>
            <a:ext cx="9004300"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b="1">
                <a:solidFill>
                  <a:schemeClr val="accent2"/>
                </a:solidFill>
              </a:rPr>
              <a:t>case</a:t>
            </a:r>
            <a:r>
              <a:rPr lang="en-GB" altLang="en-US">
                <a:solidFill>
                  <a:schemeClr val="accent2"/>
                </a:solidFill>
              </a:rPr>
              <a:t> </a:t>
            </a:r>
            <a:r>
              <a:rPr lang="en-GB" altLang="en-US" sz="1800"/>
              <a:t>statement can often replace </a:t>
            </a:r>
            <a:r>
              <a:rPr lang="en-GB" altLang="en-US" b="1">
                <a:solidFill>
                  <a:srgbClr val="3333CC"/>
                </a:solidFill>
              </a:rPr>
              <a:t>if-else </a:t>
            </a:r>
            <a:r>
              <a:rPr lang="en-GB" altLang="en-US" sz="1800"/>
              <a:t>construct within an </a:t>
            </a:r>
            <a:r>
              <a:rPr lang="en-GB" altLang="en-US" b="1">
                <a:solidFill>
                  <a:schemeClr val="accent2"/>
                </a:solidFill>
              </a:rPr>
              <a:t>always</a:t>
            </a:r>
            <a:r>
              <a:rPr lang="en-GB" altLang="en-US" sz="1800"/>
              <a:t> block, and provides better abstraction</a:t>
            </a:r>
          </a:p>
          <a:p>
            <a:pPr>
              <a:spcBef>
                <a:spcPts val="600"/>
              </a:spcBef>
            </a:pPr>
            <a:r>
              <a:rPr lang="en-GB" altLang="en-US" sz="1800"/>
              <a:t>Here is an example using the mux_2_to_1 module:</a:t>
            </a:r>
          </a:p>
        </p:txBody>
      </p:sp>
      <p:pic>
        <p:nvPicPr>
          <p:cNvPr id="24579" name="Picture 1">
            <a:extLst>
              <a:ext uri="{FF2B5EF4-FFF2-40B4-BE49-F238E27FC236}">
                <a16:creationId xmlns:a16="http://schemas.microsoft.com/office/drawing/2014/main" id="{F4DA7801-2016-C040-ADF4-5B7F4347710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7363" y="2709863"/>
            <a:ext cx="4371975"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4">
            <a:extLst>
              <a:ext uri="{FF2B5EF4-FFF2-40B4-BE49-F238E27FC236}">
                <a16:creationId xmlns:a16="http://schemas.microsoft.com/office/drawing/2014/main" id="{C8F1D68E-DB20-AC40-9F7B-188C778561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71688" y="5373688"/>
            <a:ext cx="2366962" cy="623887"/>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
        <p:nvSpPr>
          <p:cNvPr id="24581" name="Rectangle 7">
            <a:extLst>
              <a:ext uri="{FF2B5EF4-FFF2-40B4-BE49-F238E27FC236}">
                <a16:creationId xmlns:a16="http://schemas.microsoft.com/office/drawing/2014/main" id="{C1A81C93-125D-7C42-ADB2-BFCD6BED7C47}"/>
              </a:ext>
            </a:extLst>
          </p:cNvPr>
          <p:cNvSpPr>
            <a:spLocks noChangeArrowheads="1"/>
          </p:cNvSpPr>
          <p:nvPr/>
        </p:nvSpPr>
        <p:spPr bwMode="auto">
          <a:xfrm>
            <a:off x="1135063" y="3430588"/>
            <a:ext cx="3025775" cy="1295400"/>
          </a:xfrm>
          <a:prstGeom prst="rect">
            <a:avLst/>
          </a:prstGeom>
          <a:solidFill>
            <a:srgbClr val="00D600">
              <a:alpha val="29019"/>
            </a:srgbClr>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cxnSp>
        <p:nvCxnSpPr>
          <p:cNvPr id="24582" name="Straight Arrow Connector 6">
            <a:extLst>
              <a:ext uri="{FF2B5EF4-FFF2-40B4-BE49-F238E27FC236}">
                <a16:creationId xmlns:a16="http://schemas.microsoft.com/office/drawing/2014/main" id="{350FEA9E-BDF0-1647-8B40-C5699201D06F}"/>
              </a:ext>
            </a:extLst>
          </p:cNvPr>
          <p:cNvCxnSpPr>
            <a:cxnSpLocks noChangeShapeType="1"/>
          </p:cNvCxnSpPr>
          <p:nvPr/>
        </p:nvCxnSpPr>
        <p:spPr bwMode="auto">
          <a:xfrm flipH="1" flipV="1">
            <a:off x="3152775" y="4725988"/>
            <a:ext cx="504825" cy="647700"/>
          </a:xfrm>
          <a:prstGeom prst="straightConnector1">
            <a:avLst/>
          </a:prstGeom>
          <a:noFill/>
          <a:ln w="57150">
            <a:solidFill>
              <a:srgbClr val="FB0737"/>
            </a:solidFill>
            <a:round/>
            <a:headEnd type="none" w="sm" len="sm"/>
            <a:tailEnd type="arrow" w="med" len="med"/>
          </a:ln>
          <a:extLst>
            <a:ext uri="{909E8E84-426E-40DD-AFC4-6F175D3DCCD1}">
              <a14:hiddenFill xmlns:a14="http://schemas.microsoft.com/office/drawing/2010/main">
                <a:noFill/>
              </a14:hiddenFill>
            </a:ext>
          </a:extLst>
        </p:spPr>
      </p:cxnSp>
      <p:graphicFrame>
        <p:nvGraphicFramePr>
          <p:cNvPr id="9" name="Table 8">
            <a:extLst>
              <a:ext uri="{FF2B5EF4-FFF2-40B4-BE49-F238E27FC236}">
                <a16:creationId xmlns:a16="http://schemas.microsoft.com/office/drawing/2014/main" id="{E905D66E-6395-A24C-9E08-3005C6E95B62}"/>
              </a:ext>
            </a:extLst>
          </p:cNvPr>
          <p:cNvGraphicFramePr>
            <a:graphicFrameLocks noGrp="1"/>
          </p:cNvGraphicFramePr>
          <p:nvPr/>
        </p:nvGraphicFramePr>
        <p:xfrm>
          <a:off x="4953000" y="3433763"/>
          <a:ext cx="4754563" cy="1940143"/>
        </p:xfrm>
        <a:graphic>
          <a:graphicData uri="http://schemas.openxmlformats.org/drawingml/2006/table">
            <a:tbl>
              <a:tblPr/>
              <a:tblGrid>
                <a:gridCol w="1296988">
                  <a:extLst>
                    <a:ext uri="{9D8B030D-6E8A-4147-A177-3AD203B41FA5}">
                      <a16:colId xmlns:a16="http://schemas.microsoft.com/office/drawing/2014/main" val="20000"/>
                    </a:ext>
                  </a:extLst>
                </a:gridCol>
                <a:gridCol w="3457575">
                  <a:extLst>
                    <a:ext uri="{9D8B030D-6E8A-4147-A177-3AD203B41FA5}">
                      <a16:colId xmlns:a16="http://schemas.microsoft.com/office/drawing/2014/main" val="20001"/>
                    </a:ext>
                  </a:extLst>
                </a:gridCol>
              </a:tblGrid>
              <a:tr h="365587">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2</a:t>
                      </a:r>
                      <a:r>
                        <a:rPr kumimoji="0" lang="en-US" altLang="en-US" sz="1800" b="0" i="0" u="none" strike="noStrike" cap="none" normalizeH="0" baseline="0">
                          <a:ln>
                            <a:noFill/>
                          </a:ln>
                          <a:solidFill>
                            <a:srgbClr val="000000"/>
                          </a:solidFill>
                          <a:effectLst/>
                          <a:latin typeface="Arial" charset="0"/>
                          <a:ea typeface="ＭＳ Ｐゴシック" charset="-128"/>
                        </a:rPr>
                        <a:t>’</a:t>
                      </a:r>
                      <a:r>
                        <a:rPr kumimoji="0" lang="en-US" altLang="x-none" sz="1800" b="0" i="0" u="none" strike="noStrike" cap="none" normalizeH="0" baseline="0">
                          <a:ln>
                            <a:noFill/>
                          </a:ln>
                          <a:solidFill>
                            <a:srgbClr val="000000"/>
                          </a:solidFill>
                          <a:effectLst/>
                          <a:latin typeface="Arial" charset="0"/>
                          <a:ea typeface="ＭＳ Ｐゴシック" charset="-128"/>
                        </a:rPr>
                        <a:t>b10</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7F6EF"/>
                    </a:solidFill>
                  </a:tcPr>
                </a:tc>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2 bit binary, v=2</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0"/>
                  </a:ext>
                </a:extLst>
              </a:tr>
              <a:tr h="365587">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charset="0"/>
                          <a:ea typeface="ＭＳ Ｐゴシック" charset="-128"/>
                        </a:rPr>
                        <a:t>‘</a:t>
                      </a:r>
                      <a:r>
                        <a:rPr kumimoji="0" lang="en-US" altLang="x-none" sz="1800" b="0" i="0" u="none" strike="noStrike" cap="none" normalizeH="0" baseline="0">
                          <a:ln>
                            <a:noFill/>
                          </a:ln>
                          <a:solidFill>
                            <a:srgbClr val="000000"/>
                          </a:solidFill>
                          <a:effectLst/>
                          <a:latin typeface="Arial" charset="0"/>
                          <a:ea typeface="ＭＳ Ｐゴシック" charset="-128"/>
                        </a:rPr>
                        <a:t>b10</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BECDE"/>
                    </a:solidFill>
                  </a:tcPr>
                </a:tc>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Unsized binary 32-bit, v=2</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1"/>
                  </a:ext>
                </a:extLst>
              </a:tr>
              <a:tr h="365587">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31</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7F6EF"/>
                    </a:solidFill>
                  </a:tcPr>
                </a:tc>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Unsized decimal, v=31</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r h="365587">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8</a:t>
                      </a:r>
                      <a:r>
                        <a:rPr kumimoji="0" lang="en-US" altLang="en-US" sz="1800" b="0" i="0" u="none" strike="noStrike" cap="none" normalizeH="0" baseline="0">
                          <a:ln>
                            <a:noFill/>
                          </a:ln>
                          <a:solidFill>
                            <a:srgbClr val="000000"/>
                          </a:solidFill>
                          <a:effectLst/>
                          <a:latin typeface="Arial" charset="0"/>
                          <a:ea typeface="ＭＳ Ｐゴシック" charset="-128"/>
                        </a:rPr>
                        <a:t>’</a:t>
                      </a:r>
                      <a:r>
                        <a:rPr kumimoji="0" lang="en-US" altLang="x-none" sz="1800" b="0" i="0" u="none" strike="noStrike" cap="none" normalizeH="0" baseline="0">
                          <a:ln>
                            <a:noFill/>
                          </a:ln>
                          <a:solidFill>
                            <a:srgbClr val="000000"/>
                          </a:solidFill>
                          <a:effectLst/>
                          <a:latin typeface="Arial" charset="0"/>
                          <a:ea typeface="ＭＳ Ｐゴシック" charset="-128"/>
                        </a:rPr>
                        <a:t>hAf</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BECDE"/>
                    </a:solidFill>
                  </a:tcPr>
                </a:tc>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8-bit hex, v=175</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3"/>
                  </a:ext>
                </a:extLst>
              </a:tr>
              <a:tr h="477575">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-16</a:t>
                      </a:r>
                      <a:r>
                        <a:rPr kumimoji="0" lang="en-US" altLang="en-US" sz="1800" b="0" i="0" u="none" strike="noStrike" cap="none" normalizeH="0" baseline="0">
                          <a:ln>
                            <a:noFill/>
                          </a:ln>
                          <a:solidFill>
                            <a:srgbClr val="000000"/>
                          </a:solidFill>
                          <a:effectLst/>
                          <a:latin typeface="Arial" charset="0"/>
                          <a:ea typeface="ＭＳ Ｐゴシック" charset="-128"/>
                        </a:rPr>
                        <a:t>’</a:t>
                      </a:r>
                      <a:r>
                        <a:rPr kumimoji="0" lang="en-US" altLang="x-none" sz="1800" b="0" i="0" u="none" strike="noStrike" cap="none" normalizeH="0" baseline="0">
                          <a:ln>
                            <a:noFill/>
                          </a:ln>
                          <a:solidFill>
                            <a:srgbClr val="000000"/>
                          </a:solidFill>
                          <a:effectLst/>
                          <a:latin typeface="Arial" charset="0"/>
                          <a:ea typeface="ＭＳ Ｐゴシック" charset="-128"/>
                        </a:rPr>
                        <a:t>d47</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7F6EF"/>
                    </a:solidFill>
                  </a:tcPr>
                </a:tc>
                <a:tc>
                  <a:txBody>
                    <a:bodyPr/>
                    <a:lstStyle>
                      <a:lvl1pPr defTabSz="457200">
                        <a:spcBef>
                          <a:spcPct val="20000"/>
                        </a:spcBef>
                        <a:buClr>
                          <a:srgbClr val="842C00"/>
                        </a:buClr>
                        <a:buSzPct val="75000"/>
                        <a:buFont typeface="Monotype Sorts" charset="2"/>
                        <a:defRPr>
                          <a:solidFill>
                            <a:schemeClr val="tx1"/>
                          </a:solidFill>
                          <a:latin typeface="Arial" charset="0"/>
                          <a:ea typeface="ＭＳ Ｐゴシック" charset="-128"/>
                        </a:defRPr>
                      </a:lvl1pPr>
                      <a:lvl2pPr marL="742950" indent="-285750" defTabSz="457200">
                        <a:spcBef>
                          <a:spcPct val="20000"/>
                        </a:spcBef>
                        <a:buClr>
                          <a:srgbClr val="842C00"/>
                        </a:buClr>
                        <a:buSzPct val="100000"/>
                        <a:buFont typeface="Symbol" charset="2"/>
                        <a:defRPr sz="1600">
                          <a:solidFill>
                            <a:schemeClr val="tx1"/>
                          </a:solidFill>
                          <a:latin typeface="Arial" charset="0"/>
                          <a:ea typeface="ＭＳ Ｐゴシック" charset="-128"/>
                        </a:defRPr>
                      </a:lvl2pPr>
                      <a:lvl3pPr marL="1143000" indent="-228600" defTabSz="457200">
                        <a:spcBef>
                          <a:spcPct val="20000"/>
                        </a:spcBef>
                        <a:buClr>
                          <a:srgbClr val="842C00"/>
                        </a:buClr>
                        <a:buSzPct val="100000"/>
                        <a:buFont typeface="Monotype Sorts" charset="2"/>
                        <a:defRPr sz="1400">
                          <a:solidFill>
                            <a:schemeClr val="tx1"/>
                          </a:solidFill>
                          <a:latin typeface="Arial" charset="0"/>
                          <a:ea typeface="ＭＳ Ｐゴシック" charset="-128"/>
                        </a:defRPr>
                      </a:lvl3pPr>
                      <a:lvl4pPr marL="1600200" indent="-228600" defTabSz="457200">
                        <a:spcBef>
                          <a:spcPct val="20000"/>
                        </a:spcBef>
                        <a:buClr>
                          <a:schemeClr val="accent2"/>
                        </a:buClr>
                        <a:buSzPct val="65000"/>
                        <a:buFont typeface="Monotype Sorts" charset="2"/>
                        <a:defRPr sz="1200">
                          <a:solidFill>
                            <a:schemeClr val="tx1"/>
                          </a:solidFill>
                          <a:latin typeface="Arial" charset="0"/>
                          <a:ea typeface="ＭＳ Ｐゴシック" charset="-128"/>
                        </a:defRPr>
                      </a:lvl4pPr>
                      <a:lvl5pPr marL="2057400" indent="-228600" defTabSz="457200">
                        <a:spcBef>
                          <a:spcPct val="20000"/>
                        </a:spcBef>
                        <a:buClr>
                          <a:schemeClr val="accent2"/>
                        </a:buClr>
                        <a:buSzPct val="100000"/>
                        <a:defRPr sz="1200">
                          <a:solidFill>
                            <a:schemeClr val="tx1"/>
                          </a:solidFill>
                          <a:latin typeface="Arial" charset="0"/>
                          <a:ea typeface="ＭＳ Ｐゴシック" charset="-128"/>
                        </a:defRPr>
                      </a:lvl5pPr>
                      <a:lvl6pPr marL="25146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6pPr>
                      <a:lvl7pPr marL="29718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7pPr>
                      <a:lvl8pPr marL="34290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8pPr>
                      <a:lvl9pPr marL="3886200" indent="-228600" defTabSz="457200" eaLnBrk="0" fontAlgn="base" hangingPunct="0">
                        <a:spcBef>
                          <a:spcPct val="20000"/>
                        </a:spcBef>
                        <a:spcAft>
                          <a:spcPct val="0"/>
                        </a:spcAft>
                        <a:buClr>
                          <a:schemeClr val="accent2"/>
                        </a:buClr>
                        <a:buSzPct val="100000"/>
                        <a:defRPr sz="1200">
                          <a:solidFill>
                            <a:schemeClr val="tx1"/>
                          </a:solidFill>
                          <a:latin typeface="Arial" charset="0"/>
                          <a:ea typeface="ＭＳ Ｐゴシック"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altLang="x-none" sz="1800" b="0" i="0" u="none" strike="noStrike" cap="none" normalizeH="0" baseline="0">
                          <a:ln>
                            <a:noFill/>
                          </a:ln>
                          <a:solidFill>
                            <a:srgbClr val="000000"/>
                          </a:solidFill>
                          <a:effectLst/>
                          <a:latin typeface="Arial" charset="0"/>
                          <a:ea typeface="ＭＳ Ｐゴシック" charset="-128"/>
                        </a:rPr>
                        <a:t>16-bit negative decimal, v=-47</a:t>
                      </a:r>
                    </a:p>
                  </a:txBody>
                  <a:tcPr marL="91479" marR="91479" marT="45661" marB="45661"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4"/>
                  </a:ext>
                </a:extLst>
              </a:tr>
            </a:tbl>
          </a:graphicData>
        </a:graphic>
      </p:graphicFrame>
      <p:sp>
        <p:nvSpPr>
          <p:cNvPr id="12" name="Rectangle 3">
            <a:extLst>
              <a:ext uri="{FF2B5EF4-FFF2-40B4-BE49-F238E27FC236}">
                <a16:creationId xmlns:a16="http://schemas.microsoft.com/office/drawing/2014/main" id="{9BD80D83-E9C2-8544-885B-DA77ED8A9522}"/>
              </a:ext>
            </a:extLst>
          </p:cNvPr>
          <p:cNvSpPr txBox="1">
            <a:spLocks noChangeArrowheads="1"/>
          </p:cNvSpPr>
          <p:nvPr/>
        </p:nvSpPr>
        <p:spPr bwMode="auto">
          <a:xfrm>
            <a:off x="5384800" y="2492375"/>
            <a:ext cx="4322763" cy="720725"/>
          </a:xfrm>
          <a:prstGeom prst="rect">
            <a:avLst/>
          </a:prstGeom>
          <a:solidFill>
            <a:schemeClr val="accent3">
              <a:lumMod val="85000"/>
            </a:schemeClr>
          </a:solidFill>
          <a:ln>
            <a:noFill/>
          </a:ln>
          <a:extLst>
            <a:ext uri="{FAA26D3D-D897-4be2-8F04-BA451C77F1D7}">
              <ma14:placeholderFlag xmlns="" xmlns:ma14="http://schemas.microsoft.com/office/mac/drawingml/2011/main" val="1"/>
            </a:ext>
          </a:extLst>
        </p:spPr>
        <p:txBody>
          <a:bodyPr lIns="92075" tIns="46038" rIns="92075" bIns="46038"/>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lgn="ctr">
              <a:spcBef>
                <a:spcPts val="600"/>
              </a:spcBef>
              <a:buClr>
                <a:srgbClr val="842C00"/>
              </a:buClr>
              <a:buSzPct val="75000"/>
              <a:buFont typeface="Monotype Sorts" charset="2"/>
              <a:buNone/>
              <a:defRPr/>
            </a:pPr>
            <a:r>
              <a:rPr lang="en-GB" altLang="x-none" sz="1800" dirty="0"/>
              <a:t>Notation for numbers: </a:t>
            </a:r>
          </a:p>
          <a:p>
            <a:pPr algn="ctr">
              <a:spcBef>
                <a:spcPts val="600"/>
              </a:spcBef>
              <a:buClr>
                <a:srgbClr val="842C00"/>
              </a:buClr>
              <a:buSzPct val="75000"/>
              <a:buFont typeface="Monotype Sorts" charset="2"/>
              <a:buNone/>
              <a:defRPr/>
            </a:pPr>
            <a:r>
              <a:rPr lang="en-GB" altLang="x-none" sz="1800" dirty="0"/>
              <a:t>	</a:t>
            </a:r>
            <a:r>
              <a:rPr lang="en-GB" altLang="x-none" sz="1800" b="1" dirty="0"/>
              <a:t>&lt;size&gt; </a:t>
            </a:r>
            <a:r>
              <a:rPr lang="en-GB" altLang="en-US" sz="1800" b="1" dirty="0"/>
              <a:t>‘</a:t>
            </a:r>
            <a:r>
              <a:rPr lang="en-GB" altLang="x-none" sz="1800" b="1" dirty="0"/>
              <a:t> &lt;base&gt; &lt;number&gt;</a:t>
            </a:r>
          </a:p>
          <a:p>
            <a:pPr algn="ctr">
              <a:spcBef>
                <a:spcPts val="600"/>
              </a:spcBef>
              <a:buClr>
                <a:srgbClr val="842C00"/>
              </a:buClr>
              <a:buSzPct val="75000"/>
              <a:buFont typeface="Monotype Sorts" charset="2"/>
              <a:buNone/>
              <a:defRPr/>
            </a:pPr>
            <a:endParaRPr lang="en-GB" altLang="x-none" sz="1800" dirty="0"/>
          </a:p>
        </p:txBody>
      </p:sp>
    </p:spTree>
  </p:cSld>
  <p:clrMapOvr>
    <a:masterClrMapping/>
  </p:clrMapOvr>
  <p:transition>
    <p:checke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75C923AF-C62B-3540-B5AA-9C106513D6EC}"/>
              </a:ext>
            </a:extLst>
          </p:cNvPr>
          <p:cNvSpPr>
            <a:spLocks noGrp="1" noChangeArrowheads="1"/>
          </p:cNvSpPr>
          <p:nvPr>
            <p:ph type="title"/>
          </p:nvPr>
        </p:nvSpPr>
        <p:spPr>
          <a:xfrm>
            <a:off x="703263" y="161925"/>
            <a:ext cx="8420100" cy="603250"/>
          </a:xfrm>
        </p:spPr>
        <p:txBody>
          <a:bodyPr/>
          <a:lstStyle/>
          <a:p>
            <a:r>
              <a:rPr lang="en-GB" altLang="en-US" i="1">
                <a:ea typeface="ＭＳ Ｐゴシック" panose="020B0600070205080204" pitchFamily="34" charset="-128"/>
              </a:rPr>
              <a:t>n</a:t>
            </a:r>
            <a:r>
              <a:rPr lang="en-GB" altLang="en-US">
                <a:ea typeface="ＭＳ Ｐゴシック" panose="020B0600070205080204" pitchFamily="34" charset="-128"/>
              </a:rPr>
              <a:t>-bit signals - buses</a:t>
            </a:r>
          </a:p>
        </p:txBody>
      </p:sp>
      <p:sp>
        <p:nvSpPr>
          <p:cNvPr id="26626" name="Rectangle 3">
            <a:extLst>
              <a:ext uri="{FF2B5EF4-FFF2-40B4-BE49-F238E27FC236}">
                <a16:creationId xmlns:a16="http://schemas.microsoft.com/office/drawing/2014/main" id="{A283ADA1-5ABE-C846-983E-2CD7D33ECF8B}"/>
              </a:ext>
            </a:extLst>
          </p:cNvPr>
          <p:cNvSpPr txBox="1">
            <a:spLocks noChangeArrowheads="1"/>
          </p:cNvSpPr>
          <p:nvPr/>
        </p:nvSpPr>
        <p:spPr bwMode="auto">
          <a:xfrm>
            <a:off x="487363" y="1125538"/>
            <a:ext cx="3817937"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Verilog is powerful in specifying multi-bit signals and buses.</a:t>
            </a:r>
          </a:p>
          <a:p>
            <a:pPr>
              <a:spcBef>
                <a:spcPts val="600"/>
              </a:spcBef>
            </a:pPr>
            <a:r>
              <a:rPr lang="en-GB" altLang="en-US" sz="1800"/>
              <a:t>Here is an example for 8-bit wide 2-to-1 multiplexer:</a:t>
            </a:r>
          </a:p>
        </p:txBody>
      </p:sp>
      <p:pic>
        <p:nvPicPr>
          <p:cNvPr id="26627" name="Picture 2">
            <a:extLst>
              <a:ext uri="{FF2B5EF4-FFF2-40B4-BE49-F238E27FC236}">
                <a16:creationId xmlns:a16="http://schemas.microsoft.com/office/drawing/2014/main" id="{54C78D5D-2970-A148-87AD-C441CA7BEB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06500" y="2708275"/>
            <a:ext cx="2522538"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3">
            <a:extLst>
              <a:ext uri="{FF2B5EF4-FFF2-40B4-BE49-F238E27FC236}">
                <a16:creationId xmlns:a16="http://schemas.microsoft.com/office/drawing/2014/main" id="{02A7762A-BA22-6744-B0F4-DBB83F376B8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68900" y="1268413"/>
            <a:ext cx="4449763" cy="347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5">
            <a:extLst>
              <a:ext uri="{FF2B5EF4-FFF2-40B4-BE49-F238E27FC236}">
                <a16:creationId xmlns:a16="http://schemas.microsoft.com/office/drawing/2014/main" id="{D8C90948-A042-974C-A58B-6E28A67B001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495425" y="5013325"/>
            <a:ext cx="69246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animEffect transition="in" filter="dissolve">
                                      <p:cBhvr>
                                        <p:cTn id="7" dur="5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8673" name="Picture 6">
            <a:extLst>
              <a:ext uri="{FF2B5EF4-FFF2-40B4-BE49-F238E27FC236}">
                <a16:creationId xmlns:a16="http://schemas.microsoft.com/office/drawing/2014/main" id="{F1C18F48-328A-0643-BBA6-572EA332331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438" y="1928813"/>
            <a:ext cx="3744912"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4" name="Picture 4">
            <a:extLst>
              <a:ext uri="{FF2B5EF4-FFF2-40B4-BE49-F238E27FC236}">
                <a16:creationId xmlns:a16="http://schemas.microsoft.com/office/drawing/2014/main" id="{911B676A-2D83-4F4B-BE7C-4C5CCA50DE0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87363" y="966788"/>
            <a:ext cx="2881312"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5" name="Picture 2">
            <a:extLst>
              <a:ext uri="{FF2B5EF4-FFF2-40B4-BE49-F238E27FC236}">
                <a16:creationId xmlns:a16="http://schemas.microsoft.com/office/drawing/2014/main" id="{5156915D-0D2D-7242-9F5E-03EF3D8F679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11325" y="3860800"/>
            <a:ext cx="6704013" cy="2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Rectangle 2">
            <a:extLst>
              <a:ext uri="{FF2B5EF4-FFF2-40B4-BE49-F238E27FC236}">
                <a16:creationId xmlns:a16="http://schemas.microsoft.com/office/drawing/2014/main" id="{40AE7F77-C032-9A40-A641-787DD17CC29E}"/>
              </a:ext>
            </a:extLst>
          </p:cNvPr>
          <p:cNvSpPr txBox="1">
            <a:spLocks noChangeArrowheads="1"/>
          </p:cNvSpPr>
          <p:nvPr/>
        </p:nvSpPr>
        <p:spPr bwMode="auto">
          <a:xfrm>
            <a:off x="703263" y="161925"/>
            <a:ext cx="84201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lgn="ctr">
              <a:spcBef>
                <a:spcPct val="0"/>
              </a:spcBef>
              <a:buClrTx/>
              <a:buSzTx/>
              <a:buFontTx/>
              <a:buNone/>
            </a:pPr>
            <a:r>
              <a:rPr lang="en-GB" altLang="en-US" sz="2800" b="1">
                <a:solidFill>
                  <a:schemeClr val="accent2"/>
                </a:solidFill>
              </a:rPr>
              <a:t>Putting everything together – 7 seg decoder</a:t>
            </a:r>
          </a:p>
        </p:txBody>
      </p:sp>
      <p:pic>
        <p:nvPicPr>
          <p:cNvPr id="28677" name="Picture 9">
            <a:extLst>
              <a:ext uri="{FF2B5EF4-FFF2-40B4-BE49-F238E27FC236}">
                <a16:creationId xmlns:a16="http://schemas.microsoft.com/office/drawing/2014/main" id="{D82D59B7-72FE-F345-831A-657E21CDF9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60838" y="1052513"/>
            <a:ext cx="5256212"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673"/>
                                        </p:tgtEl>
                                        <p:attrNameLst>
                                          <p:attrName>style.visibility</p:attrName>
                                        </p:attrNameLst>
                                      </p:cBhvr>
                                      <p:to>
                                        <p:strVal val="visible"/>
                                      </p:to>
                                    </p:set>
                                    <p:animEffect transition="in" filter="dissolve">
                                      <p:cBhvr>
                                        <p:cTn id="7" dur="500"/>
                                        <p:tgtEl>
                                          <p:spTgt spid="2867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8675"/>
                                        </p:tgtEl>
                                        <p:attrNameLst>
                                          <p:attrName>style.visibility</p:attrName>
                                        </p:attrNameLst>
                                      </p:cBhvr>
                                      <p:to>
                                        <p:strVal val="visible"/>
                                      </p:to>
                                    </p:set>
                                    <p:animEffect transition="in" filter="dissolve">
                                      <p:cBhvr>
                                        <p:cTn id="12" dur="500"/>
                                        <p:tgtEl>
                                          <p:spTgt spid="2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0176ABBA-A810-5F4A-97CB-1DB89D28B1BC}"/>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Method 1: Schematic Entry Implementation</a:t>
            </a:r>
          </a:p>
        </p:txBody>
      </p:sp>
      <p:sp>
        <p:nvSpPr>
          <p:cNvPr id="5" name="TextBox 4">
            <a:extLst>
              <a:ext uri="{FF2B5EF4-FFF2-40B4-BE49-F238E27FC236}">
                <a16:creationId xmlns:a16="http://schemas.microsoft.com/office/drawing/2014/main" id="{06078304-F9B5-A741-9932-F75EDC586DF6}"/>
              </a:ext>
            </a:extLst>
          </p:cNvPr>
          <p:cNvSpPr txBox="1"/>
          <p:nvPr/>
        </p:nvSpPr>
        <p:spPr>
          <a:xfrm>
            <a:off x="559103" y="5085184"/>
            <a:ext cx="2743729" cy="338554"/>
          </a:xfrm>
          <a:prstGeom prst="rect">
            <a:avLst/>
          </a:prstGeom>
          <a:gradFill flip="none" rotWithShape="1">
            <a:gsLst>
              <a:gs pos="0">
                <a:srgbClr val="FB0737">
                  <a:alpha val="39000"/>
                </a:srgbClr>
              </a:gs>
              <a:gs pos="100000">
                <a:srgbClr val="FFFFFF">
                  <a:alpha val="39000"/>
                </a:srgbClr>
              </a:gs>
            </a:gsLst>
            <a:path path="circle">
              <a:fillToRect l="100000" t="100000"/>
            </a:path>
            <a:tileRect r="-100000" b="-100000"/>
          </a:gradFill>
          <a:ln>
            <a:noFill/>
          </a:ln>
          <a:effectLst>
            <a:outerShdw blurRad="50800" dist="38100" dir="2700000" algn="tl" rotWithShape="0">
              <a:srgbClr val="000000">
                <a:alpha val="43000"/>
              </a:srgbClr>
            </a:outerShdw>
          </a:effectLst>
        </p:spPr>
        <p:txBody>
          <a:bodyPr>
            <a:spAutoFit/>
          </a:bodyPr>
          <a:lstStyle/>
          <a:p>
            <a:pPr algn="ctr">
              <a:defRPr/>
            </a:pPr>
            <a:r>
              <a:rPr lang="en-US" sz="1600" dirty="0">
                <a:latin typeface="Arial" charset="0"/>
                <a:ea typeface="ＭＳ Ｐゴシック" charset="0"/>
                <a:cs typeface="ＭＳ Ｐゴシック" charset="0"/>
              </a:rPr>
              <a:t>TEDIOUS!!!!!</a:t>
            </a:r>
          </a:p>
        </p:txBody>
      </p:sp>
      <p:pic>
        <p:nvPicPr>
          <p:cNvPr id="3" name="Picture 2">
            <a:extLst>
              <a:ext uri="{FF2B5EF4-FFF2-40B4-BE49-F238E27FC236}">
                <a16:creationId xmlns:a16="http://schemas.microsoft.com/office/drawing/2014/main" id="{8E491B0C-D9FE-8341-AB77-3BD55833490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47950" y="1052513"/>
            <a:ext cx="7056438" cy="532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7">
            <a:extLst>
              <a:ext uri="{FF2B5EF4-FFF2-40B4-BE49-F238E27FC236}">
                <a16:creationId xmlns:a16="http://schemas.microsoft.com/office/drawing/2014/main" id="{B1AFB4F8-6D0E-9C47-A898-646FB33499D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7000" y="1052513"/>
            <a:ext cx="361315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6A3E471A-2FD4-E141-B87A-A4DB52312512}"/>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Method 2: Use primitive gates in Verilog</a:t>
            </a:r>
          </a:p>
        </p:txBody>
      </p:sp>
      <p:pic>
        <p:nvPicPr>
          <p:cNvPr id="32770" name="Picture 3">
            <a:extLst>
              <a:ext uri="{FF2B5EF4-FFF2-40B4-BE49-F238E27FC236}">
                <a16:creationId xmlns:a16="http://schemas.microsoft.com/office/drawing/2014/main" id="{F329F196-E74C-684A-AD07-3F8847EC4B2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7363" y="1196975"/>
            <a:ext cx="4856162"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Oval 9">
            <a:extLst>
              <a:ext uri="{FF2B5EF4-FFF2-40B4-BE49-F238E27FC236}">
                <a16:creationId xmlns:a16="http://schemas.microsoft.com/office/drawing/2014/main" id="{4CC206FB-061E-FC4C-93C6-9747B38217B4}"/>
              </a:ext>
            </a:extLst>
          </p:cNvPr>
          <p:cNvSpPr>
            <a:spLocks noChangeArrowheads="1"/>
          </p:cNvSpPr>
          <p:nvPr/>
        </p:nvSpPr>
        <p:spPr bwMode="auto">
          <a:xfrm>
            <a:off x="271463" y="1125538"/>
            <a:ext cx="2881312" cy="1150937"/>
          </a:xfrm>
          <a:prstGeom prst="ellipse">
            <a:avLst/>
          </a:prstGeom>
          <a:noFill/>
          <a:ln w="38100">
            <a:solidFill>
              <a:srgbClr val="FB0737"/>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13" name="TextBox 12">
            <a:extLst>
              <a:ext uri="{FF2B5EF4-FFF2-40B4-BE49-F238E27FC236}">
                <a16:creationId xmlns:a16="http://schemas.microsoft.com/office/drawing/2014/main" id="{1E98DA5B-5A1A-DF48-9888-D4ECC255BA6F}"/>
              </a:ext>
            </a:extLst>
          </p:cNvPr>
          <p:cNvSpPr txBox="1"/>
          <p:nvPr/>
        </p:nvSpPr>
        <p:spPr>
          <a:xfrm>
            <a:off x="6033466" y="3717032"/>
            <a:ext cx="2743729" cy="584776"/>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p>
            <a:pPr>
              <a:defRPr/>
            </a:pPr>
            <a:r>
              <a:rPr lang="en-US" sz="1600" dirty="0">
                <a:latin typeface="Arial" charset="0"/>
                <a:ea typeface="ＭＳ Ｐゴシック" charset="0"/>
                <a:cs typeface="ＭＳ Ｐゴシック" charset="0"/>
              </a:rPr>
              <a:t>Direct mapping of gates to primitives</a:t>
            </a:r>
          </a:p>
        </p:txBody>
      </p:sp>
      <p:cxnSp>
        <p:nvCxnSpPr>
          <p:cNvPr id="14" name="Straight Arrow Connector 13">
            <a:extLst>
              <a:ext uri="{FF2B5EF4-FFF2-40B4-BE49-F238E27FC236}">
                <a16:creationId xmlns:a16="http://schemas.microsoft.com/office/drawing/2014/main" id="{F139A016-96B0-7D4D-A194-9D42116D440A}"/>
              </a:ext>
            </a:extLst>
          </p:cNvPr>
          <p:cNvCxnSpPr>
            <a:cxnSpLocks noChangeShapeType="1"/>
          </p:cNvCxnSpPr>
          <p:nvPr/>
        </p:nvCxnSpPr>
        <p:spPr bwMode="auto">
          <a:xfrm flipH="1">
            <a:off x="6608763" y="4292600"/>
            <a:ext cx="288925" cy="504825"/>
          </a:xfrm>
          <a:prstGeom prst="straightConnector1">
            <a:avLst/>
          </a:prstGeom>
          <a:noFill/>
          <a:ln w="38100">
            <a:solidFill>
              <a:srgbClr val="2D2DB9"/>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pic>
        <p:nvPicPr>
          <p:cNvPr id="32776" name="Picture 4">
            <a:extLst>
              <a:ext uri="{FF2B5EF4-FFF2-40B4-BE49-F238E27FC236}">
                <a16:creationId xmlns:a16="http://schemas.microsoft.com/office/drawing/2014/main" id="{760AB562-97FA-6346-A4C4-0C90E0B1F6F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13138" y="4941888"/>
            <a:ext cx="6029325"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7" name="Oval 15">
            <a:extLst>
              <a:ext uri="{FF2B5EF4-FFF2-40B4-BE49-F238E27FC236}">
                <a16:creationId xmlns:a16="http://schemas.microsoft.com/office/drawing/2014/main" id="{15C0819B-1897-B146-9047-1E4B9390E7C1}"/>
              </a:ext>
            </a:extLst>
          </p:cNvPr>
          <p:cNvSpPr>
            <a:spLocks noChangeArrowheads="1"/>
          </p:cNvSpPr>
          <p:nvPr/>
        </p:nvSpPr>
        <p:spPr bwMode="auto">
          <a:xfrm>
            <a:off x="3297238" y="4868863"/>
            <a:ext cx="5618162" cy="504825"/>
          </a:xfrm>
          <a:prstGeom prst="ellipse">
            <a:avLst/>
          </a:prstGeom>
          <a:noFill/>
          <a:ln w="38100">
            <a:solidFill>
              <a:srgbClr val="FB0737"/>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17" name="TextBox 16">
            <a:extLst>
              <a:ext uri="{FF2B5EF4-FFF2-40B4-BE49-F238E27FC236}">
                <a16:creationId xmlns:a16="http://schemas.microsoft.com/office/drawing/2014/main" id="{2E84E33C-E592-094C-9B83-5192EF6D47A7}"/>
              </a:ext>
            </a:extLst>
          </p:cNvPr>
          <p:cNvSpPr txBox="1"/>
          <p:nvPr/>
        </p:nvSpPr>
        <p:spPr>
          <a:xfrm>
            <a:off x="6321590" y="1700808"/>
            <a:ext cx="2743729" cy="338554"/>
          </a:xfrm>
          <a:prstGeom prst="rect">
            <a:avLst/>
          </a:prstGeom>
          <a:gradFill flip="none" rotWithShape="1">
            <a:gsLst>
              <a:gs pos="0">
                <a:srgbClr val="FB0737">
                  <a:alpha val="39000"/>
                </a:srgbClr>
              </a:gs>
              <a:gs pos="100000">
                <a:srgbClr val="FFFFFF">
                  <a:alpha val="39000"/>
                </a:srgbClr>
              </a:gs>
            </a:gsLst>
            <a:path path="circle">
              <a:fillToRect l="100000" t="100000"/>
            </a:path>
            <a:tileRect r="-100000" b="-100000"/>
          </a:gradFill>
          <a:ln>
            <a:noFill/>
          </a:ln>
          <a:effectLst>
            <a:outerShdw blurRad="50800" dist="38100" dir="2700000" algn="tl" rotWithShape="0">
              <a:srgbClr val="000000">
                <a:alpha val="43000"/>
              </a:srgbClr>
            </a:outerShdw>
          </a:effectLst>
        </p:spPr>
        <p:txBody>
          <a:bodyPr>
            <a:spAutoFit/>
          </a:bodyPr>
          <a:lstStyle/>
          <a:p>
            <a:pPr algn="ctr">
              <a:defRPr/>
            </a:pPr>
            <a:r>
              <a:rPr lang="en-US" sz="1600" dirty="0">
                <a:latin typeface="Arial" charset="0"/>
                <a:ea typeface="ＭＳ Ｐゴシック" charset="0"/>
                <a:cs typeface="ＭＳ Ｐゴシック" charset="0"/>
              </a:rPr>
              <a:t>Equally TEDIOUS!!!!!</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6C20865A-CC68-1947-8A64-E701680FAFE4}"/>
              </a:ext>
            </a:extLst>
          </p:cNvPr>
          <p:cNvSpPr>
            <a:spLocks noGrp="1" noChangeArrowheads="1"/>
          </p:cNvSpPr>
          <p:nvPr>
            <p:ph type="title"/>
          </p:nvPr>
        </p:nvSpPr>
        <p:spPr>
          <a:xfrm>
            <a:off x="703263" y="161925"/>
            <a:ext cx="8713787" cy="603250"/>
          </a:xfrm>
        </p:spPr>
        <p:txBody>
          <a:bodyPr/>
          <a:lstStyle/>
          <a:p>
            <a:r>
              <a:rPr lang="en-GB" altLang="en-US">
                <a:ea typeface="ＭＳ Ｐゴシック" panose="020B0600070205080204" pitchFamily="34" charset="-128"/>
              </a:rPr>
              <a:t>Method 3:  Use continuous assignment in Verilog</a:t>
            </a:r>
          </a:p>
        </p:txBody>
      </p:sp>
      <p:pic>
        <p:nvPicPr>
          <p:cNvPr id="34818" name="Picture 2">
            <a:extLst>
              <a:ext uri="{FF2B5EF4-FFF2-40B4-BE49-F238E27FC236}">
                <a16:creationId xmlns:a16="http://schemas.microsoft.com/office/drawing/2014/main" id="{DF72EBF2-1078-514E-9D04-C45A5A9DA7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9163" y="981075"/>
            <a:ext cx="77120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19" name="Picture 3">
            <a:extLst>
              <a:ext uri="{FF2B5EF4-FFF2-40B4-BE49-F238E27FC236}">
                <a16:creationId xmlns:a16="http://schemas.microsoft.com/office/drawing/2014/main" id="{AB596E9A-9503-C947-B3D8-22FCC339AAE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0238" y="1557338"/>
            <a:ext cx="485775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0" name="Picture 5">
            <a:extLst>
              <a:ext uri="{FF2B5EF4-FFF2-40B4-BE49-F238E27FC236}">
                <a16:creationId xmlns:a16="http://schemas.microsoft.com/office/drawing/2014/main" id="{2BD9E118-5004-1E4E-AF48-43F69E21420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249613" y="5221288"/>
            <a:ext cx="64579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Oval 6">
            <a:extLst>
              <a:ext uri="{FF2B5EF4-FFF2-40B4-BE49-F238E27FC236}">
                <a16:creationId xmlns:a16="http://schemas.microsoft.com/office/drawing/2014/main" id="{6FE807AC-0FC7-E649-BFAB-B482FB660D17}"/>
              </a:ext>
            </a:extLst>
          </p:cNvPr>
          <p:cNvSpPr>
            <a:spLocks noChangeArrowheads="1"/>
          </p:cNvSpPr>
          <p:nvPr/>
        </p:nvSpPr>
        <p:spPr bwMode="auto">
          <a:xfrm>
            <a:off x="1782763" y="981075"/>
            <a:ext cx="2090737" cy="647700"/>
          </a:xfrm>
          <a:prstGeom prst="ellipse">
            <a:avLst/>
          </a:prstGeom>
          <a:noFill/>
          <a:ln w="38100">
            <a:solidFill>
              <a:srgbClr val="FB0737"/>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34822" name="Oval 9">
            <a:extLst>
              <a:ext uri="{FF2B5EF4-FFF2-40B4-BE49-F238E27FC236}">
                <a16:creationId xmlns:a16="http://schemas.microsoft.com/office/drawing/2014/main" id="{9C025CA4-4CC0-D24F-82AC-53A8A2B0693B}"/>
              </a:ext>
            </a:extLst>
          </p:cNvPr>
          <p:cNvSpPr>
            <a:spLocks noChangeArrowheads="1"/>
          </p:cNvSpPr>
          <p:nvPr/>
        </p:nvSpPr>
        <p:spPr bwMode="auto">
          <a:xfrm>
            <a:off x="414338" y="1484313"/>
            <a:ext cx="2882900" cy="1152525"/>
          </a:xfrm>
          <a:prstGeom prst="ellipse">
            <a:avLst/>
          </a:prstGeom>
          <a:noFill/>
          <a:ln w="38100">
            <a:solidFill>
              <a:srgbClr val="FB0737"/>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34823" name="Oval 10">
            <a:extLst>
              <a:ext uri="{FF2B5EF4-FFF2-40B4-BE49-F238E27FC236}">
                <a16:creationId xmlns:a16="http://schemas.microsoft.com/office/drawing/2014/main" id="{EDAD21B1-D8B3-734E-93CF-8847935E5F98}"/>
              </a:ext>
            </a:extLst>
          </p:cNvPr>
          <p:cNvSpPr>
            <a:spLocks noChangeArrowheads="1"/>
          </p:cNvSpPr>
          <p:nvPr/>
        </p:nvSpPr>
        <p:spPr bwMode="auto">
          <a:xfrm>
            <a:off x="5457825" y="5084763"/>
            <a:ext cx="3600450" cy="647700"/>
          </a:xfrm>
          <a:prstGeom prst="ellipse">
            <a:avLst/>
          </a:prstGeom>
          <a:noFill/>
          <a:ln w="38100">
            <a:solidFill>
              <a:srgbClr val="FB0737"/>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13" name="TextBox 12">
            <a:extLst>
              <a:ext uri="{FF2B5EF4-FFF2-40B4-BE49-F238E27FC236}">
                <a16:creationId xmlns:a16="http://schemas.microsoft.com/office/drawing/2014/main" id="{1C9F3324-80BE-8543-968E-AE6550E71A02}"/>
              </a:ext>
            </a:extLst>
          </p:cNvPr>
          <p:cNvSpPr txBox="1"/>
          <p:nvPr/>
        </p:nvSpPr>
        <p:spPr>
          <a:xfrm>
            <a:off x="6321590" y="3861049"/>
            <a:ext cx="2743729"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p>
            <a:pPr>
              <a:defRPr/>
            </a:pPr>
            <a:r>
              <a:rPr lang="en-US" sz="1600" dirty="0">
                <a:latin typeface="Arial" charset="0"/>
                <a:ea typeface="ＭＳ Ｐゴシック" charset="0"/>
                <a:cs typeface="ＭＳ Ｐゴシック" charset="0"/>
              </a:rPr>
              <a:t>Direct mapping of Boolean equation using continuous assignment..</a:t>
            </a:r>
          </a:p>
        </p:txBody>
      </p:sp>
      <p:cxnSp>
        <p:nvCxnSpPr>
          <p:cNvPr id="14" name="Straight Arrow Connector 13">
            <a:extLst>
              <a:ext uri="{FF2B5EF4-FFF2-40B4-BE49-F238E27FC236}">
                <a16:creationId xmlns:a16="http://schemas.microsoft.com/office/drawing/2014/main" id="{7D6EAE30-7957-0748-9B7B-067BC9571C63}"/>
              </a:ext>
            </a:extLst>
          </p:cNvPr>
          <p:cNvCxnSpPr>
            <a:cxnSpLocks noChangeShapeType="1"/>
          </p:cNvCxnSpPr>
          <p:nvPr/>
        </p:nvCxnSpPr>
        <p:spPr bwMode="auto">
          <a:xfrm flipH="1">
            <a:off x="7256463" y="4652963"/>
            <a:ext cx="144462" cy="360362"/>
          </a:xfrm>
          <a:prstGeom prst="straightConnector1">
            <a:avLst/>
          </a:prstGeom>
          <a:noFill/>
          <a:ln w="38100">
            <a:solidFill>
              <a:srgbClr val="2D2DB9"/>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2D4309DA-8F09-A348-AD2E-E6C2F0C66EF8}"/>
              </a:ext>
            </a:extLst>
          </p:cNvPr>
          <p:cNvSpPr txBox="1"/>
          <p:nvPr/>
        </p:nvSpPr>
        <p:spPr>
          <a:xfrm>
            <a:off x="6249559" y="2132856"/>
            <a:ext cx="2743729" cy="338554"/>
          </a:xfrm>
          <a:prstGeom prst="rect">
            <a:avLst/>
          </a:prstGeom>
          <a:gradFill flip="none" rotWithShape="1">
            <a:gsLst>
              <a:gs pos="0">
                <a:srgbClr val="FB0737">
                  <a:alpha val="39000"/>
                </a:srgbClr>
              </a:gs>
              <a:gs pos="100000">
                <a:srgbClr val="FFFFFF">
                  <a:alpha val="39000"/>
                </a:srgbClr>
              </a:gs>
            </a:gsLst>
            <a:path path="circle">
              <a:fillToRect l="100000" t="100000"/>
            </a:path>
            <a:tileRect r="-100000" b="-100000"/>
          </a:gradFill>
          <a:ln>
            <a:noFill/>
          </a:ln>
          <a:effectLst>
            <a:outerShdw blurRad="50800" dist="38100" dir="2700000" algn="tl" rotWithShape="0">
              <a:srgbClr val="000000">
                <a:alpha val="43000"/>
              </a:srgbClr>
            </a:outerShdw>
          </a:effectLst>
        </p:spPr>
        <p:txBody>
          <a:bodyPr>
            <a:spAutoFit/>
          </a:bodyPr>
          <a:lstStyle/>
          <a:p>
            <a:pPr algn="ctr">
              <a:defRPr/>
            </a:pPr>
            <a:r>
              <a:rPr lang="en-US" sz="1600" dirty="0">
                <a:latin typeface="Arial" charset="0"/>
                <a:ea typeface="ＭＳ Ｐゴシック" charset="0"/>
                <a:cs typeface="ＭＳ Ｐゴシック" charset="0"/>
              </a:rPr>
              <a:t>Much Better?</a:t>
            </a:r>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C739D197-2353-0047-99FC-04A61A3FF593}"/>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Hex_to_7seg.v</a:t>
            </a:r>
          </a:p>
        </p:txBody>
      </p:sp>
      <p:pic>
        <p:nvPicPr>
          <p:cNvPr id="36866" name="Picture 7">
            <a:extLst>
              <a:ext uri="{FF2B5EF4-FFF2-40B4-BE49-F238E27FC236}">
                <a16:creationId xmlns:a16="http://schemas.microsoft.com/office/drawing/2014/main" id="{1298BEBF-A86D-5940-85C1-67BF7DC45F8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6550" y="981075"/>
            <a:ext cx="8218488" cy="547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67" name="Group 15">
            <a:extLst>
              <a:ext uri="{FF2B5EF4-FFF2-40B4-BE49-F238E27FC236}">
                <a16:creationId xmlns:a16="http://schemas.microsoft.com/office/drawing/2014/main" id="{FDF771FB-4ABA-AB4C-8041-B682757CE032}"/>
              </a:ext>
            </a:extLst>
          </p:cNvPr>
          <p:cNvGrpSpPr>
            <a:grpSpLocks/>
          </p:cNvGrpSpPr>
          <p:nvPr/>
        </p:nvGrpSpPr>
        <p:grpSpPr bwMode="auto">
          <a:xfrm>
            <a:off x="6392863" y="1052513"/>
            <a:ext cx="3098800" cy="585787"/>
            <a:chOff x="6391572" y="1052736"/>
            <a:chExt cx="3096344" cy="584776"/>
          </a:xfrm>
        </p:grpSpPr>
        <p:sp>
          <p:nvSpPr>
            <p:cNvPr id="9" name="TextBox 8">
              <a:extLst>
                <a:ext uri="{FF2B5EF4-FFF2-40B4-BE49-F238E27FC236}">
                  <a16:creationId xmlns:a16="http://schemas.microsoft.com/office/drawing/2014/main" id="{B54B37D7-CDFE-A54D-A8E7-715859088AFD}"/>
                </a:ext>
              </a:extLst>
            </p:cNvPr>
            <p:cNvSpPr txBox="1"/>
            <p:nvPr/>
          </p:nvSpPr>
          <p:spPr>
            <a:xfrm>
              <a:off x="6895628" y="1052736"/>
              <a:ext cx="2592288" cy="584776"/>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p>
              <a:pPr>
                <a:defRPr/>
              </a:pPr>
              <a:r>
                <a:rPr lang="en-US" sz="1600" dirty="0">
                  <a:latin typeface="Arial" charset="0"/>
                  <a:ea typeface="ＭＳ Ｐゴシック" charset="0"/>
                  <a:cs typeface="ＭＳ Ｐゴシック" charset="0"/>
                </a:rPr>
                <a:t>good header helps documenting your code</a:t>
              </a:r>
            </a:p>
          </p:txBody>
        </p:sp>
        <p:cxnSp>
          <p:nvCxnSpPr>
            <p:cNvPr id="13" name="Straight Arrow Connector 12">
              <a:extLst>
                <a:ext uri="{FF2B5EF4-FFF2-40B4-BE49-F238E27FC236}">
                  <a16:creationId xmlns:a16="http://schemas.microsoft.com/office/drawing/2014/main" id="{49605A4E-4B0B-0F46-B45A-D8D00A726AA4}"/>
                </a:ext>
              </a:extLst>
            </p:cNvPr>
            <p:cNvCxnSpPr>
              <a:cxnSpLocks noChangeShapeType="1"/>
            </p:cNvCxnSpPr>
            <p:nvPr/>
          </p:nvCxnSpPr>
          <p:spPr bwMode="auto">
            <a:xfrm flipH="1">
              <a:off x="6391572" y="1196949"/>
              <a:ext cx="504425" cy="144214"/>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grpSp>
      <p:sp>
        <p:nvSpPr>
          <p:cNvPr id="19" name="TextBox 18">
            <a:extLst>
              <a:ext uri="{FF2B5EF4-FFF2-40B4-BE49-F238E27FC236}">
                <a16:creationId xmlns:a16="http://schemas.microsoft.com/office/drawing/2014/main" id="{47275E9F-D4AE-A648-96FA-CB8CBD3A4A3E}"/>
              </a:ext>
            </a:extLst>
          </p:cNvPr>
          <p:cNvSpPr txBox="1"/>
          <p:nvPr/>
        </p:nvSpPr>
        <p:spPr>
          <a:xfrm>
            <a:off x="487072" y="44625"/>
            <a:ext cx="2593119"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rgbClr val="3366FF"/>
            </a:solidFill>
          </a:ln>
          <a:effectLst>
            <a:outerShdw blurRad="50800" dist="38100" dir="2700000" algn="tl" rotWithShape="0">
              <a:srgbClr val="000000">
                <a:alpha val="43000"/>
              </a:srgbClr>
            </a:outerShdw>
          </a:effectLst>
        </p:spPr>
        <p:txBody>
          <a:bodyPr>
            <a:spAutoFit/>
          </a:bodyPr>
          <a:lstStyle/>
          <a:p>
            <a:pPr>
              <a:defRPr/>
            </a:pPr>
            <a:r>
              <a:rPr lang="en-US" sz="1600" b="1" dirty="0">
                <a:solidFill>
                  <a:srgbClr val="3366FF"/>
                </a:solidFill>
                <a:latin typeface="Courier"/>
                <a:ea typeface="ＭＳ Ｐゴシック" charset="0"/>
                <a:cs typeface="Courier"/>
              </a:rPr>
              <a:t>module</a:t>
            </a:r>
            <a:r>
              <a:rPr lang="en-US" sz="1600" dirty="0">
                <a:solidFill>
                  <a:srgbClr val="3366FF"/>
                </a:solidFill>
                <a:latin typeface="Arial" charset="0"/>
                <a:ea typeface="ＭＳ Ｐゴシック" charset="0"/>
                <a:cs typeface="ＭＳ Ｐゴシック" charset="0"/>
              </a:rPr>
              <a:t> </a:t>
            </a:r>
            <a:r>
              <a:rPr lang="en-US" sz="1600" dirty="0">
                <a:latin typeface="Arial" charset="0"/>
                <a:ea typeface="ＭＳ Ｐゴシック" charset="0"/>
                <a:cs typeface="ＭＳ Ｐゴシック" charset="0"/>
              </a:rPr>
              <a:t>&amp; </a:t>
            </a:r>
            <a:r>
              <a:rPr lang="en-US" sz="1600" b="1" dirty="0" err="1">
                <a:solidFill>
                  <a:srgbClr val="3366FF"/>
                </a:solidFill>
                <a:latin typeface="Arial" charset="0"/>
                <a:ea typeface="ＭＳ Ｐゴシック" charset="0"/>
                <a:cs typeface="ＭＳ Ｐゴシック" charset="0"/>
              </a:rPr>
              <a:t>endmodule</a:t>
            </a:r>
            <a:r>
              <a:rPr lang="en-US" sz="1600" dirty="0">
                <a:solidFill>
                  <a:srgbClr val="3366FF"/>
                </a:solidFill>
                <a:latin typeface="Arial" charset="0"/>
                <a:ea typeface="ＭＳ Ｐゴシック" charset="0"/>
                <a:cs typeface="ＭＳ Ｐゴシック" charset="0"/>
              </a:rPr>
              <a:t> </a:t>
            </a:r>
            <a:r>
              <a:rPr lang="en-US" sz="1600" dirty="0">
                <a:latin typeface="Arial" charset="0"/>
                <a:ea typeface="ＭＳ Ｐゴシック" charset="0"/>
                <a:cs typeface="ＭＳ Ｐゴシック" charset="0"/>
              </a:rPr>
              <a:t>sandwich the content of this hardware module</a:t>
            </a:r>
          </a:p>
        </p:txBody>
      </p:sp>
      <p:cxnSp>
        <p:nvCxnSpPr>
          <p:cNvPr id="20" name="Straight Arrow Connector 19">
            <a:extLst>
              <a:ext uri="{FF2B5EF4-FFF2-40B4-BE49-F238E27FC236}">
                <a16:creationId xmlns:a16="http://schemas.microsoft.com/office/drawing/2014/main" id="{67C14200-6D2C-E34A-87EE-F6ABEB7A42B7}"/>
              </a:ext>
            </a:extLst>
          </p:cNvPr>
          <p:cNvCxnSpPr>
            <a:cxnSpLocks noChangeShapeType="1"/>
          </p:cNvCxnSpPr>
          <p:nvPr/>
        </p:nvCxnSpPr>
        <p:spPr bwMode="auto">
          <a:xfrm flipH="1">
            <a:off x="630238" y="836613"/>
            <a:ext cx="576262" cy="1944687"/>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23" name="TextBox 22">
            <a:extLst>
              <a:ext uri="{FF2B5EF4-FFF2-40B4-BE49-F238E27FC236}">
                <a16:creationId xmlns:a16="http://schemas.microsoft.com/office/drawing/2014/main" id="{D50C6E56-A04B-2742-9CFD-4BC71256E5AF}"/>
              </a:ext>
            </a:extLst>
          </p:cNvPr>
          <p:cNvSpPr txBox="1"/>
          <p:nvPr/>
        </p:nvSpPr>
        <p:spPr>
          <a:xfrm>
            <a:off x="3872533" y="1556793"/>
            <a:ext cx="2593119"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rgbClr val="3366FF"/>
            </a:solidFill>
          </a:ln>
          <a:effectLst>
            <a:outerShdw blurRad="50800" dist="38100" dir="2700000" algn="tl" rotWithShape="0">
              <a:srgbClr val="000000">
                <a:alpha val="43000"/>
              </a:srgbClr>
            </a:outerShdw>
          </a:effectLst>
        </p:spPr>
        <p:txBody>
          <a:bodyPr>
            <a:spAutoFit/>
          </a:bodyPr>
          <a:lstStyle/>
          <a:p>
            <a:pPr>
              <a:defRPr/>
            </a:pPr>
            <a:r>
              <a:rPr lang="en-US" sz="1600" dirty="0">
                <a:latin typeface="Arial" charset="0"/>
                <a:ea typeface="ＭＳ Ｐゴシック" charset="0"/>
                <a:cs typeface="ＭＳ Ｐゴシック" charset="0"/>
              </a:rPr>
              <a:t>specify interface to this module as viewed from outside</a:t>
            </a:r>
          </a:p>
        </p:txBody>
      </p:sp>
      <p:cxnSp>
        <p:nvCxnSpPr>
          <p:cNvPr id="24" name="Straight Arrow Connector 23">
            <a:extLst>
              <a:ext uri="{FF2B5EF4-FFF2-40B4-BE49-F238E27FC236}">
                <a16:creationId xmlns:a16="http://schemas.microsoft.com/office/drawing/2014/main" id="{D8C5A206-B565-7F44-BBD6-33E4B8B61FE7}"/>
              </a:ext>
            </a:extLst>
          </p:cNvPr>
          <p:cNvCxnSpPr>
            <a:cxnSpLocks noChangeShapeType="1"/>
          </p:cNvCxnSpPr>
          <p:nvPr/>
        </p:nvCxnSpPr>
        <p:spPr bwMode="auto">
          <a:xfrm flipH="1">
            <a:off x="1927225" y="2492375"/>
            <a:ext cx="5041900" cy="649288"/>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36" name="TextBox 35">
            <a:extLst>
              <a:ext uri="{FF2B5EF4-FFF2-40B4-BE49-F238E27FC236}">
                <a16:creationId xmlns:a16="http://schemas.microsoft.com/office/drawing/2014/main" id="{B156EF36-2E5B-3148-87FB-E9FC4F4C613B}"/>
              </a:ext>
            </a:extLst>
          </p:cNvPr>
          <p:cNvSpPr txBox="1"/>
          <p:nvPr/>
        </p:nvSpPr>
        <p:spPr>
          <a:xfrm>
            <a:off x="6969870" y="2060848"/>
            <a:ext cx="2593119" cy="584776"/>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defRPr/>
            </a:pPr>
            <a:r>
              <a:rPr lang="en-US" altLang="x-none" sz="1600"/>
              <a:t>specify a 7-bit output bus, out[6] … out[0]</a:t>
            </a:r>
          </a:p>
        </p:txBody>
      </p:sp>
      <p:cxnSp>
        <p:nvCxnSpPr>
          <p:cNvPr id="37" name="Straight Arrow Connector 36">
            <a:extLst>
              <a:ext uri="{FF2B5EF4-FFF2-40B4-BE49-F238E27FC236}">
                <a16:creationId xmlns:a16="http://schemas.microsoft.com/office/drawing/2014/main" id="{90DE6F7E-DA7C-8449-9EBB-B5F9611CD117}"/>
              </a:ext>
            </a:extLst>
          </p:cNvPr>
          <p:cNvCxnSpPr>
            <a:cxnSpLocks noChangeShapeType="1"/>
          </p:cNvCxnSpPr>
          <p:nvPr/>
        </p:nvCxnSpPr>
        <p:spPr bwMode="auto">
          <a:xfrm flipH="1">
            <a:off x="2792413" y="1989138"/>
            <a:ext cx="1081087" cy="792162"/>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grpSp>
        <p:nvGrpSpPr>
          <p:cNvPr id="36880" name="Group 6145">
            <a:extLst>
              <a:ext uri="{FF2B5EF4-FFF2-40B4-BE49-F238E27FC236}">
                <a16:creationId xmlns:a16="http://schemas.microsoft.com/office/drawing/2014/main" id="{39F456A3-A26F-3A40-B9BA-19B4B81B2A3E}"/>
              </a:ext>
            </a:extLst>
          </p:cNvPr>
          <p:cNvGrpSpPr>
            <a:grpSpLocks/>
          </p:cNvGrpSpPr>
          <p:nvPr/>
        </p:nvGrpSpPr>
        <p:grpSpPr bwMode="auto">
          <a:xfrm>
            <a:off x="7618413" y="2781300"/>
            <a:ext cx="2160587" cy="830263"/>
            <a:chOff x="7615708" y="2780928"/>
            <a:chExt cx="2160240" cy="830997"/>
          </a:xfrm>
        </p:grpSpPr>
        <p:sp>
          <p:nvSpPr>
            <p:cNvPr id="31" name="TextBox 30">
              <a:extLst>
                <a:ext uri="{FF2B5EF4-FFF2-40B4-BE49-F238E27FC236}">
                  <a16:creationId xmlns:a16="http://schemas.microsoft.com/office/drawing/2014/main" id="{8FD6DD24-8DD4-F946-AED2-CFAE344EE678}"/>
                </a:ext>
              </a:extLst>
            </p:cNvPr>
            <p:cNvSpPr txBox="1"/>
            <p:nvPr/>
          </p:nvSpPr>
          <p:spPr>
            <a:xfrm>
              <a:off x="8119764" y="2780928"/>
              <a:ext cx="1656184"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p>
              <a:pPr>
                <a:defRPr/>
              </a:pPr>
              <a:r>
                <a:rPr lang="en-US" sz="1600" dirty="0">
                  <a:latin typeface="Arial" charset="0"/>
                  <a:ea typeface="ＭＳ Ｐゴシック" charset="0"/>
                  <a:cs typeface="ＭＳ Ｐゴシック" charset="0"/>
                </a:rPr>
                <a:t>declaration of input and output ports</a:t>
              </a:r>
            </a:p>
          </p:txBody>
        </p:sp>
        <p:cxnSp>
          <p:nvCxnSpPr>
            <p:cNvPr id="32" name="Straight Arrow Connector 31">
              <a:extLst>
                <a:ext uri="{FF2B5EF4-FFF2-40B4-BE49-F238E27FC236}">
                  <a16:creationId xmlns:a16="http://schemas.microsoft.com/office/drawing/2014/main" id="{E0402065-CAA7-EF4C-AFFD-82C16BB6D77D}"/>
                </a:ext>
              </a:extLst>
            </p:cNvPr>
            <p:cNvCxnSpPr>
              <a:cxnSpLocks noChangeShapeType="1"/>
            </p:cNvCxnSpPr>
            <p:nvPr/>
          </p:nvCxnSpPr>
          <p:spPr bwMode="auto">
            <a:xfrm flipH="1">
              <a:off x="7760147" y="3284611"/>
              <a:ext cx="360305" cy="0"/>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grpSp>
          <p:nvGrpSpPr>
            <p:cNvPr id="36889" name="Group 62">
              <a:extLst>
                <a:ext uri="{FF2B5EF4-FFF2-40B4-BE49-F238E27FC236}">
                  <a16:creationId xmlns:a16="http://schemas.microsoft.com/office/drawing/2014/main" id="{DB89E11D-6FB5-C941-B65E-796D395FF511}"/>
                </a:ext>
              </a:extLst>
            </p:cNvPr>
            <p:cNvGrpSpPr>
              <a:grpSpLocks/>
            </p:cNvGrpSpPr>
            <p:nvPr/>
          </p:nvGrpSpPr>
          <p:grpSpPr bwMode="auto">
            <a:xfrm>
              <a:off x="7615708" y="3068960"/>
              <a:ext cx="144016" cy="432048"/>
              <a:chOff x="7543700" y="3068960"/>
              <a:chExt cx="216024" cy="432048"/>
            </a:xfrm>
          </p:grpSpPr>
          <p:cxnSp>
            <p:nvCxnSpPr>
              <p:cNvPr id="36890" name="Straight Connector 52">
                <a:extLst>
                  <a:ext uri="{FF2B5EF4-FFF2-40B4-BE49-F238E27FC236}">
                    <a16:creationId xmlns:a16="http://schemas.microsoft.com/office/drawing/2014/main" id="{F556CDE4-2873-A44D-950F-175D81ED3718}"/>
                  </a:ext>
                </a:extLst>
              </p:cNvPr>
              <p:cNvCxnSpPr>
                <a:cxnSpLocks noChangeShapeType="1"/>
              </p:cNvCxnSpPr>
              <p:nvPr/>
            </p:nvCxnSpPr>
            <p:spPr bwMode="auto">
              <a:xfrm>
                <a:off x="7543700" y="3068960"/>
                <a:ext cx="216024" cy="0"/>
              </a:xfrm>
              <a:prstGeom prst="line">
                <a:avLst/>
              </a:prstGeom>
              <a:noFill/>
              <a:ln w="38100">
                <a:solidFill>
                  <a:srgbClr val="FB0737"/>
                </a:solidFill>
                <a:round/>
                <a:headEnd type="none" w="sm" len="sm"/>
                <a:tailEnd type="none" w="sm" len="sm"/>
              </a:ln>
              <a:extLst>
                <a:ext uri="{909E8E84-426E-40DD-AFC4-6F175D3DCCD1}">
                  <a14:hiddenFill xmlns:a14="http://schemas.microsoft.com/office/drawing/2010/main">
                    <a:noFill/>
                  </a14:hiddenFill>
                </a:ext>
              </a:extLst>
            </p:spPr>
          </p:cxnSp>
          <p:cxnSp>
            <p:nvCxnSpPr>
              <p:cNvPr id="36891" name="Straight Connector 56">
                <a:extLst>
                  <a:ext uri="{FF2B5EF4-FFF2-40B4-BE49-F238E27FC236}">
                    <a16:creationId xmlns:a16="http://schemas.microsoft.com/office/drawing/2014/main" id="{16A2DACF-5881-3848-9D5A-91A4111BF85C}"/>
                  </a:ext>
                </a:extLst>
              </p:cNvPr>
              <p:cNvCxnSpPr>
                <a:cxnSpLocks noChangeShapeType="1"/>
              </p:cNvCxnSpPr>
              <p:nvPr/>
            </p:nvCxnSpPr>
            <p:spPr bwMode="auto">
              <a:xfrm>
                <a:off x="7759724" y="3068960"/>
                <a:ext cx="0" cy="432048"/>
              </a:xfrm>
              <a:prstGeom prst="line">
                <a:avLst/>
              </a:prstGeom>
              <a:noFill/>
              <a:ln w="38100">
                <a:solidFill>
                  <a:srgbClr val="FB0737"/>
                </a:solidFill>
                <a:round/>
                <a:headEnd type="none" w="sm" len="sm"/>
                <a:tailEnd type="none" w="sm" len="sm"/>
              </a:ln>
              <a:extLst>
                <a:ext uri="{909E8E84-426E-40DD-AFC4-6F175D3DCCD1}">
                  <a14:hiddenFill xmlns:a14="http://schemas.microsoft.com/office/drawing/2010/main">
                    <a:noFill/>
                  </a14:hiddenFill>
                </a:ext>
              </a:extLst>
            </p:spPr>
          </p:cxnSp>
          <p:cxnSp>
            <p:nvCxnSpPr>
              <p:cNvPr id="36892" name="Straight Connector 59">
                <a:extLst>
                  <a:ext uri="{FF2B5EF4-FFF2-40B4-BE49-F238E27FC236}">
                    <a16:creationId xmlns:a16="http://schemas.microsoft.com/office/drawing/2014/main" id="{0CF3E9BC-0340-244C-B720-E0FDBFBDCE38}"/>
                  </a:ext>
                </a:extLst>
              </p:cNvPr>
              <p:cNvCxnSpPr>
                <a:cxnSpLocks noChangeShapeType="1"/>
              </p:cNvCxnSpPr>
              <p:nvPr/>
            </p:nvCxnSpPr>
            <p:spPr bwMode="auto">
              <a:xfrm>
                <a:off x="7543700" y="3501008"/>
                <a:ext cx="216024" cy="0"/>
              </a:xfrm>
              <a:prstGeom prst="line">
                <a:avLst/>
              </a:prstGeom>
              <a:noFill/>
              <a:ln w="38100">
                <a:solidFill>
                  <a:srgbClr val="FB0737"/>
                </a:solidFill>
                <a:round/>
                <a:headEnd type="none" w="sm" len="sm"/>
                <a:tailEnd type="none" w="sm" len="sm"/>
              </a:ln>
              <a:extLst>
                <a:ext uri="{909E8E84-426E-40DD-AFC4-6F175D3DCCD1}">
                  <a14:hiddenFill xmlns:a14="http://schemas.microsoft.com/office/drawing/2010/main">
                    <a:noFill/>
                  </a14:hiddenFill>
                </a:ext>
              </a:extLst>
            </p:spPr>
          </p:cxnSp>
        </p:grpSp>
      </p:grpSp>
      <p:sp>
        <p:nvSpPr>
          <p:cNvPr id="67" name="TextBox 66">
            <a:extLst>
              <a:ext uri="{FF2B5EF4-FFF2-40B4-BE49-F238E27FC236}">
                <a16:creationId xmlns:a16="http://schemas.microsoft.com/office/drawing/2014/main" id="{0A0FE7F9-7C7F-954C-BF7E-9212401E0CB3}"/>
              </a:ext>
            </a:extLst>
          </p:cNvPr>
          <p:cNvSpPr txBox="1"/>
          <p:nvPr/>
        </p:nvSpPr>
        <p:spPr>
          <a:xfrm>
            <a:off x="7257994" y="5013176"/>
            <a:ext cx="2449057" cy="584776"/>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p>
            <a:pPr>
              <a:defRPr/>
            </a:pPr>
            <a:r>
              <a:rPr lang="en-US" sz="1600" b="1" dirty="0">
                <a:solidFill>
                  <a:srgbClr val="3366FF"/>
                </a:solidFill>
                <a:latin typeface="Courier"/>
                <a:ea typeface="ＭＳ Ｐゴシック" charset="0"/>
                <a:cs typeface="Courier"/>
              </a:rPr>
              <a:t>assign</a:t>
            </a:r>
            <a:r>
              <a:rPr lang="en-US" sz="1600" dirty="0">
                <a:latin typeface="Arial" charset="0"/>
                <a:ea typeface="ＭＳ Ｐゴシック" charset="0"/>
                <a:cs typeface="ＭＳ Ｐゴシック" charset="0"/>
              </a:rPr>
              <a:t> used to specify combinational circuit</a:t>
            </a:r>
          </a:p>
        </p:txBody>
      </p:sp>
      <p:cxnSp>
        <p:nvCxnSpPr>
          <p:cNvPr id="68" name="Straight Arrow Connector 67">
            <a:extLst>
              <a:ext uri="{FF2B5EF4-FFF2-40B4-BE49-F238E27FC236}">
                <a16:creationId xmlns:a16="http://schemas.microsoft.com/office/drawing/2014/main" id="{92A3901E-823B-4A43-B316-6F68F78A0152}"/>
              </a:ext>
            </a:extLst>
          </p:cNvPr>
          <p:cNvCxnSpPr>
            <a:cxnSpLocks noChangeShapeType="1"/>
          </p:cNvCxnSpPr>
          <p:nvPr/>
        </p:nvCxnSpPr>
        <p:spPr bwMode="auto">
          <a:xfrm flipH="1" flipV="1">
            <a:off x="1135063" y="4365625"/>
            <a:ext cx="6121400" cy="1079500"/>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Tree>
  </p:cSld>
  <p:clrMapOvr>
    <a:masterClrMapping/>
  </p:clrMapOvr>
  <p:transition>
    <p:checke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03E8BC3C-F548-2E4B-901B-741DA292D7EC}"/>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Method 4:  Power of behavoural abstraction</a:t>
            </a:r>
          </a:p>
        </p:txBody>
      </p:sp>
      <p:pic>
        <p:nvPicPr>
          <p:cNvPr id="38914" name="Picture 3">
            <a:extLst>
              <a:ext uri="{FF2B5EF4-FFF2-40B4-BE49-F238E27FC236}">
                <a16:creationId xmlns:a16="http://schemas.microsoft.com/office/drawing/2014/main" id="{E457BBC8-395E-1049-B341-B0772B5778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2900" y="981075"/>
            <a:ext cx="5208588" cy="547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8915" name="Group 25">
            <a:extLst>
              <a:ext uri="{FF2B5EF4-FFF2-40B4-BE49-F238E27FC236}">
                <a16:creationId xmlns:a16="http://schemas.microsoft.com/office/drawing/2014/main" id="{94C9FC07-EA02-3A47-A564-0E799DFB29F3}"/>
              </a:ext>
            </a:extLst>
          </p:cNvPr>
          <p:cNvGrpSpPr>
            <a:grpSpLocks/>
          </p:cNvGrpSpPr>
          <p:nvPr/>
        </p:nvGrpSpPr>
        <p:grpSpPr bwMode="auto">
          <a:xfrm>
            <a:off x="3513138" y="4868863"/>
            <a:ext cx="2879725" cy="1438275"/>
            <a:chOff x="6607596" y="692696"/>
            <a:chExt cx="2880320" cy="1437258"/>
          </a:xfrm>
        </p:grpSpPr>
        <p:sp>
          <p:nvSpPr>
            <p:cNvPr id="27" name="TextBox 26">
              <a:extLst>
                <a:ext uri="{FF2B5EF4-FFF2-40B4-BE49-F238E27FC236}">
                  <a16:creationId xmlns:a16="http://schemas.microsoft.com/office/drawing/2014/main" id="{F024772A-1A9D-4944-886C-A7E57ED4985E}"/>
                </a:ext>
              </a:extLst>
            </p:cNvPr>
            <p:cNvSpPr txBox="1"/>
            <p:nvPr/>
          </p:nvSpPr>
          <p:spPr>
            <a:xfrm>
              <a:off x="6895628" y="1052736"/>
              <a:ext cx="2592288" cy="1077218"/>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p>
              <a:pPr marL="285750" indent="-285750">
                <a:buFont typeface="Arial"/>
                <a:buChar char="•"/>
                <a:defRPr/>
              </a:pPr>
              <a:r>
                <a:rPr lang="en-US" sz="1600" dirty="0">
                  <a:latin typeface="Arial" charset="0"/>
                  <a:ea typeface="ＭＳ Ｐゴシック" charset="0"/>
                  <a:cs typeface="ＭＳ Ｐゴシック" charset="0"/>
                </a:rPr>
                <a:t>Direct mapping of truth table to case statement</a:t>
              </a:r>
            </a:p>
            <a:p>
              <a:pPr marL="285750" indent="-285750">
                <a:buFont typeface="Arial"/>
                <a:buChar char="•"/>
                <a:defRPr/>
              </a:pPr>
              <a:r>
                <a:rPr lang="en-US" sz="1600" dirty="0">
                  <a:latin typeface="Arial" charset="0"/>
                  <a:ea typeface="ＭＳ Ｐゴシック" charset="0"/>
                  <a:cs typeface="ＭＳ Ｐゴシック" charset="0"/>
                </a:rPr>
                <a:t>Close to specification, not implementation</a:t>
              </a:r>
            </a:p>
          </p:txBody>
        </p:sp>
        <p:cxnSp>
          <p:nvCxnSpPr>
            <p:cNvPr id="28" name="Straight Arrow Connector 27">
              <a:extLst>
                <a:ext uri="{FF2B5EF4-FFF2-40B4-BE49-F238E27FC236}">
                  <a16:creationId xmlns:a16="http://schemas.microsoft.com/office/drawing/2014/main" id="{500A473E-700E-F649-9536-B6ABA6BCCB32}"/>
                </a:ext>
              </a:extLst>
            </p:cNvPr>
            <p:cNvCxnSpPr>
              <a:cxnSpLocks noChangeShapeType="1"/>
            </p:cNvCxnSpPr>
            <p:nvPr/>
          </p:nvCxnSpPr>
          <p:spPr bwMode="auto">
            <a:xfrm flipH="1" flipV="1">
              <a:off x="6607596" y="692696"/>
              <a:ext cx="287396" cy="504468"/>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grpSp>
      <p:sp>
        <p:nvSpPr>
          <p:cNvPr id="30" name="TextBox 29">
            <a:extLst>
              <a:ext uri="{FF2B5EF4-FFF2-40B4-BE49-F238E27FC236}">
                <a16:creationId xmlns:a16="http://schemas.microsoft.com/office/drawing/2014/main" id="{9C6C9101-EDDF-9444-832D-EBC38435E427}"/>
              </a:ext>
            </a:extLst>
          </p:cNvPr>
          <p:cNvSpPr txBox="1"/>
          <p:nvPr/>
        </p:nvSpPr>
        <p:spPr>
          <a:xfrm>
            <a:off x="2720036" y="2348880"/>
            <a:ext cx="2743729" cy="338554"/>
          </a:xfrm>
          <a:prstGeom prst="rect">
            <a:avLst/>
          </a:prstGeom>
          <a:gradFill flip="none" rotWithShape="1">
            <a:gsLst>
              <a:gs pos="0">
                <a:srgbClr val="FB0737">
                  <a:alpha val="39000"/>
                </a:srgbClr>
              </a:gs>
              <a:gs pos="100000">
                <a:srgbClr val="FFFFFF">
                  <a:alpha val="39000"/>
                </a:srgbClr>
              </a:gs>
            </a:gsLst>
            <a:path path="circle">
              <a:fillToRect l="100000" t="100000"/>
            </a:path>
            <a:tileRect r="-100000" b="-100000"/>
          </a:gradFill>
          <a:ln>
            <a:noFill/>
          </a:ln>
          <a:effectLst>
            <a:outerShdw blurRad="50800" dist="38100" dir="2700000" algn="tl" rotWithShape="0">
              <a:srgbClr val="000000">
                <a:alpha val="43000"/>
              </a:srgbClr>
            </a:outerShdw>
          </a:effectLst>
        </p:spPr>
        <p:txBody>
          <a:bodyPr>
            <a:spAutoFit/>
          </a:bodyPr>
          <a:lstStyle/>
          <a:p>
            <a:pPr algn="ctr">
              <a:defRPr/>
            </a:pPr>
            <a:r>
              <a:rPr lang="en-US" sz="1600" dirty="0">
                <a:latin typeface="Arial" charset="0"/>
                <a:ea typeface="ＭＳ Ｐゴシック" charset="0"/>
                <a:cs typeface="ＭＳ Ｐゴシック" charset="0"/>
              </a:rPr>
              <a:t>BEAUTIFUL  !!!</a:t>
            </a:r>
          </a:p>
        </p:txBody>
      </p:sp>
      <p:grpSp>
        <p:nvGrpSpPr>
          <p:cNvPr id="2" name="Group 1">
            <a:extLst>
              <a:ext uri="{FF2B5EF4-FFF2-40B4-BE49-F238E27FC236}">
                <a16:creationId xmlns:a16="http://schemas.microsoft.com/office/drawing/2014/main" id="{2EC1193B-5534-0047-8F24-789938957E0F}"/>
              </a:ext>
            </a:extLst>
          </p:cNvPr>
          <p:cNvGrpSpPr>
            <a:grpSpLocks/>
          </p:cNvGrpSpPr>
          <p:nvPr/>
        </p:nvGrpSpPr>
        <p:grpSpPr bwMode="auto">
          <a:xfrm>
            <a:off x="6526213" y="1125538"/>
            <a:ext cx="2762250" cy="5256212"/>
            <a:chOff x="6526213" y="1125538"/>
            <a:chExt cx="2762250" cy="5256212"/>
          </a:xfrm>
        </p:grpSpPr>
        <p:pic>
          <p:nvPicPr>
            <p:cNvPr id="38920" name="Picture 4">
              <a:extLst>
                <a:ext uri="{FF2B5EF4-FFF2-40B4-BE49-F238E27FC236}">
                  <a16:creationId xmlns:a16="http://schemas.microsoft.com/office/drawing/2014/main" id="{EB875C4B-16D8-A147-BDA5-551B711A947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37325" y="3957638"/>
              <a:ext cx="2749550" cy="242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1" name="Picture 1">
              <a:extLst>
                <a:ext uri="{FF2B5EF4-FFF2-40B4-BE49-F238E27FC236}">
                  <a16:creationId xmlns:a16="http://schemas.microsoft.com/office/drawing/2014/main" id="{265EE8F9-3E6E-6B47-9032-BAFD43B3E18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526213" y="1125538"/>
              <a:ext cx="27622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dissolve">
                                      <p:cBhvr>
                                        <p:cTn id="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796B9642-AF5C-4C44-8CA6-0B40B650316E}"/>
              </a:ext>
            </a:extLst>
          </p:cNvPr>
          <p:cNvSpPr>
            <a:spLocks noGrp="1" noChangeArrowheads="1"/>
          </p:cNvSpPr>
          <p:nvPr>
            <p:ph type="title"/>
          </p:nvPr>
        </p:nvSpPr>
        <p:spPr>
          <a:xfrm>
            <a:off x="703263" y="161925"/>
            <a:ext cx="8420100" cy="603250"/>
          </a:xfrm>
        </p:spPr>
        <p:txBody>
          <a:bodyPr/>
          <a:lstStyle/>
          <a:p>
            <a:r>
              <a:rPr lang="en-GB" altLang="en-US">
                <a:ea typeface="ＭＳ Ｐゴシック" panose="020B0600070205080204" pitchFamily="34" charset="-128"/>
              </a:rPr>
              <a:t>From Verilog code to FPGA hardware</a:t>
            </a:r>
          </a:p>
        </p:txBody>
      </p:sp>
      <p:sp>
        <p:nvSpPr>
          <p:cNvPr id="11" name="TextBox 10">
            <a:extLst>
              <a:ext uri="{FF2B5EF4-FFF2-40B4-BE49-F238E27FC236}">
                <a16:creationId xmlns:a16="http://schemas.microsoft.com/office/drawing/2014/main" id="{AD8D6C74-4947-A045-815B-0FA47476E79A}"/>
              </a:ext>
            </a:extLst>
          </p:cNvPr>
          <p:cNvSpPr txBox="1"/>
          <p:nvPr/>
        </p:nvSpPr>
        <p:spPr>
          <a:xfrm>
            <a:off x="415041" y="1052737"/>
            <a:ext cx="1872808"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lgn="ctr">
              <a:defRPr/>
            </a:pPr>
            <a:r>
              <a:rPr lang="en-US" altLang="x-none" sz="1600" b="1"/>
              <a:t>Verilog code</a:t>
            </a:r>
          </a:p>
          <a:p>
            <a:pPr>
              <a:defRPr/>
            </a:pPr>
            <a:r>
              <a:rPr lang="en-US" altLang="x-none" sz="1600"/>
              <a:t>…. If (sel) out = a; </a:t>
            </a:r>
          </a:p>
          <a:p>
            <a:pPr>
              <a:defRPr/>
            </a:pPr>
            <a:r>
              <a:rPr lang="en-US" altLang="x-none" sz="1600"/>
              <a:t>      else  out =  b;  </a:t>
            </a:r>
          </a:p>
        </p:txBody>
      </p:sp>
      <p:cxnSp>
        <p:nvCxnSpPr>
          <p:cNvPr id="12" name="Straight Arrow Connector 11">
            <a:extLst>
              <a:ext uri="{FF2B5EF4-FFF2-40B4-BE49-F238E27FC236}">
                <a16:creationId xmlns:a16="http://schemas.microsoft.com/office/drawing/2014/main" id="{A877C18B-C952-9940-AF87-42DA5D0DE36C}"/>
              </a:ext>
            </a:extLst>
          </p:cNvPr>
          <p:cNvCxnSpPr>
            <a:cxnSpLocks noChangeShapeType="1"/>
          </p:cNvCxnSpPr>
          <p:nvPr/>
        </p:nvCxnSpPr>
        <p:spPr bwMode="auto">
          <a:xfrm>
            <a:off x="1350963" y="1884363"/>
            <a:ext cx="0" cy="681037"/>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15" name="TextBox 14">
            <a:extLst>
              <a:ext uri="{FF2B5EF4-FFF2-40B4-BE49-F238E27FC236}">
                <a16:creationId xmlns:a16="http://schemas.microsoft.com/office/drawing/2014/main" id="{FC2AD948-212A-C24B-937D-B1E4C9549B7C}"/>
              </a:ext>
            </a:extLst>
          </p:cNvPr>
          <p:cNvSpPr txBox="1"/>
          <p:nvPr/>
        </p:nvSpPr>
        <p:spPr>
          <a:xfrm>
            <a:off x="270979" y="3863950"/>
            <a:ext cx="2232964" cy="1077218"/>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lgn="ctr">
              <a:defRPr/>
            </a:pPr>
            <a:r>
              <a:rPr lang="en-US" altLang="x-none" sz="1600" b="1"/>
              <a:t>Gate netlist</a:t>
            </a:r>
          </a:p>
          <a:p>
            <a:pPr>
              <a:defRPr/>
            </a:pPr>
            <a:r>
              <a:rPr lang="en-US" altLang="x-none" sz="1600"/>
              <a:t>AND  G1(n1,n2,n3)</a:t>
            </a:r>
          </a:p>
          <a:p>
            <a:pPr>
              <a:defRPr/>
            </a:pPr>
            <a:r>
              <a:rPr lang="en-US" altLang="x-none" sz="1600"/>
              <a:t>NOT  G2(n4,n1)</a:t>
            </a:r>
          </a:p>
          <a:p>
            <a:pPr>
              <a:defRPr/>
            </a:pPr>
            <a:r>
              <a:rPr lang="en-US" altLang="x-none" sz="1600"/>
              <a:t>……..</a:t>
            </a:r>
          </a:p>
        </p:txBody>
      </p:sp>
      <p:sp>
        <p:nvSpPr>
          <p:cNvPr id="16" name="TextBox 15">
            <a:extLst>
              <a:ext uri="{FF2B5EF4-FFF2-40B4-BE49-F238E27FC236}">
                <a16:creationId xmlns:a16="http://schemas.microsoft.com/office/drawing/2014/main" id="{618D1037-17F0-7F48-8B51-55CAC2C497C2}"/>
              </a:ext>
            </a:extLst>
          </p:cNvPr>
          <p:cNvSpPr txBox="1"/>
          <p:nvPr/>
        </p:nvSpPr>
        <p:spPr>
          <a:xfrm>
            <a:off x="270979" y="5517233"/>
            <a:ext cx="2232964"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lvl1pPr>
              <a:defRPr sz="3200">
                <a:solidFill>
                  <a:schemeClr val="tx1"/>
                </a:solidFill>
                <a:latin typeface="Arial" charset="0"/>
                <a:ea typeface="ＭＳ Ｐゴシック" charset="-128"/>
              </a:defRPr>
            </a:lvl1pPr>
            <a:lvl2pPr marL="742950" indent="-285750">
              <a:defRPr sz="3200">
                <a:solidFill>
                  <a:schemeClr val="tx1"/>
                </a:solidFill>
                <a:latin typeface="Arial" charset="0"/>
                <a:ea typeface="ＭＳ Ｐゴシック" charset="-128"/>
              </a:defRPr>
            </a:lvl2pPr>
            <a:lvl3pPr marL="1143000" indent="-228600">
              <a:defRPr sz="3200">
                <a:solidFill>
                  <a:schemeClr val="tx1"/>
                </a:solidFill>
                <a:latin typeface="Arial" charset="0"/>
                <a:ea typeface="ＭＳ Ｐゴシック" charset="-128"/>
              </a:defRPr>
            </a:lvl3pPr>
            <a:lvl4pPr marL="1600200" indent="-228600">
              <a:defRPr sz="3200">
                <a:solidFill>
                  <a:schemeClr val="tx1"/>
                </a:solidFill>
                <a:latin typeface="Arial" charset="0"/>
                <a:ea typeface="ＭＳ Ｐゴシック" charset="-128"/>
              </a:defRPr>
            </a:lvl4pPr>
            <a:lvl5pPr marL="2057400" indent="-228600">
              <a:defRPr sz="3200">
                <a:solidFill>
                  <a:schemeClr val="tx1"/>
                </a:solidFill>
                <a:latin typeface="Arial" charset="0"/>
                <a:ea typeface="ＭＳ Ｐゴシック" charset="-128"/>
              </a:defRPr>
            </a:lvl5pPr>
            <a:lvl6pPr marL="2514600" indent="-228600" eaLnBrk="0" fontAlgn="base" hangingPunct="0">
              <a:spcBef>
                <a:spcPct val="0"/>
              </a:spcBef>
              <a:spcAft>
                <a:spcPct val="0"/>
              </a:spcAft>
              <a:defRPr sz="3200">
                <a:solidFill>
                  <a:schemeClr val="tx1"/>
                </a:solidFill>
                <a:latin typeface="Arial" charset="0"/>
                <a:ea typeface="ＭＳ Ｐゴシック" charset="-128"/>
              </a:defRPr>
            </a:lvl6pPr>
            <a:lvl7pPr marL="2971800" indent="-228600" eaLnBrk="0" fontAlgn="base" hangingPunct="0">
              <a:spcBef>
                <a:spcPct val="0"/>
              </a:spcBef>
              <a:spcAft>
                <a:spcPct val="0"/>
              </a:spcAft>
              <a:defRPr sz="3200">
                <a:solidFill>
                  <a:schemeClr val="tx1"/>
                </a:solidFill>
                <a:latin typeface="Arial" charset="0"/>
                <a:ea typeface="ＭＳ Ｐゴシック" charset="-128"/>
              </a:defRPr>
            </a:lvl7pPr>
            <a:lvl8pPr marL="3429000" indent="-228600" eaLnBrk="0" fontAlgn="base" hangingPunct="0">
              <a:spcBef>
                <a:spcPct val="0"/>
              </a:spcBef>
              <a:spcAft>
                <a:spcPct val="0"/>
              </a:spcAft>
              <a:defRPr sz="3200">
                <a:solidFill>
                  <a:schemeClr val="tx1"/>
                </a:solidFill>
                <a:latin typeface="Arial" charset="0"/>
                <a:ea typeface="ＭＳ Ｐゴシック" charset="-128"/>
              </a:defRPr>
            </a:lvl8pPr>
            <a:lvl9pPr marL="3886200" indent="-228600" eaLnBrk="0" fontAlgn="base" hangingPunct="0">
              <a:spcBef>
                <a:spcPct val="0"/>
              </a:spcBef>
              <a:spcAft>
                <a:spcPct val="0"/>
              </a:spcAft>
              <a:defRPr sz="3200">
                <a:solidFill>
                  <a:schemeClr val="tx1"/>
                </a:solidFill>
                <a:latin typeface="Arial" charset="0"/>
                <a:ea typeface="ＭＳ Ｐゴシック" charset="-128"/>
              </a:defRPr>
            </a:lvl9pPr>
          </a:lstStyle>
          <a:p>
            <a:pPr algn="ctr">
              <a:defRPr/>
            </a:pPr>
            <a:r>
              <a:rPr lang="en-US" altLang="x-none" sz="1600" b="1"/>
              <a:t>Optimised netlist</a:t>
            </a:r>
          </a:p>
          <a:p>
            <a:pPr>
              <a:defRPr/>
            </a:pPr>
            <a:r>
              <a:rPr lang="en-US" altLang="x-none" sz="1600"/>
              <a:t>NAND  K1(n4,n2,n3)</a:t>
            </a:r>
          </a:p>
          <a:p>
            <a:pPr>
              <a:defRPr/>
            </a:pPr>
            <a:r>
              <a:rPr lang="en-US" altLang="x-none" sz="1600"/>
              <a:t>……</a:t>
            </a:r>
          </a:p>
        </p:txBody>
      </p:sp>
      <p:sp>
        <p:nvSpPr>
          <p:cNvPr id="18" name="TextBox 17">
            <a:extLst>
              <a:ext uri="{FF2B5EF4-FFF2-40B4-BE49-F238E27FC236}">
                <a16:creationId xmlns:a16="http://schemas.microsoft.com/office/drawing/2014/main" id="{F8C71DCE-71E2-B54B-877F-56707212B2EB}"/>
              </a:ext>
            </a:extLst>
          </p:cNvPr>
          <p:cNvSpPr txBox="1"/>
          <p:nvPr/>
        </p:nvSpPr>
        <p:spPr>
          <a:xfrm>
            <a:off x="270979" y="2564904"/>
            <a:ext cx="2232964" cy="584776"/>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p>
            <a:pPr algn="ctr">
              <a:defRPr/>
            </a:pPr>
            <a:r>
              <a:rPr lang="en-US" sz="1600" b="1" dirty="0">
                <a:latin typeface="Arial" charset="0"/>
                <a:ea typeface="ＭＳ Ｐゴシック" charset="0"/>
                <a:cs typeface="ＭＳ Ｐゴシック" charset="0"/>
              </a:rPr>
              <a:t>Expanded Verilog code</a:t>
            </a:r>
          </a:p>
        </p:txBody>
      </p:sp>
      <p:cxnSp>
        <p:nvCxnSpPr>
          <p:cNvPr id="20" name="Straight Arrow Connector 19">
            <a:extLst>
              <a:ext uri="{FF2B5EF4-FFF2-40B4-BE49-F238E27FC236}">
                <a16:creationId xmlns:a16="http://schemas.microsoft.com/office/drawing/2014/main" id="{928D0102-EF34-0646-954B-BF07C9DD183E}"/>
              </a:ext>
            </a:extLst>
          </p:cNvPr>
          <p:cNvCxnSpPr>
            <a:cxnSpLocks noChangeShapeType="1"/>
          </p:cNvCxnSpPr>
          <p:nvPr/>
        </p:nvCxnSpPr>
        <p:spPr bwMode="auto">
          <a:xfrm>
            <a:off x="1350963" y="3141663"/>
            <a:ext cx="0" cy="681037"/>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40976" name="Rectangle 3">
            <a:extLst>
              <a:ext uri="{FF2B5EF4-FFF2-40B4-BE49-F238E27FC236}">
                <a16:creationId xmlns:a16="http://schemas.microsoft.com/office/drawing/2014/main" id="{318C72E3-6710-3D4E-A4B5-DC4D127FED0A}"/>
              </a:ext>
            </a:extLst>
          </p:cNvPr>
          <p:cNvSpPr txBox="1">
            <a:spLocks noChangeArrowheads="1"/>
          </p:cNvSpPr>
          <p:nvPr/>
        </p:nvSpPr>
        <p:spPr bwMode="auto">
          <a:xfrm>
            <a:off x="2430463" y="1700213"/>
            <a:ext cx="22352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buFont typeface="Monotype Sorts" pitchFamily="2" charset="2"/>
              <a:buNone/>
            </a:pPr>
            <a:r>
              <a:rPr lang="en-GB" altLang="en-US" sz="1600" b="1">
                <a:solidFill>
                  <a:srgbClr val="FB0737"/>
                </a:solidFill>
              </a:rPr>
              <a:t>Elaboration</a:t>
            </a:r>
            <a:r>
              <a:rPr lang="en-GB" altLang="en-US" sz="1600"/>
              <a:t>: checking syntax, expanding and creating instances etc.</a:t>
            </a:r>
          </a:p>
        </p:txBody>
      </p:sp>
      <p:cxnSp>
        <p:nvCxnSpPr>
          <p:cNvPr id="22" name="Straight Arrow Connector 21">
            <a:extLst>
              <a:ext uri="{FF2B5EF4-FFF2-40B4-BE49-F238E27FC236}">
                <a16:creationId xmlns:a16="http://schemas.microsoft.com/office/drawing/2014/main" id="{F69D82EA-8C31-894A-8ED6-939D44B2C40F}"/>
              </a:ext>
            </a:extLst>
          </p:cNvPr>
          <p:cNvCxnSpPr>
            <a:cxnSpLocks noChangeShapeType="1"/>
            <a:endCxn id="40976" idx="1"/>
          </p:cNvCxnSpPr>
          <p:nvPr/>
        </p:nvCxnSpPr>
        <p:spPr bwMode="auto">
          <a:xfrm flipV="1">
            <a:off x="1422400" y="2168525"/>
            <a:ext cx="1008063" cy="36513"/>
          </a:xfrm>
          <a:prstGeom prst="straightConnector1">
            <a:avLst/>
          </a:prstGeom>
          <a:noFill/>
          <a:ln w="38100">
            <a:solidFill>
              <a:srgbClr val="2D2DB9"/>
            </a:solidFill>
            <a:prstDash val="sysDash"/>
            <a:round/>
            <a:headEnd type="none" w="sm" len="sm"/>
            <a:tailEn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40978" name="Rectangle 3">
            <a:extLst>
              <a:ext uri="{FF2B5EF4-FFF2-40B4-BE49-F238E27FC236}">
                <a16:creationId xmlns:a16="http://schemas.microsoft.com/office/drawing/2014/main" id="{D181C298-6AFB-A84A-B2AE-FE3FDC170EDB}"/>
              </a:ext>
            </a:extLst>
          </p:cNvPr>
          <p:cNvSpPr txBox="1">
            <a:spLocks noChangeArrowheads="1"/>
          </p:cNvSpPr>
          <p:nvPr/>
        </p:nvSpPr>
        <p:spPr bwMode="auto">
          <a:xfrm>
            <a:off x="2505075" y="3068638"/>
            <a:ext cx="22320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buFont typeface="Monotype Sorts" pitchFamily="2" charset="2"/>
              <a:buNone/>
            </a:pPr>
            <a:r>
              <a:rPr lang="en-GB" altLang="en-US" sz="1600" b="1">
                <a:solidFill>
                  <a:srgbClr val="FB0737"/>
                </a:solidFill>
              </a:rPr>
              <a:t>Compilation</a:t>
            </a:r>
            <a:r>
              <a:rPr lang="en-GB" altLang="en-US" sz="1600"/>
              <a:t>: behaviour description to gate netlist or internal format related to hardware</a:t>
            </a:r>
          </a:p>
        </p:txBody>
      </p:sp>
      <p:cxnSp>
        <p:nvCxnSpPr>
          <p:cNvPr id="25" name="Straight Arrow Connector 24">
            <a:extLst>
              <a:ext uri="{FF2B5EF4-FFF2-40B4-BE49-F238E27FC236}">
                <a16:creationId xmlns:a16="http://schemas.microsoft.com/office/drawing/2014/main" id="{5763D0FB-AB89-0B4C-8412-871513E01A92}"/>
              </a:ext>
            </a:extLst>
          </p:cNvPr>
          <p:cNvCxnSpPr>
            <a:cxnSpLocks noChangeShapeType="1"/>
          </p:cNvCxnSpPr>
          <p:nvPr/>
        </p:nvCxnSpPr>
        <p:spPr bwMode="auto">
          <a:xfrm>
            <a:off x="1350963" y="4941888"/>
            <a:ext cx="0" cy="574675"/>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40980" name="Rectangle 3">
            <a:extLst>
              <a:ext uri="{FF2B5EF4-FFF2-40B4-BE49-F238E27FC236}">
                <a16:creationId xmlns:a16="http://schemas.microsoft.com/office/drawing/2014/main" id="{457F6E28-B45B-4749-BA57-0BC024B18D54}"/>
              </a:ext>
            </a:extLst>
          </p:cNvPr>
          <p:cNvSpPr txBox="1">
            <a:spLocks noChangeArrowheads="1"/>
          </p:cNvSpPr>
          <p:nvPr/>
        </p:nvSpPr>
        <p:spPr bwMode="auto">
          <a:xfrm>
            <a:off x="2576513" y="4724400"/>
            <a:ext cx="2160587"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buFont typeface="Monotype Sorts" pitchFamily="2" charset="2"/>
              <a:buNone/>
            </a:pPr>
            <a:r>
              <a:rPr lang="en-GB" altLang="en-US" sz="1600" b="1">
                <a:solidFill>
                  <a:srgbClr val="FB0737"/>
                </a:solidFill>
              </a:rPr>
              <a:t>Synthesis</a:t>
            </a:r>
            <a:r>
              <a:rPr lang="en-GB" altLang="en-US" sz="1600"/>
              <a:t>: optimise logic, tradeoff amount of hardware with speed etc.</a:t>
            </a:r>
          </a:p>
        </p:txBody>
      </p:sp>
      <p:cxnSp>
        <p:nvCxnSpPr>
          <p:cNvPr id="31" name="Straight Arrow Connector 30">
            <a:extLst>
              <a:ext uri="{FF2B5EF4-FFF2-40B4-BE49-F238E27FC236}">
                <a16:creationId xmlns:a16="http://schemas.microsoft.com/office/drawing/2014/main" id="{D27CCC92-53E2-EF4A-8D57-645F0CB4BE02}"/>
              </a:ext>
            </a:extLst>
          </p:cNvPr>
          <p:cNvCxnSpPr>
            <a:cxnSpLocks noChangeShapeType="1"/>
          </p:cNvCxnSpPr>
          <p:nvPr/>
        </p:nvCxnSpPr>
        <p:spPr bwMode="auto">
          <a:xfrm flipV="1">
            <a:off x="2505075" y="5876925"/>
            <a:ext cx="2232025" cy="55563"/>
          </a:xfrm>
          <a:prstGeom prst="straightConnector1">
            <a:avLst/>
          </a:prstGeom>
          <a:noFill/>
          <a:ln w="38100">
            <a:solidFill>
              <a:srgbClr val="FB0737"/>
            </a:solidFill>
            <a:round/>
            <a:headEnd type="none" w="sm" len="sm"/>
            <a:tailEn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cxnSp>
        <p:nvCxnSpPr>
          <p:cNvPr id="32" name="Straight Arrow Connector 31">
            <a:extLst>
              <a:ext uri="{FF2B5EF4-FFF2-40B4-BE49-F238E27FC236}">
                <a16:creationId xmlns:a16="http://schemas.microsoft.com/office/drawing/2014/main" id="{845460F6-2E0D-3E46-AD32-285549C8BC2D}"/>
              </a:ext>
            </a:extLst>
          </p:cNvPr>
          <p:cNvCxnSpPr>
            <a:cxnSpLocks noChangeShapeType="1"/>
          </p:cNvCxnSpPr>
          <p:nvPr/>
        </p:nvCxnSpPr>
        <p:spPr bwMode="auto">
          <a:xfrm flipV="1">
            <a:off x="4737100" y="1341438"/>
            <a:ext cx="0" cy="4519612"/>
          </a:xfrm>
          <a:prstGeom prst="straightConnector1">
            <a:avLst/>
          </a:prstGeom>
          <a:noFill/>
          <a:ln w="38100">
            <a:solidFill>
              <a:srgbClr val="FB0737"/>
            </a:solidFill>
            <a:round/>
            <a:headEnd type="none" w="sm" len="sm"/>
            <a:tailEn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cxnSp>
        <p:nvCxnSpPr>
          <p:cNvPr id="34" name="Straight Arrow Connector 33">
            <a:extLst>
              <a:ext uri="{FF2B5EF4-FFF2-40B4-BE49-F238E27FC236}">
                <a16:creationId xmlns:a16="http://schemas.microsoft.com/office/drawing/2014/main" id="{2DA690F3-3A8C-044C-A7E9-0EF86DB27401}"/>
              </a:ext>
            </a:extLst>
          </p:cNvPr>
          <p:cNvCxnSpPr>
            <a:cxnSpLocks noChangeShapeType="1"/>
          </p:cNvCxnSpPr>
          <p:nvPr/>
        </p:nvCxnSpPr>
        <p:spPr bwMode="auto">
          <a:xfrm>
            <a:off x="4737100" y="1341438"/>
            <a:ext cx="431800" cy="0"/>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37" name="TextBox 36">
            <a:extLst>
              <a:ext uri="{FF2B5EF4-FFF2-40B4-BE49-F238E27FC236}">
                <a16:creationId xmlns:a16="http://schemas.microsoft.com/office/drawing/2014/main" id="{62033936-D090-E94A-B6CD-A59F3D6DC2B3}"/>
              </a:ext>
            </a:extLst>
          </p:cNvPr>
          <p:cNvSpPr txBox="1"/>
          <p:nvPr/>
        </p:nvSpPr>
        <p:spPr>
          <a:xfrm>
            <a:off x="5169093" y="1052737"/>
            <a:ext cx="1872808"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lvl1pPr>
              <a:defRPr sz="3200">
                <a:solidFill>
                  <a:schemeClr val="tx1"/>
                </a:solidFill>
                <a:latin typeface="Arial" charset="0"/>
                <a:ea typeface="ＭＳ Ｐゴシック" charset="0"/>
                <a:cs typeface="ＭＳ Ｐゴシック" charset="0"/>
              </a:defRPr>
            </a:lvl1pPr>
            <a:lvl2pPr marL="742950" indent="-285750">
              <a:defRPr sz="3200">
                <a:solidFill>
                  <a:schemeClr val="tx1"/>
                </a:solidFill>
                <a:latin typeface="Arial" charset="0"/>
                <a:ea typeface="ＭＳ Ｐゴシック" charset="0"/>
              </a:defRPr>
            </a:lvl2pPr>
            <a:lvl3pPr marL="1143000" indent="-228600">
              <a:defRPr sz="3200">
                <a:solidFill>
                  <a:schemeClr val="tx1"/>
                </a:solidFill>
                <a:latin typeface="Arial" charset="0"/>
                <a:ea typeface="ＭＳ Ｐゴシック" charset="0"/>
              </a:defRPr>
            </a:lvl3pPr>
            <a:lvl4pPr marL="1600200" indent="-228600">
              <a:defRPr sz="3200">
                <a:solidFill>
                  <a:schemeClr val="tx1"/>
                </a:solidFill>
                <a:latin typeface="Arial" charset="0"/>
                <a:ea typeface="ＭＳ Ｐゴシック" charset="0"/>
              </a:defRPr>
            </a:lvl4pPr>
            <a:lvl5pPr marL="2057400" indent="-228600">
              <a:defRPr sz="3200">
                <a:solidFill>
                  <a:schemeClr val="tx1"/>
                </a:solidFill>
                <a:latin typeface="Arial" charset="0"/>
                <a:ea typeface="ＭＳ Ｐゴシック" charset="0"/>
              </a:defRPr>
            </a:lvl5pPr>
            <a:lvl6pPr marL="2514600" indent="-228600" eaLnBrk="0" fontAlgn="base" hangingPunct="0">
              <a:spcBef>
                <a:spcPct val="0"/>
              </a:spcBef>
              <a:spcAft>
                <a:spcPct val="0"/>
              </a:spcAft>
              <a:defRPr sz="3200">
                <a:solidFill>
                  <a:schemeClr val="tx1"/>
                </a:solidFill>
                <a:latin typeface="Arial" charset="0"/>
                <a:ea typeface="ＭＳ Ｐゴシック" charset="0"/>
              </a:defRPr>
            </a:lvl6pPr>
            <a:lvl7pPr marL="2971800" indent="-228600" eaLnBrk="0" fontAlgn="base" hangingPunct="0">
              <a:spcBef>
                <a:spcPct val="0"/>
              </a:spcBef>
              <a:spcAft>
                <a:spcPct val="0"/>
              </a:spcAft>
              <a:defRPr sz="3200">
                <a:solidFill>
                  <a:schemeClr val="tx1"/>
                </a:solidFill>
                <a:latin typeface="Arial" charset="0"/>
                <a:ea typeface="ＭＳ Ｐゴシック" charset="0"/>
              </a:defRPr>
            </a:lvl7pPr>
            <a:lvl8pPr marL="3429000" indent="-228600" eaLnBrk="0" fontAlgn="base" hangingPunct="0">
              <a:spcBef>
                <a:spcPct val="0"/>
              </a:spcBef>
              <a:spcAft>
                <a:spcPct val="0"/>
              </a:spcAft>
              <a:defRPr sz="3200">
                <a:solidFill>
                  <a:schemeClr val="tx1"/>
                </a:solidFill>
                <a:latin typeface="Arial" charset="0"/>
                <a:ea typeface="ＭＳ Ｐゴシック" charset="0"/>
              </a:defRPr>
            </a:lvl8pPr>
            <a:lvl9pPr marL="3886200" indent="-228600" eaLnBrk="0" fontAlgn="base" hangingPunct="0">
              <a:spcBef>
                <a:spcPct val="0"/>
              </a:spcBef>
              <a:spcAft>
                <a:spcPct val="0"/>
              </a:spcAft>
              <a:defRPr sz="3200">
                <a:solidFill>
                  <a:schemeClr val="tx1"/>
                </a:solidFill>
                <a:latin typeface="Arial" charset="0"/>
                <a:ea typeface="ＭＳ Ｐゴシック" charset="0"/>
              </a:defRPr>
            </a:lvl9pPr>
          </a:lstStyle>
          <a:p>
            <a:pPr algn="ctr">
              <a:defRPr/>
            </a:pPr>
            <a:r>
              <a:rPr lang="en-US" sz="1600" b="1"/>
              <a:t>FPGA specific hardware (LE, memory etc)</a:t>
            </a:r>
            <a:endParaRPr lang="en-US" sz="1600"/>
          </a:p>
        </p:txBody>
      </p:sp>
      <p:cxnSp>
        <p:nvCxnSpPr>
          <p:cNvPr id="41" name="Straight Arrow Connector 40">
            <a:extLst>
              <a:ext uri="{FF2B5EF4-FFF2-40B4-BE49-F238E27FC236}">
                <a16:creationId xmlns:a16="http://schemas.microsoft.com/office/drawing/2014/main" id="{B2AD9F72-F73A-DF4B-ABED-8B24327EC043}"/>
              </a:ext>
            </a:extLst>
          </p:cNvPr>
          <p:cNvCxnSpPr>
            <a:cxnSpLocks noChangeShapeType="1"/>
          </p:cNvCxnSpPr>
          <p:nvPr/>
        </p:nvCxnSpPr>
        <p:spPr bwMode="auto">
          <a:xfrm>
            <a:off x="6176963" y="1916113"/>
            <a:ext cx="0" cy="682625"/>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cxnSp>
        <p:nvCxnSpPr>
          <p:cNvPr id="42" name="Straight Arrow Connector 41">
            <a:extLst>
              <a:ext uri="{FF2B5EF4-FFF2-40B4-BE49-F238E27FC236}">
                <a16:creationId xmlns:a16="http://schemas.microsoft.com/office/drawing/2014/main" id="{BD4F8842-ECDE-A045-A9BD-DD137B961F70}"/>
              </a:ext>
            </a:extLst>
          </p:cNvPr>
          <p:cNvCxnSpPr>
            <a:cxnSpLocks noChangeShapeType="1"/>
          </p:cNvCxnSpPr>
          <p:nvPr/>
        </p:nvCxnSpPr>
        <p:spPr bwMode="auto">
          <a:xfrm flipV="1">
            <a:off x="1422400" y="3500438"/>
            <a:ext cx="1008063" cy="36512"/>
          </a:xfrm>
          <a:prstGeom prst="straightConnector1">
            <a:avLst/>
          </a:prstGeom>
          <a:noFill/>
          <a:ln w="38100">
            <a:solidFill>
              <a:srgbClr val="2D2DB9"/>
            </a:solidFill>
            <a:prstDash val="sysDash"/>
            <a:round/>
            <a:headEnd type="none" w="sm" len="sm"/>
            <a:tailEn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cxnSp>
        <p:nvCxnSpPr>
          <p:cNvPr id="43" name="Straight Arrow Connector 42">
            <a:extLst>
              <a:ext uri="{FF2B5EF4-FFF2-40B4-BE49-F238E27FC236}">
                <a16:creationId xmlns:a16="http://schemas.microsoft.com/office/drawing/2014/main" id="{82C57223-5C04-3145-9DE1-3C9EE4A262D6}"/>
              </a:ext>
            </a:extLst>
          </p:cNvPr>
          <p:cNvCxnSpPr>
            <a:cxnSpLocks noChangeShapeType="1"/>
          </p:cNvCxnSpPr>
          <p:nvPr/>
        </p:nvCxnSpPr>
        <p:spPr bwMode="auto">
          <a:xfrm flipV="1">
            <a:off x="1422400" y="5192713"/>
            <a:ext cx="1008063" cy="36512"/>
          </a:xfrm>
          <a:prstGeom prst="straightConnector1">
            <a:avLst/>
          </a:prstGeom>
          <a:noFill/>
          <a:ln w="38100">
            <a:solidFill>
              <a:srgbClr val="2D2DB9"/>
            </a:solidFill>
            <a:prstDash val="sysDash"/>
            <a:round/>
            <a:headEnd type="none" w="sm" len="sm"/>
            <a:tailEn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40990" name="Rectangle 3">
            <a:extLst>
              <a:ext uri="{FF2B5EF4-FFF2-40B4-BE49-F238E27FC236}">
                <a16:creationId xmlns:a16="http://schemas.microsoft.com/office/drawing/2014/main" id="{CD5D5F50-8746-114A-A4A3-42174F4ABB88}"/>
              </a:ext>
            </a:extLst>
          </p:cNvPr>
          <p:cNvSpPr txBox="1">
            <a:spLocks noChangeArrowheads="1"/>
          </p:cNvSpPr>
          <p:nvPr/>
        </p:nvSpPr>
        <p:spPr bwMode="auto">
          <a:xfrm>
            <a:off x="5024438" y="5157788"/>
            <a:ext cx="2522537"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buFont typeface="Monotype Sorts" pitchFamily="2" charset="2"/>
              <a:buNone/>
            </a:pPr>
            <a:r>
              <a:rPr lang="en-GB" altLang="en-US" sz="1600" b="1">
                <a:solidFill>
                  <a:srgbClr val="FB0737"/>
                </a:solidFill>
              </a:rPr>
              <a:t>Technology mapping</a:t>
            </a:r>
            <a:r>
              <a:rPr lang="en-GB" altLang="en-US" sz="1600"/>
              <a:t>: map hardware to LEs, flipflops, memory blocks, multipliers etc.  </a:t>
            </a:r>
          </a:p>
        </p:txBody>
      </p:sp>
      <p:sp>
        <p:nvSpPr>
          <p:cNvPr id="48" name="TextBox 47">
            <a:extLst>
              <a:ext uri="{FF2B5EF4-FFF2-40B4-BE49-F238E27FC236}">
                <a16:creationId xmlns:a16="http://schemas.microsoft.com/office/drawing/2014/main" id="{137F4BCC-4CB0-2240-BF55-2350983A9217}"/>
              </a:ext>
            </a:extLst>
          </p:cNvPr>
          <p:cNvSpPr txBox="1"/>
          <p:nvPr/>
        </p:nvSpPr>
        <p:spPr>
          <a:xfrm>
            <a:off x="5241124" y="2636913"/>
            <a:ext cx="1872808"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lvl1pPr>
              <a:defRPr sz="3200">
                <a:solidFill>
                  <a:schemeClr val="tx1"/>
                </a:solidFill>
                <a:latin typeface="Arial" charset="0"/>
                <a:ea typeface="ＭＳ Ｐゴシック" charset="0"/>
                <a:cs typeface="ＭＳ Ｐゴシック" charset="0"/>
              </a:defRPr>
            </a:lvl1pPr>
            <a:lvl2pPr marL="742950" indent="-285750">
              <a:defRPr sz="3200">
                <a:solidFill>
                  <a:schemeClr val="tx1"/>
                </a:solidFill>
                <a:latin typeface="Arial" charset="0"/>
                <a:ea typeface="ＭＳ Ｐゴシック" charset="0"/>
              </a:defRPr>
            </a:lvl2pPr>
            <a:lvl3pPr marL="1143000" indent="-228600">
              <a:defRPr sz="3200">
                <a:solidFill>
                  <a:schemeClr val="tx1"/>
                </a:solidFill>
                <a:latin typeface="Arial" charset="0"/>
                <a:ea typeface="ＭＳ Ｐゴシック" charset="0"/>
              </a:defRPr>
            </a:lvl3pPr>
            <a:lvl4pPr marL="1600200" indent="-228600">
              <a:defRPr sz="3200">
                <a:solidFill>
                  <a:schemeClr val="tx1"/>
                </a:solidFill>
                <a:latin typeface="Arial" charset="0"/>
                <a:ea typeface="ＭＳ Ｐゴシック" charset="0"/>
              </a:defRPr>
            </a:lvl4pPr>
            <a:lvl5pPr marL="2057400" indent="-228600">
              <a:defRPr sz="3200">
                <a:solidFill>
                  <a:schemeClr val="tx1"/>
                </a:solidFill>
                <a:latin typeface="Arial" charset="0"/>
                <a:ea typeface="ＭＳ Ｐゴシック" charset="0"/>
              </a:defRPr>
            </a:lvl5pPr>
            <a:lvl6pPr marL="2514600" indent="-228600" eaLnBrk="0" fontAlgn="base" hangingPunct="0">
              <a:spcBef>
                <a:spcPct val="0"/>
              </a:spcBef>
              <a:spcAft>
                <a:spcPct val="0"/>
              </a:spcAft>
              <a:defRPr sz="3200">
                <a:solidFill>
                  <a:schemeClr val="tx1"/>
                </a:solidFill>
                <a:latin typeface="Arial" charset="0"/>
                <a:ea typeface="ＭＳ Ｐゴシック" charset="0"/>
              </a:defRPr>
            </a:lvl6pPr>
            <a:lvl7pPr marL="2971800" indent="-228600" eaLnBrk="0" fontAlgn="base" hangingPunct="0">
              <a:spcBef>
                <a:spcPct val="0"/>
              </a:spcBef>
              <a:spcAft>
                <a:spcPct val="0"/>
              </a:spcAft>
              <a:defRPr sz="3200">
                <a:solidFill>
                  <a:schemeClr val="tx1"/>
                </a:solidFill>
                <a:latin typeface="Arial" charset="0"/>
                <a:ea typeface="ＭＳ Ｐゴシック" charset="0"/>
              </a:defRPr>
            </a:lvl7pPr>
            <a:lvl8pPr marL="3429000" indent="-228600" eaLnBrk="0" fontAlgn="base" hangingPunct="0">
              <a:spcBef>
                <a:spcPct val="0"/>
              </a:spcBef>
              <a:spcAft>
                <a:spcPct val="0"/>
              </a:spcAft>
              <a:defRPr sz="3200">
                <a:solidFill>
                  <a:schemeClr val="tx1"/>
                </a:solidFill>
                <a:latin typeface="Arial" charset="0"/>
                <a:ea typeface="ＭＳ Ｐゴシック" charset="0"/>
              </a:defRPr>
            </a:lvl8pPr>
            <a:lvl9pPr marL="3886200" indent="-228600" eaLnBrk="0" fontAlgn="base" hangingPunct="0">
              <a:spcBef>
                <a:spcPct val="0"/>
              </a:spcBef>
              <a:spcAft>
                <a:spcPct val="0"/>
              </a:spcAft>
              <a:defRPr sz="3200">
                <a:solidFill>
                  <a:schemeClr val="tx1"/>
                </a:solidFill>
                <a:latin typeface="Arial" charset="0"/>
                <a:ea typeface="ＭＳ Ｐゴシック" charset="0"/>
              </a:defRPr>
            </a:lvl9pPr>
          </a:lstStyle>
          <a:p>
            <a:pPr algn="ctr">
              <a:defRPr/>
            </a:pPr>
            <a:r>
              <a:rPr lang="en-US" sz="1600" b="1"/>
              <a:t>Physical location of hardware and interconnect</a:t>
            </a:r>
            <a:endParaRPr lang="en-US" sz="1600"/>
          </a:p>
        </p:txBody>
      </p:sp>
      <p:sp>
        <p:nvSpPr>
          <p:cNvPr id="40994" name="Rectangle 3">
            <a:extLst>
              <a:ext uri="{FF2B5EF4-FFF2-40B4-BE49-F238E27FC236}">
                <a16:creationId xmlns:a16="http://schemas.microsoft.com/office/drawing/2014/main" id="{7B5ABCF2-5C0F-624D-8B9B-47E0E36A0866}"/>
              </a:ext>
            </a:extLst>
          </p:cNvPr>
          <p:cNvSpPr txBox="1">
            <a:spLocks noChangeArrowheads="1"/>
          </p:cNvSpPr>
          <p:nvPr/>
        </p:nvSpPr>
        <p:spPr bwMode="auto">
          <a:xfrm>
            <a:off x="7256463" y="1700213"/>
            <a:ext cx="2522537"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buFont typeface="Monotype Sorts" pitchFamily="2" charset="2"/>
              <a:buNone/>
            </a:pPr>
            <a:r>
              <a:rPr lang="en-GB" altLang="en-US" sz="1600" b="1">
                <a:solidFill>
                  <a:srgbClr val="FB0737"/>
                </a:solidFill>
              </a:rPr>
              <a:t>Place &amp; Route</a:t>
            </a:r>
            <a:r>
              <a:rPr lang="en-GB" altLang="en-US" sz="1600"/>
              <a:t>: Fix the locations and wirings of all the hardware blocks for a specific FPGAs</a:t>
            </a:r>
          </a:p>
        </p:txBody>
      </p:sp>
      <p:sp>
        <p:nvSpPr>
          <p:cNvPr id="50" name="TextBox 49">
            <a:extLst>
              <a:ext uri="{FF2B5EF4-FFF2-40B4-BE49-F238E27FC236}">
                <a16:creationId xmlns:a16="http://schemas.microsoft.com/office/drawing/2014/main" id="{7893316E-3E24-A846-91FA-275830C89885}"/>
              </a:ext>
            </a:extLst>
          </p:cNvPr>
          <p:cNvSpPr txBox="1"/>
          <p:nvPr/>
        </p:nvSpPr>
        <p:spPr>
          <a:xfrm>
            <a:off x="5313155" y="4077073"/>
            <a:ext cx="1872808" cy="830997"/>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chemeClr val="accent6"/>
            </a:solidFill>
          </a:ln>
          <a:effectLst>
            <a:outerShdw blurRad="50800" dist="38100" dir="2700000" algn="tl" rotWithShape="0">
              <a:srgbClr val="000000">
                <a:alpha val="43000"/>
              </a:srgbClr>
            </a:outerShdw>
          </a:effectLst>
        </p:spPr>
        <p:txBody>
          <a:bodyPr>
            <a:spAutoFit/>
          </a:bodyPr>
          <a:lstStyle>
            <a:lvl1pPr>
              <a:defRPr sz="3200">
                <a:solidFill>
                  <a:schemeClr val="tx1"/>
                </a:solidFill>
                <a:latin typeface="Arial" charset="0"/>
                <a:ea typeface="ＭＳ Ｐゴシック" charset="0"/>
                <a:cs typeface="ＭＳ Ｐゴシック" charset="0"/>
              </a:defRPr>
            </a:lvl1pPr>
            <a:lvl2pPr marL="742950" indent="-285750">
              <a:defRPr sz="3200">
                <a:solidFill>
                  <a:schemeClr val="tx1"/>
                </a:solidFill>
                <a:latin typeface="Arial" charset="0"/>
                <a:ea typeface="ＭＳ Ｐゴシック" charset="0"/>
              </a:defRPr>
            </a:lvl2pPr>
            <a:lvl3pPr marL="1143000" indent="-228600">
              <a:defRPr sz="3200">
                <a:solidFill>
                  <a:schemeClr val="tx1"/>
                </a:solidFill>
                <a:latin typeface="Arial" charset="0"/>
                <a:ea typeface="ＭＳ Ｐゴシック" charset="0"/>
              </a:defRPr>
            </a:lvl3pPr>
            <a:lvl4pPr marL="1600200" indent="-228600">
              <a:defRPr sz="3200">
                <a:solidFill>
                  <a:schemeClr val="tx1"/>
                </a:solidFill>
                <a:latin typeface="Arial" charset="0"/>
                <a:ea typeface="ＭＳ Ｐゴシック" charset="0"/>
              </a:defRPr>
            </a:lvl4pPr>
            <a:lvl5pPr marL="2057400" indent="-228600">
              <a:defRPr sz="3200">
                <a:solidFill>
                  <a:schemeClr val="tx1"/>
                </a:solidFill>
                <a:latin typeface="Arial" charset="0"/>
                <a:ea typeface="ＭＳ Ｐゴシック" charset="0"/>
              </a:defRPr>
            </a:lvl5pPr>
            <a:lvl6pPr marL="2514600" indent="-228600" eaLnBrk="0" fontAlgn="base" hangingPunct="0">
              <a:spcBef>
                <a:spcPct val="0"/>
              </a:spcBef>
              <a:spcAft>
                <a:spcPct val="0"/>
              </a:spcAft>
              <a:defRPr sz="3200">
                <a:solidFill>
                  <a:schemeClr val="tx1"/>
                </a:solidFill>
                <a:latin typeface="Arial" charset="0"/>
                <a:ea typeface="ＭＳ Ｐゴシック" charset="0"/>
              </a:defRPr>
            </a:lvl6pPr>
            <a:lvl7pPr marL="2971800" indent="-228600" eaLnBrk="0" fontAlgn="base" hangingPunct="0">
              <a:spcBef>
                <a:spcPct val="0"/>
              </a:spcBef>
              <a:spcAft>
                <a:spcPct val="0"/>
              </a:spcAft>
              <a:defRPr sz="3200">
                <a:solidFill>
                  <a:schemeClr val="tx1"/>
                </a:solidFill>
                <a:latin typeface="Arial" charset="0"/>
                <a:ea typeface="ＭＳ Ｐゴシック" charset="0"/>
              </a:defRPr>
            </a:lvl7pPr>
            <a:lvl8pPr marL="3429000" indent="-228600" eaLnBrk="0" fontAlgn="base" hangingPunct="0">
              <a:spcBef>
                <a:spcPct val="0"/>
              </a:spcBef>
              <a:spcAft>
                <a:spcPct val="0"/>
              </a:spcAft>
              <a:defRPr sz="3200">
                <a:solidFill>
                  <a:schemeClr val="tx1"/>
                </a:solidFill>
                <a:latin typeface="Arial" charset="0"/>
                <a:ea typeface="ＭＳ Ｐゴシック" charset="0"/>
              </a:defRPr>
            </a:lvl8pPr>
            <a:lvl9pPr marL="3886200" indent="-228600" eaLnBrk="0" fontAlgn="base" hangingPunct="0">
              <a:spcBef>
                <a:spcPct val="0"/>
              </a:spcBef>
              <a:spcAft>
                <a:spcPct val="0"/>
              </a:spcAft>
              <a:defRPr sz="3200">
                <a:solidFill>
                  <a:schemeClr val="tx1"/>
                </a:solidFill>
                <a:latin typeface="Arial" charset="0"/>
                <a:ea typeface="ＭＳ Ｐゴシック" charset="0"/>
              </a:defRPr>
            </a:lvl9pPr>
          </a:lstStyle>
          <a:p>
            <a:pPr algn="ctr">
              <a:defRPr/>
            </a:pPr>
            <a:r>
              <a:rPr lang="en-US" sz="1600" b="1"/>
              <a:t>Programming (Configuration) bitstream</a:t>
            </a:r>
            <a:endParaRPr lang="en-US" sz="1600"/>
          </a:p>
        </p:txBody>
      </p:sp>
      <p:cxnSp>
        <p:nvCxnSpPr>
          <p:cNvPr id="51" name="Straight Arrow Connector 50">
            <a:extLst>
              <a:ext uri="{FF2B5EF4-FFF2-40B4-BE49-F238E27FC236}">
                <a16:creationId xmlns:a16="http://schemas.microsoft.com/office/drawing/2014/main" id="{3CCF591F-F478-4143-B5AC-79E33B884F7B}"/>
              </a:ext>
            </a:extLst>
          </p:cNvPr>
          <p:cNvCxnSpPr>
            <a:cxnSpLocks noChangeShapeType="1"/>
          </p:cNvCxnSpPr>
          <p:nvPr/>
        </p:nvCxnSpPr>
        <p:spPr bwMode="auto">
          <a:xfrm>
            <a:off x="6248400" y="3429000"/>
            <a:ext cx="0" cy="681038"/>
          </a:xfrm>
          <a:prstGeom prst="straightConnector1">
            <a:avLst/>
          </a:prstGeom>
          <a:noFill/>
          <a:ln w="38100">
            <a:solidFill>
              <a:srgbClr val="FB0737"/>
            </a:solidFill>
            <a:round/>
            <a:headEnd type="none" w="sm" len="sm"/>
            <a:tailEnd type="arrow" w="med" len="me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
        <p:nvSpPr>
          <p:cNvPr id="40999" name="Rectangle 3">
            <a:extLst>
              <a:ext uri="{FF2B5EF4-FFF2-40B4-BE49-F238E27FC236}">
                <a16:creationId xmlns:a16="http://schemas.microsoft.com/office/drawing/2014/main" id="{87B0A860-CAF5-B541-A807-B758706F7E4F}"/>
              </a:ext>
            </a:extLst>
          </p:cNvPr>
          <p:cNvSpPr txBox="1">
            <a:spLocks noChangeArrowheads="1"/>
          </p:cNvSpPr>
          <p:nvPr/>
        </p:nvSpPr>
        <p:spPr bwMode="auto">
          <a:xfrm>
            <a:off x="7256463" y="3357563"/>
            <a:ext cx="2522537"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buFont typeface="Monotype Sorts" pitchFamily="2" charset="2"/>
              <a:buNone/>
            </a:pPr>
            <a:r>
              <a:rPr lang="en-GB" altLang="en-US" sz="1600" b="1">
                <a:solidFill>
                  <a:srgbClr val="FB0737"/>
                </a:solidFill>
              </a:rPr>
              <a:t>Assembler</a:t>
            </a:r>
            <a:r>
              <a:rPr lang="en-GB" altLang="en-US" sz="1600"/>
              <a:t>: Produce the binary bit pattern needed to program (or configure) the FPGA</a:t>
            </a:r>
          </a:p>
        </p:txBody>
      </p:sp>
      <p:cxnSp>
        <p:nvCxnSpPr>
          <p:cNvPr id="53" name="Straight Arrow Connector 52">
            <a:extLst>
              <a:ext uri="{FF2B5EF4-FFF2-40B4-BE49-F238E27FC236}">
                <a16:creationId xmlns:a16="http://schemas.microsoft.com/office/drawing/2014/main" id="{93BFF93A-7E4F-5249-A447-276E42484375}"/>
              </a:ext>
            </a:extLst>
          </p:cNvPr>
          <p:cNvCxnSpPr>
            <a:cxnSpLocks noChangeShapeType="1"/>
          </p:cNvCxnSpPr>
          <p:nvPr/>
        </p:nvCxnSpPr>
        <p:spPr bwMode="auto">
          <a:xfrm>
            <a:off x="4737100" y="4868863"/>
            <a:ext cx="1152525" cy="288925"/>
          </a:xfrm>
          <a:prstGeom prst="straightConnector1">
            <a:avLst/>
          </a:prstGeom>
          <a:noFill/>
          <a:ln w="38100">
            <a:solidFill>
              <a:srgbClr val="2D2DB9"/>
            </a:solidFill>
            <a:prstDash val="sysDash"/>
            <a:round/>
            <a:headEnd type="none" w="sm" len="sm"/>
            <a:tailEn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cxnSp>
        <p:nvCxnSpPr>
          <p:cNvPr id="57" name="Straight Arrow Connector 56">
            <a:extLst>
              <a:ext uri="{FF2B5EF4-FFF2-40B4-BE49-F238E27FC236}">
                <a16:creationId xmlns:a16="http://schemas.microsoft.com/office/drawing/2014/main" id="{227F11E6-E1F1-914D-91C7-FD8A1B746A94}"/>
              </a:ext>
            </a:extLst>
          </p:cNvPr>
          <p:cNvCxnSpPr>
            <a:cxnSpLocks noChangeShapeType="1"/>
          </p:cNvCxnSpPr>
          <p:nvPr/>
        </p:nvCxnSpPr>
        <p:spPr bwMode="auto">
          <a:xfrm flipV="1">
            <a:off x="6248400" y="2205038"/>
            <a:ext cx="1008063" cy="36512"/>
          </a:xfrm>
          <a:prstGeom prst="straightConnector1">
            <a:avLst/>
          </a:prstGeom>
          <a:noFill/>
          <a:ln w="38100">
            <a:solidFill>
              <a:srgbClr val="2D2DB9"/>
            </a:solidFill>
            <a:prstDash val="sysDash"/>
            <a:round/>
            <a:headEnd type="none" w="sm" len="sm"/>
            <a:tailEn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cxnSp>
        <p:nvCxnSpPr>
          <p:cNvPr id="58" name="Straight Arrow Connector 57">
            <a:extLst>
              <a:ext uri="{FF2B5EF4-FFF2-40B4-BE49-F238E27FC236}">
                <a16:creationId xmlns:a16="http://schemas.microsoft.com/office/drawing/2014/main" id="{F1AB7F4E-CCC2-804D-9539-EDACF4B455B7}"/>
              </a:ext>
            </a:extLst>
          </p:cNvPr>
          <p:cNvCxnSpPr>
            <a:cxnSpLocks noChangeShapeType="1"/>
          </p:cNvCxnSpPr>
          <p:nvPr/>
        </p:nvCxnSpPr>
        <p:spPr bwMode="auto">
          <a:xfrm flipV="1">
            <a:off x="6248400" y="3789363"/>
            <a:ext cx="1008063" cy="34925"/>
          </a:xfrm>
          <a:prstGeom prst="straightConnector1">
            <a:avLst/>
          </a:prstGeom>
          <a:noFill/>
          <a:ln w="38100">
            <a:solidFill>
              <a:srgbClr val="2D2DB9"/>
            </a:solidFill>
            <a:prstDash val="sysDash"/>
            <a:round/>
            <a:headEnd type="none" w="sm" len="sm"/>
            <a:tailEnd/>
          </a:ln>
          <a:effectLst>
            <a:outerShdw blurRad="50800" dist="38100" dir="2700000" algn="tl" rotWithShape="0">
              <a:srgbClr val="808080">
                <a:alpha val="42998"/>
              </a:srgbClr>
            </a:outerShdw>
          </a:effectLst>
          <a:extLst>
            <a:ext uri="{909E8E84-426E-40DD-AFC4-6F175D3DCCD1}">
              <a14:hiddenFill xmlns:a14="http://schemas.microsoft.com/office/drawing/2010/main">
                <a:noFill/>
              </a14:hiddenFill>
            </a:ext>
          </a:extLst>
        </p:spPr>
      </p:cxnSp>
    </p:spTree>
  </p:cSld>
  <p:clrMapOvr>
    <a:masterClrMapping/>
  </p:clrMapOvr>
  <p:transition>
    <p:checke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7DBE6A4C-7C0E-E744-BACD-6413789EF216}"/>
              </a:ext>
            </a:extLst>
          </p:cNvPr>
          <p:cNvSpPr>
            <a:spLocks noGrp="1" noChangeArrowheads="1"/>
          </p:cNvSpPr>
          <p:nvPr>
            <p:ph type="title"/>
          </p:nvPr>
        </p:nvSpPr>
        <p:spPr>
          <a:xfrm>
            <a:off x="776289" y="46038"/>
            <a:ext cx="8416925" cy="430212"/>
          </a:xfrm>
        </p:spPr>
        <p:txBody>
          <a:bodyPr vert="horz" wrap="square" lIns="92075" tIns="0" rIns="92075" bIns="0" numCol="1" anchor="ctr" anchorCtr="1" compatLnSpc="1">
            <a:prstTxWarp prst="textNoShape">
              <a:avLst/>
            </a:prstTxWarp>
          </a:bodyPr>
          <a:lstStyle/>
          <a:p>
            <a:br>
              <a:rPr lang="en-GB" altLang="en-US">
                <a:ea typeface="ＭＳ Ｐゴシック" panose="020B0600070205080204" pitchFamily="34" charset="-128"/>
              </a:rPr>
            </a:br>
            <a:r>
              <a:rPr lang="en-GB" altLang="en-US">
                <a:ea typeface="ＭＳ Ｐゴシック" panose="020B0600070205080204" pitchFamily="34" charset="-128"/>
              </a:rPr>
              <a:t>Power of Verilog: Integer Arithmetic</a:t>
            </a:r>
          </a:p>
        </p:txBody>
      </p:sp>
      <p:sp>
        <p:nvSpPr>
          <p:cNvPr id="8" name="Rectangle 3">
            <a:extLst>
              <a:ext uri="{FF2B5EF4-FFF2-40B4-BE49-F238E27FC236}">
                <a16:creationId xmlns:a16="http://schemas.microsoft.com/office/drawing/2014/main" id="{7CC6E412-02F2-934A-8078-9444C7F4B91B}"/>
              </a:ext>
            </a:extLst>
          </p:cNvPr>
          <p:cNvSpPr txBox="1">
            <a:spLocks noChangeArrowheads="1"/>
          </p:cNvSpPr>
          <p:nvPr/>
        </p:nvSpPr>
        <p:spPr bwMode="auto">
          <a:xfrm>
            <a:off x="560388" y="1125538"/>
            <a:ext cx="8929688" cy="5029200"/>
          </a:xfrm>
          <a:prstGeom prst="rect">
            <a:avLst/>
          </a:prstGeom>
          <a:noFill/>
          <a:ln>
            <a:noFill/>
          </a:ln>
          <a:extLst>
            <a:ext uri="{FAA26D3D-D897-4be2-8F04-BA451C77F1D7}">
              <ma14:placeholderFlag xmlns="" xmlns:ma14="http://schemas.microsoft.com/office/mac/drawingml/2011/main" val="1"/>
            </a:ext>
            <a:ext uri="{909E8E84-426E-40dd-AFC4-6F175D3DCCD1}"/>
            <a:ext uri="{91240B29-F687-4f45-9708-019B960494DF}"/>
          </a:extLst>
        </p:spPr>
        <p:txBody>
          <a:bodyPr lIns="92075" tIns="46038" rIns="92075" bIns="46038"/>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pPr>
              <a:defRPr/>
            </a:pPr>
            <a:r>
              <a:rPr lang="en-GB" dirty="0"/>
              <a:t>Arithmetic operations make computation easy:</a:t>
            </a:r>
          </a:p>
          <a:p>
            <a:pPr>
              <a:defRPr/>
            </a:pPr>
            <a:endParaRPr lang="en-GB" dirty="0"/>
          </a:p>
          <a:p>
            <a:pPr>
              <a:defRPr/>
            </a:pPr>
            <a:endParaRPr lang="en-GB" dirty="0"/>
          </a:p>
          <a:p>
            <a:pPr>
              <a:defRPr/>
            </a:pPr>
            <a:endParaRPr lang="en-GB" dirty="0"/>
          </a:p>
          <a:p>
            <a:pPr marL="0" indent="0">
              <a:buNone/>
              <a:defRPr/>
            </a:pPr>
            <a:endParaRPr lang="en-GB" dirty="0"/>
          </a:p>
          <a:p>
            <a:pPr marL="0" indent="0">
              <a:buNone/>
              <a:defRPr/>
            </a:pPr>
            <a:endParaRPr lang="en-GB" dirty="0"/>
          </a:p>
          <a:p>
            <a:pPr>
              <a:defRPr/>
            </a:pPr>
            <a:r>
              <a:rPr lang="en-GB" dirty="0"/>
              <a:t>Here is a 32-bit adder with carry-in and carry-out:</a:t>
            </a:r>
          </a:p>
        </p:txBody>
      </p:sp>
      <p:pic>
        <p:nvPicPr>
          <p:cNvPr id="8195" name="Picture 1">
            <a:extLst>
              <a:ext uri="{FF2B5EF4-FFF2-40B4-BE49-F238E27FC236}">
                <a16:creationId xmlns:a16="http://schemas.microsoft.com/office/drawing/2014/main" id="{47338B55-B63F-3542-B90B-97FFB5B96B4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23989" y="1628775"/>
            <a:ext cx="3783013" cy="14859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8196" name="Picture 2">
            <a:extLst>
              <a:ext uri="{FF2B5EF4-FFF2-40B4-BE49-F238E27FC236}">
                <a16:creationId xmlns:a16="http://schemas.microsoft.com/office/drawing/2014/main" id="{4BB6C0AA-83F5-7A4E-9B58-9B1ADDFD213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52552" y="3908426"/>
            <a:ext cx="6967537" cy="23542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286732"/>
      </p:ext>
    </p:extLst>
  </p:cSld>
  <p:clrMapOvr>
    <a:masterClrMapping/>
  </p:clrMapOvr>
  <p:transition>
    <p:checker/>
  </p:transition>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3AC1FB23-0FA3-DE4B-80C1-8BE655665F92}"/>
              </a:ext>
            </a:extLst>
          </p:cNvPr>
          <p:cNvSpPr>
            <a:spLocks noGrp="1" noChangeArrowheads="1"/>
          </p:cNvSpPr>
          <p:nvPr>
            <p:ph type="title"/>
          </p:nvPr>
        </p:nvSpPr>
        <p:spPr>
          <a:xfrm>
            <a:off x="488952" y="161925"/>
            <a:ext cx="9217025" cy="603250"/>
          </a:xfrm>
        </p:spPr>
        <p:txBody>
          <a:bodyPr/>
          <a:lstStyle/>
          <a:p>
            <a:r>
              <a:rPr lang="en-GB" altLang="en-US">
                <a:ea typeface="ＭＳ Ｐゴシック" panose="020B0600070205080204" pitchFamily="34" charset="-128"/>
              </a:rPr>
              <a:t>Different types of Boolean Operators</a:t>
            </a:r>
          </a:p>
        </p:txBody>
      </p:sp>
      <p:sp>
        <p:nvSpPr>
          <p:cNvPr id="15" name="Rectangle 3">
            <a:extLst>
              <a:ext uri="{FF2B5EF4-FFF2-40B4-BE49-F238E27FC236}">
                <a16:creationId xmlns:a16="http://schemas.microsoft.com/office/drawing/2014/main" id="{AD6341F2-5190-8042-A9DB-DA53415135E4}"/>
              </a:ext>
            </a:extLst>
          </p:cNvPr>
          <p:cNvSpPr txBox="1">
            <a:spLocks noChangeArrowheads="1"/>
          </p:cNvSpPr>
          <p:nvPr/>
        </p:nvSpPr>
        <p:spPr bwMode="auto">
          <a:xfrm>
            <a:off x="200026" y="981075"/>
            <a:ext cx="9505950" cy="2592388"/>
          </a:xfrm>
          <a:prstGeom prst="rect">
            <a:avLst/>
          </a:prstGeom>
          <a:noFill/>
          <a:ln>
            <a:noFill/>
          </a:ln>
          <a:extLst>
            <a:ext uri="{FAA26D3D-D897-4be2-8F04-BA451C77F1D7}">
              <ma14:placeholderFlag xmlns="" xmlns:ma14="http://schemas.microsoft.com/office/mac/drawingml/2011/main" val="1"/>
            </a:ext>
            <a:ext uri="{909E8E84-426E-40dd-AFC4-6F175D3DCCD1}"/>
            <a:ext uri="{91240B29-F687-4f45-9708-019B960494DF}"/>
          </a:extLst>
        </p:spPr>
        <p:txBody>
          <a:bodyPr lIns="92075" tIns="46038" rIns="92075" bIns="46038"/>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pPr>
              <a:spcBef>
                <a:spcPts val="600"/>
              </a:spcBef>
              <a:defRPr/>
            </a:pPr>
            <a:r>
              <a:rPr lang="en-GB" sz="1800" b="1" dirty="0">
                <a:solidFill>
                  <a:srgbClr val="FB0737"/>
                </a:solidFill>
              </a:rPr>
              <a:t>Bitwise operators</a:t>
            </a:r>
            <a:r>
              <a:rPr lang="en-GB" sz="1800" dirty="0"/>
              <a:t>:  perform bit-sliced operations on vectors bit by bit</a:t>
            </a:r>
          </a:p>
          <a:p>
            <a:pPr>
              <a:spcBef>
                <a:spcPts val="600"/>
              </a:spcBef>
              <a:defRPr/>
            </a:pPr>
            <a:endParaRPr lang="en-GB" sz="1800" dirty="0"/>
          </a:p>
          <a:p>
            <a:pPr>
              <a:spcBef>
                <a:spcPts val="600"/>
              </a:spcBef>
              <a:defRPr/>
            </a:pPr>
            <a:endParaRPr lang="en-GB" sz="1800" dirty="0"/>
          </a:p>
          <a:p>
            <a:pPr>
              <a:spcBef>
                <a:spcPts val="600"/>
              </a:spcBef>
              <a:defRPr/>
            </a:pPr>
            <a:r>
              <a:rPr lang="en-GB" sz="1800" b="1" dirty="0">
                <a:solidFill>
                  <a:srgbClr val="FB0737"/>
                </a:solidFill>
              </a:rPr>
              <a:t>Logical operators</a:t>
            </a:r>
            <a:r>
              <a:rPr lang="en-GB" sz="1800" dirty="0"/>
              <a:t>:  return true or false (1-bit) results</a:t>
            </a:r>
          </a:p>
          <a:p>
            <a:pPr>
              <a:spcBef>
                <a:spcPts val="600"/>
              </a:spcBef>
              <a:defRPr/>
            </a:pPr>
            <a:endParaRPr lang="en-GB" sz="1800" dirty="0"/>
          </a:p>
          <a:p>
            <a:pPr>
              <a:spcBef>
                <a:spcPts val="600"/>
              </a:spcBef>
              <a:defRPr/>
            </a:pPr>
            <a:r>
              <a:rPr lang="en-GB" sz="1800" b="1" dirty="0">
                <a:solidFill>
                  <a:srgbClr val="FB0737"/>
                </a:solidFill>
              </a:rPr>
              <a:t>Reduction operators</a:t>
            </a:r>
            <a:r>
              <a:rPr lang="en-GB" sz="1800" dirty="0"/>
              <a:t>: act on each bit of a SINGLE input vector</a:t>
            </a:r>
          </a:p>
          <a:p>
            <a:pPr>
              <a:spcBef>
                <a:spcPts val="600"/>
              </a:spcBef>
              <a:defRPr/>
            </a:pPr>
            <a:endParaRPr lang="en-GB" sz="1800" dirty="0"/>
          </a:p>
          <a:p>
            <a:pPr>
              <a:spcBef>
                <a:spcPts val="600"/>
              </a:spcBef>
              <a:defRPr/>
            </a:pPr>
            <a:endParaRPr lang="en-GB" sz="1800" dirty="0"/>
          </a:p>
          <a:p>
            <a:pPr marL="0" indent="0">
              <a:spcBef>
                <a:spcPts val="600"/>
              </a:spcBef>
              <a:buNone/>
              <a:defRPr/>
            </a:pPr>
            <a:endParaRPr lang="en-GB" sz="1800" dirty="0"/>
          </a:p>
        </p:txBody>
      </p:sp>
      <p:pic>
        <p:nvPicPr>
          <p:cNvPr id="10243" name="Picture 1">
            <a:extLst>
              <a:ext uri="{FF2B5EF4-FFF2-40B4-BE49-F238E27FC236}">
                <a16:creationId xmlns:a16="http://schemas.microsoft.com/office/drawing/2014/main" id="{4794EDD5-854E-8F4F-8BE1-59FD94A0AD5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9314" y="1268413"/>
            <a:ext cx="5040313"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Picture 2">
            <a:extLst>
              <a:ext uri="{FF2B5EF4-FFF2-40B4-BE49-F238E27FC236}">
                <a16:creationId xmlns:a16="http://schemas.microsoft.com/office/drawing/2014/main" id="{0671199A-5C92-344D-8E78-0186F918CD2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9314" y="2376488"/>
            <a:ext cx="2879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3">
            <a:extLst>
              <a:ext uri="{FF2B5EF4-FFF2-40B4-BE49-F238E27FC236}">
                <a16:creationId xmlns:a16="http://schemas.microsoft.com/office/drawing/2014/main" id="{C36A0525-EC4D-A747-9DF7-C8F5FBEC6CD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20752" y="3117850"/>
            <a:ext cx="4103687"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4">
            <a:extLst>
              <a:ext uri="{FF2B5EF4-FFF2-40B4-BE49-F238E27FC236}">
                <a16:creationId xmlns:a16="http://schemas.microsoft.com/office/drawing/2014/main" id="{043033F7-1B0B-7345-AE5A-CA15F0DB1C8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15927" y="3695700"/>
            <a:ext cx="2105025"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5">
            <a:extLst>
              <a:ext uri="{FF2B5EF4-FFF2-40B4-BE49-F238E27FC236}">
                <a16:creationId xmlns:a16="http://schemas.microsoft.com/office/drawing/2014/main" id="{6C33C5B9-3FBB-884D-87FF-E010EE150E8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513139" y="3716338"/>
            <a:ext cx="2087563"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6">
            <a:extLst>
              <a:ext uri="{FF2B5EF4-FFF2-40B4-BE49-F238E27FC236}">
                <a16:creationId xmlns:a16="http://schemas.microsoft.com/office/drawing/2014/main" id="{1726E83D-C21D-2448-8D60-AB5E549C82D0}"/>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753227" y="3573463"/>
            <a:ext cx="2441575" cy="274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Picture 9">
            <a:extLst>
              <a:ext uri="{FF2B5EF4-FFF2-40B4-BE49-F238E27FC236}">
                <a16:creationId xmlns:a16="http://schemas.microsoft.com/office/drawing/2014/main" id="{0B3740EB-18CB-C34E-B0AD-AF2EEE31609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792414" y="5732464"/>
            <a:ext cx="3825875"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2643704"/>
      </p:ext>
    </p:extLst>
  </p:cSld>
  <p:clrMapOvr>
    <a:masterClrMapping/>
  </p:clrMapOvr>
  <p:transition>
    <p:checke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46620EFF-43AE-0440-B41D-AB6919716B41}"/>
              </a:ext>
            </a:extLst>
          </p:cNvPr>
          <p:cNvSpPr>
            <a:spLocks noGrp="1" noChangeArrowheads="1"/>
          </p:cNvSpPr>
          <p:nvPr>
            <p:ph type="title"/>
          </p:nvPr>
        </p:nvSpPr>
        <p:spPr>
          <a:xfrm>
            <a:off x="704852" y="161925"/>
            <a:ext cx="8416925" cy="603250"/>
          </a:xfrm>
        </p:spPr>
        <p:txBody>
          <a:bodyPr/>
          <a:lstStyle/>
          <a:p>
            <a:r>
              <a:rPr lang="en-GB" altLang="en-US">
                <a:ea typeface="ＭＳ Ｐゴシック" panose="020B0600070205080204" pitchFamily="34" charset="-128"/>
              </a:rPr>
              <a:t>Beware of Incomplete Specification</a:t>
            </a:r>
          </a:p>
        </p:txBody>
      </p:sp>
      <p:sp>
        <p:nvSpPr>
          <p:cNvPr id="2" name="Content Placeholder 1">
            <a:extLst>
              <a:ext uri="{FF2B5EF4-FFF2-40B4-BE49-F238E27FC236}">
                <a16:creationId xmlns:a16="http://schemas.microsoft.com/office/drawing/2014/main" id="{884F7E5E-B90A-924E-94B2-8BC84B78F5A6}"/>
              </a:ext>
            </a:extLst>
          </p:cNvPr>
          <p:cNvSpPr>
            <a:spLocks noGrp="1"/>
          </p:cNvSpPr>
          <p:nvPr>
            <p:ph idx="1"/>
          </p:nvPr>
        </p:nvSpPr>
        <p:spPr>
          <a:xfrm>
            <a:off x="795462" y="1196753"/>
            <a:ext cx="1709266" cy="504279"/>
          </a:xfrm>
          <a:gradFill flip="none" rotWithShape="1">
            <a:gsLst>
              <a:gs pos="0">
                <a:srgbClr val="00D600"/>
              </a:gs>
              <a:gs pos="100000">
                <a:srgbClr val="FFFFFF"/>
              </a:gs>
            </a:gsLst>
            <a:path path="circle">
              <a:fillToRect l="100000" t="100000"/>
            </a:path>
            <a:tileRect r="-100000" b="-100000"/>
          </a:gradFill>
          <a:extLst>
            <a:ext uri="{FAA26D3D-D897-4be2-8F04-BA451C77F1D7}">
              <ma14:placeholderFlag xmlns="" xmlns:ma14="http://schemas.microsoft.com/office/mac/drawingml/2011/main" val="1"/>
            </a:ext>
            <a:ext uri="{91240B29-F687-4f45-9708-019B960494DF}"/>
          </a:extLst>
        </p:spPr>
        <p:txBody>
          <a:bodyPr/>
          <a:lstStyle/>
          <a:p>
            <a:pPr marL="0" indent="0" algn="ctr">
              <a:buNone/>
              <a:defRPr/>
            </a:pPr>
            <a:r>
              <a:rPr lang="en-US" dirty="0"/>
              <a:t>Intention</a:t>
            </a:r>
          </a:p>
        </p:txBody>
      </p:sp>
      <p:pic>
        <p:nvPicPr>
          <p:cNvPr id="12293" name="Picture 2">
            <a:extLst>
              <a:ext uri="{FF2B5EF4-FFF2-40B4-BE49-F238E27FC236}">
                <a16:creationId xmlns:a16="http://schemas.microsoft.com/office/drawing/2014/main" id="{4D35955E-7C04-7C4A-BB8B-F631371C8F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0388" y="2244725"/>
            <a:ext cx="22733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152E56BC-6E6F-1B40-AD7E-B88440D8685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73501" y="1806576"/>
            <a:ext cx="5040312" cy="4430713"/>
          </a:xfrm>
          <a:prstGeom prst="rect">
            <a:avLst/>
          </a:prstGeom>
          <a:noFill/>
          <a:ln w="9525">
            <a:solidFill>
              <a:schemeClr val="tx1"/>
            </a:solidFill>
            <a:miter lim="800000"/>
            <a:headEnd/>
            <a:tailEnd/>
          </a:ln>
          <a:effectLst>
            <a:outerShdw blurRad="50800" dist="38100" dir="2700000" algn="tl" rotWithShape="0">
              <a:srgbClr val="808080">
                <a:alpha val="42998"/>
              </a:srgbClr>
            </a:outerShdw>
          </a:effectLst>
          <a:extLst>
            <a:ext uri="{909E8E84-426E-40DD-AFC4-6F175D3DCCD1}">
              <a14:hiddenFill xmlns:a14="http://schemas.microsoft.com/office/drawing/2010/main">
                <a:solidFill>
                  <a:srgbClr val="FFFFFF"/>
                </a:solidFill>
              </a14:hiddenFill>
            </a:ext>
          </a:extLst>
        </p:spPr>
      </p:pic>
      <p:sp>
        <p:nvSpPr>
          <p:cNvPr id="7" name="Content Placeholder 1">
            <a:extLst>
              <a:ext uri="{FF2B5EF4-FFF2-40B4-BE49-F238E27FC236}">
                <a16:creationId xmlns:a16="http://schemas.microsoft.com/office/drawing/2014/main" id="{FB75F60E-793B-7543-9391-EC788FA79F69}"/>
              </a:ext>
            </a:extLst>
          </p:cNvPr>
          <p:cNvSpPr txBox="1">
            <a:spLocks/>
          </p:cNvSpPr>
          <p:nvPr/>
        </p:nvSpPr>
        <p:spPr bwMode="auto">
          <a:xfrm>
            <a:off x="4520952" y="1196530"/>
            <a:ext cx="3744416" cy="504279"/>
          </a:xfrm>
          <a:prstGeom prst="rect">
            <a:avLst/>
          </a:prstGeom>
          <a:gradFill flip="none" rotWithShape="1">
            <a:gsLst>
              <a:gs pos="0">
                <a:srgbClr val="00D600"/>
              </a:gs>
              <a:gs pos="100000">
                <a:srgbClr val="FFFFFF"/>
              </a:gs>
            </a:gsLst>
            <a:path path="circle">
              <a:fillToRect l="100000" t="100000"/>
            </a:path>
            <a:tileRect r="-100000" b="-100000"/>
          </a:gradFill>
          <a:ln>
            <a:noFill/>
          </a:ln>
          <a:extLst>
            <a:ext uri="{FAA26D3D-D897-4be2-8F04-BA451C77F1D7}">
              <ma14:placeholderFlag xmlns="" xmlns:ma14="http://schemas.microsoft.com/office/mac/drawingml/2011/main" val="1"/>
            </a:ext>
            <a:ext uri="{91240B29-F687-4f45-9708-019B960494DF}"/>
          </a:extLst>
        </p:spPr>
        <p:txBody>
          <a:bodyPr lIns="92075" tIns="46038" rIns="92075" bIns="46038"/>
          <a:lstStyle>
            <a:lvl1pPr marL="0" indent="0" algn="ctr">
              <a:spcBef>
                <a:spcPct val="20000"/>
              </a:spcBef>
              <a:buClr>
                <a:srgbClr val="842C00"/>
              </a:buClr>
              <a:buSzPct val="75000"/>
              <a:buFont typeface="Monotype Sorts" charset="0"/>
              <a:buNone/>
              <a:defRPr sz="2000">
                <a:latin typeface="+mn-lt"/>
              </a:defRPr>
            </a:lvl1pPr>
            <a:lvl2pPr marL="742950" indent="-285750">
              <a:spcBef>
                <a:spcPct val="20000"/>
              </a:spcBef>
              <a:buClr>
                <a:srgbClr val="842C00"/>
              </a:buClr>
              <a:buSzPct val="100000"/>
              <a:buFont typeface="Symbol" charset="0"/>
              <a:buChar char="·"/>
              <a:defRPr>
                <a:latin typeface="+mn-lt"/>
                <a:ea typeface="ＭＳ Ｐゴシック" charset="-128"/>
              </a:defRPr>
            </a:lvl2pPr>
            <a:lvl3pPr marL="1143000" indent="-228600">
              <a:spcBef>
                <a:spcPct val="20000"/>
              </a:spcBef>
              <a:buClr>
                <a:srgbClr val="842C00"/>
              </a:buClr>
              <a:buSzPct val="100000"/>
              <a:buFont typeface="Monotype Sorts" charset="0"/>
              <a:buChar char="ä"/>
              <a:defRPr sz="1600">
                <a:latin typeface="+mn-lt"/>
                <a:ea typeface="ＭＳ Ｐゴシック" charset="-128"/>
              </a:defRPr>
            </a:lvl3pPr>
            <a:lvl4pPr marL="1600200" indent="-228600">
              <a:spcBef>
                <a:spcPct val="20000"/>
              </a:spcBef>
              <a:buClr>
                <a:schemeClr val="accent2"/>
              </a:buClr>
              <a:buSzPct val="65000"/>
              <a:buFont typeface="Monotype Sorts" charset="0"/>
              <a:buChar char="u"/>
              <a:defRPr sz="1400">
                <a:latin typeface="+mn-lt"/>
                <a:ea typeface="ＭＳ Ｐゴシック" charset="-128"/>
              </a:defRPr>
            </a:lvl4pPr>
            <a:lvl5pPr marL="2057400" indent="-228600">
              <a:spcBef>
                <a:spcPct val="20000"/>
              </a:spcBef>
              <a:buClr>
                <a:schemeClr val="accent2"/>
              </a:buClr>
              <a:buSzPct val="100000"/>
              <a:buChar char="–"/>
              <a:defRPr sz="1400">
                <a:latin typeface="+mn-lt"/>
                <a:ea typeface="ＭＳ Ｐゴシック" charset="-128"/>
              </a:defRPr>
            </a:lvl5pPr>
            <a:lvl6pPr marL="2514600" indent="-228600" eaLnBrk="0" fontAlgn="base" hangingPunct="0">
              <a:spcBef>
                <a:spcPct val="20000"/>
              </a:spcBef>
              <a:spcAft>
                <a:spcPct val="0"/>
              </a:spcAft>
              <a:buClr>
                <a:schemeClr val="accent2"/>
              </a:buClr>
              <a:buSzPct val="100000"/>
              <a:buChar char="–"/>
              <a:defRPr sz="1400">
                <a:latin typeface="+mn-lt"/>
                <a:ea typeface="ＭＳ Ｐゴシック" charset="-128"/>
              </a:defRPr>
            </a:lvl6pPr>
            <a:lvl7pPr marL="2971800" indent="-228600" eaLnBrk="0" fontAlgn="base" hangingPunct="0">
              <a:spcBef>
                <a:spcPct val="20000"/>
              </a:spcBef>
              <a:spcAft>
                <a:spcPct val="0"/>
              </a:spcAft>
              <a:buClr>
                <a:schemeClr val="accent2"/>
              </a:buClr>
              <a:buSzPct val="100000"/>
              <a:buChar char="–"/>
              <a:defRPr sz="1400">
                <a:latin typeface="+mn-lt"/>
                <a:ea typeface="ＭＳ Ｐゴシック" charset="-128"/>
              </a:defRPr>
            </a:lvl7pPr>
            <a:lvl8pPr marL="3429000" indent="-228600" eaLnBrk="0" fontAlgn="base" hangingPunct="0">
              <a:spcBef>
                <a:spcPct val="20000"/>
              </a:spcBef>
              <a:spcAft>
                <a:spcPct val="0"/>
              </a:spcAft>
              <a:buClr>
                <a:schemeClr val="accent2"/>
              </a:buClr>
              <a:buSzPct val="100000"/>
              <a:buChar char="–"/>
              <a:defRPr sz="1400">
                <a:latin typeface="+mn-lt"/>
                <a:ea typeface="ＭＳ Ｐゴシック" charset="-128"/>
              </a:defRPr>
            </a:lvl8pPr>
            <a:lvl9pPr marL="3886200" indent="-228600" eaLnBrk="0" fontAlgn="base" hangingPunct="0">
              <a:spcBef>
                <a:spcPct val="20000"/>
              </a:spcBef>
              <a:spcAft>
                <a:spcPct val="0"/>
              </a:spcAft>
              <a:buClr>
                <a:schemeClr val="accent2"/>
              </a:buClr>
              <a:buSzPct val="100000"/>
              <a:buChar char="–"/>
              <a:defRPr sz="1400">
                <a:latin typeface="+mn-lt"/>
                <a:ea typeface="ＭＳ Ｐゴシック" charset="-128"/>
              </a:defRPr>
            </a:lvl9pPr>
          </a:lstStyle>
          <a:p>
            <a:pPr>
              <a:defRPr/>
            </a:pPr>
            <a:r>
              <a:rPr lang="en-US" dirty="0">
                <a:ea typeface="ＭＳ Ｐゴシック" charset="0"/>
                <a:cs typeface="ＭＳ Ｐゴシック" charset="0"/>
              </a:rPr>
              <a:t>What you may write, but wrong!</a:t>
            </a:r>
          </a:p>
        </p:txBody>
      </p:sp>
    </p:spTree>
    <p:extLst>
      <p:ext uri="{BB962C8B-B14F-4D97-AF65-F5344CB8AC3E}">
        <p14:creationId xmlns:p14="http://schemas.microsoft.com/office/powerpoint/2010/main" val="2356894837"/>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8C765923-5F45-4342-84D7-01BBEF5ACFAA}"/>
              </a:ext>
            </a:extLst>
          </p:cNvPr>
          <p:cNvSpPr>
            <a:spLocks noGrp="1" noChangeArrowheads="1"/>
          </p:cNvSpPr>
          <p:nvPr>
            <p:ph type="title"/>
          </p:nvPr>
        </p:nvSpPr>
        <p:spPr>
          <a:xfrm>
            <a:off x="488951" y="161925"/>
            <a:ext cx="8928100" cy="603250"/>
          </a:xfrm>
        </p:spPr>
        <p:txBody>
          <a:bodyPr/>
          <a:lstStyle/>
          <a:p>
            <a:r>
              <a:rPr lang="en-GB" altLang="en-US">
                <a:ea typeface="ＭＳ Ｐゴシック" panose="020B0600070205080204" pitchFamily="34" charset="-128"/>
              </a:rPr>
              <a:t>Incomplete specification:  </a:t>
            </a:r>
            <a:br>
              <a:rPr lang="en-GB" altLang="en-US">
                <a:ea typeface="ＭＳ Ｐゴシック" panose="020B0600070205080204" pitchFamily="34" charset="-128"/>
              </a:rPr>
            </a:br>
            <a:r>
              <a:rPr lang="en-GB" altLang="en-US">
                <a:ea typeface="ＭＳ Ｐゴシック" panose="020B0600070205080204" pitchFamily="34" charset="-128"/>
              </a:rPr>
              <a:t>adds unwanted  latch circuit</a:t>
            </a:r>
          </a:p>
        </p:txBody>
      </p:sp>
      <p:pic>
        <p:nvPicPr>
          <p:cNvPr id="14338" name="Picture 6">
            <a:extLst>
              <a:ext uri="{FF2B5EF4-FFF2-40B4-BE49-F238E27FC236}">
                <a16:creationId xmlns:a16="http://schemas.microsoft.com/office/drawing/2014/main" id="{42E69C1B-70BE-234C-AEF2-8058FC7454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29263" y="1844675"/>
            <a:ext cx="299720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
            <a:extLst>
              <a:ext uri="{FF2B5EF4-FFF2-40B4-BE49-F238E27FC236}">
                <a16:creationId xmlns:a16="http://schemas.microsoft.com/office/drawing/2014/main" id="{68010F04-1560-B842-9FE2-4B99B9D94C40}"/>
              </a:ext>
            </a:extLst>
          </p:cNvPr>
          <p:cNvSpPr txBox="1">
            <a:spLocks/>
          </p:cNvSpPr>
          <p:nvPr/>
        </p:nvSpPr>
        <p:spPr bwMode="auto">
          <a:xfrm>
            <a:off x="5097016" y="1196530"/>
            <a:ext cx="3744416" cy="504279"/>
          </a:xfrm>
          <a:prstGeom prst="rect">
            <a:avLst/>
          </a:prstGeom>
          <a:gradFill flip="none" rotWithShape="1">
            <a:gsLst>
              <a:gs pos="0">
                <a:srgbClr val="00D600"/>
              </a:gs>
              <a:gs pos="100000">
                <a:srgbClr val="FFFFFF"/>
              </a:gs>
            </a:gsLst>
            <a:path path="circle">
              <a:fillToRect l="100000" t="100000"/>
            </a:path>
            <a:tileRect r="-100000" b="-100000"/>
          </a:gradFill>
          <a:ln>
            <a:noFill/>
          </a:ln>
          <a:extLst>
            <a:ext uri="{FAA26D3D-D897-4be2-8F04-BA451C77F1D7}">
              <ma14:placeholderFlag xmlns="" xmlns:ma14="http://schemas.microsoft.com/office/mac/drawingml/2011/main" val="1"/>
            </a:ext>
            <a:ext uri="{91240B29-F687-4f45-9708-019B960494DF}"/>
          </a:extLst>
        </p:spPr>
        <p:txBody>
          <a:bodyPr lIns="92075" tIns="46038" rIns="92075" bIns="46038"/>
          <a:lstStyle>
            <a:lvl1pPr marL="0" indent="0" algn="ctr">
              <a:spcBef>
                <a:spcPct val="20000"/>
              </a:spcBef>
              <a:buClr>
                <a:srgbClr val="842C00"/>
              </a:buClr>
              <a:buSzPct val="75000"/>
              <a:buFont typeface="Monotype Sorts" charset="0"/>
              <a:buNone/>
              <a:defRPr sz="2000">
                <a:latin typeface="+mn-lt"/>
              </a:defRPr>
            </a:lvl1pPr>
            <a:lvl2pPr marL="742950" indent="-285750">
              <a:spcBef>
                <a:spcPct val="20000"/>
              </a:spcBef>
              <a:buClr>
                <a:srgbClr val="842C00"/>
              </a:buClr>
              <a:buSzPct val="100000"/>
              <a:buFont typeface="Symbol" charset="0"/>
              <a:buChar char="·"/>
              <a:defRPr>
                <a:latin typeface="+mn-lt"/>
                <a:ea typeface="ＭＳ Ｐゴシック" charset="-128"/>
              </a:defRPr>
            </a:lvl2pPr>
            <a:lvl3pPr marL="1143000" indent="-228600">
              <a:spcBef>
                <a:spcPct val="20000"/>
              </a:spcBef>
              <a:buClr>
                <a:srgbClr val="842C00"/>
              </a:buClr>
              <a:buSzPct val="100000"/>
              <a:buFont typeface="Monotype Sorts" charset="0"/>
              <a:buChar char="ä"/>
              <a:defRPr sz="1600">
                <a:latin typeface="+mn-lt"/>
                <a:ea typeface="ＭＳ Ｐゴシック" charset="-128"/>
              </a:defRPr>
            </a:lvl3pPr>
            <a:lvl4pPr marL="1600200" indent="-228600">
              <a:spcBef>
                <a:spcPct val="20000"/>
              </a:spcBef>
              <a:buClr>
                <a:schemeClr val="accent2"/>
              </a:buClr>
              <a:buSzPct val="65000"/>
              <a:buFont typeface="Monotype Sorts" charset="0"/>
              <a:buChar char="u"/>
              <a:defRPr sz="1400">
                <a:latin typeface="+mn-lt"/>
                <a:ea typeface="ＭＳ Ｐゴシック" charset="-128"/>
              </a:defRPr>
            </a:lvl4pPr>
            <a:lvl5pPr marL="2057400" indent="-228600">
              <a:spcBef>
                <a:spcPct val="20000"/>
              </a:spcBef>
              <a:buClr>
                <a:schemeClr val="accent2"/>
              </a:buClr>
              <a:buSzPct val="100000"/>
              <a:buChar char="–"/>
              <a:defRPr sz="1400">
                <a:latin typeface="+mn-lt"/>
                <a:ea typeface="ＭＳ Ｐゴシック" charset="-128"/>
              </a:defRPr>
            </a:lvl5pPr>
            <a:lvl6pPr marL="2514600" indent="-228600" eaLnBrk="0" fontAlgn="base" hangingPunct="0">
              <a:spcBef>
                <a:spcPct val="20000"/>
              </a:spcBef>
              <a:spcAft>
                <a:spcPct val="0"/>
              </a:spcAft>
              <a:buClr>
                <a:schemeClr val="accent2"/>
              </a:buClr>
              <a:buSzPct val="100000"/>
              <a:buChar char="–"/>
              <a:defRPr sz="1400">
                <a:latin typeface="+mn-lt"/>
                <a:ea typeface="ＭＳ Ｐゴシック" charset="-128"/>
              </a:defRPr>
            </a:lvl6pPr>
            <a:lvl7pPr marL="2971800" indent="-228600" eaLnBrk="0" fontAlgn="base" hangingPunct="0">
              <a:spcBef>
                <a:spcPct val="20000"/>
              </a:spcBef>
              <a:spcAft>
                <a:spcPct val="0"/>
              </a:spcAft>
              <a:buClr>
                <a:schemeClr val="accent2"/>
              </a:buClr>
              <a:buSzPct val="100000"/>
              <a:buChar char="–"/>
              <a:defRPr sz="1400">
                <a:latin typeface="+mn-lt"/>
                <a:ea typeface="ＭＳ Ｐゴシック" charset="-128"/>
              </a:defRPr>
            </a:lvl7pPr>
            <a:lvl8pPr marL="3429000" indent="-228600" eaLnBrk="0" fontAlgn="base" hangingPunct="0">
              <a:spcBef>
                <a:spcPct val="20000"/>
              </a:spcBef>
              <a:spcAft>
                <a:spcPct val="0"/>
              </a:spcAft>
              <a:buClr>
                <a:schemeClr val="accent2"/>
              </a:buClr>
              <a:buSzPct val="100000"/>
              <a:buChar char="–"/>
              <a:defRPr sz="1400">
                <a:latin typeface="+mn-lt"/>
                <a:ea typeface="ＭＳ Ｐゴシック" charset="-128"/>
              </a:defRPr>
            </a:lvl8pPr>
            <a:lvl9pPr marL="3886200" indent="-228600" eaLnBrk="0" fontAlgn="base" hangingPunct="0">
              <a:spcBef>
                <a:spcPct val="20000"/>
              </a:spcBef>
              <a:spcAft>
                <a:spcPct val="0"/>
              </a:spcAft>
              <a:buClr>
                <a:schemeClr val="accent2"/>
              </a:buClr>
              <a:buSzPct val="100000"/>
              <a:buChar char="–"/>
              <a:defRPr sz="1400">
                <a:latin typeface="+mn-lt"/>
                <a:ea typeface="ＭＳ Ｐゴシック" charset="-128"/>
              </a:defRPr>
            </a:lvl9pPr>
          </a:lstStyle>
          <a:p>
            <a:pPr>
              <a:defRPr/>
            </a:pPr>
            <a:r>
              <a:rPr lang="en-US" dirty="0">
                <a:ea typeface="ＭＳ Ｐゴシック" charset="0"/>
                <a:cs typeface="ＭＳ Ｐゴシック" charset="0"/>
              </a:rPr>
              <a:t>Synthesized Circuit</a:t>
            </a:r>
          </a:p>
        </p:txBody>
      </p:sp>
      <p:sp>
        <p:nvSpPr>
          <p:cNvPr id="14342" name="Rectangle 3">
            <a:extLst>
              <a:ext uri="{FF2B5EF4-FFF2-40B4-BE49-F238E27FC236}">
                <a16:creationId xmlns:a16="http://schemas.microsoft.com/office/drawing/2014/main" id="{C6CD44EC-5EEB-B84C-A257-0AF682CB2471}"/>
              </a:ext>
            </a:extLst>
          </p:cNvPr>
          <p:cNvSpPr txBox="1">
            <a:spLocks noChangeArrowheads="1"/>
          </p:cNvSpPr>
          <p:nvPr/>
        </p:nvSpPr>
        <p:spPr bwMode="auto">
          <a:xfrm>
            <a:off x="4665664" y="5014914"/>
            <a:ext cx="4824413" cy="136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dirty="0"/>
              <a:t>When </a:t>
            </a:r>
            <a:r>
              <a:rPr lang="en-GB" altLang="en-US" sz="1800" dirty="0" err="1"/>
              <a:t>sel</a:t>
            </a:r>
            <a:r>
              <a:rPr lang="en-GB" altLang="en-US" sz="1800" dirty="0"/>
              <a:t> = 2’b11, G = 0, therefore the latch stores the previous output value as required by Verilog in this situation.</a:t>
            </a:r>
          </a:p>
        </p:txBody>
      </p:sp>
      <p:pic>
        <p:nvPicPr>
          <p:cNvPr id="14343" name="Picture 1">
            <a:extLst>
              <a:ext uri="{FF2B5EF4-FFF2-40B4-BE49-F238E27FC236}">
                <a16:creationId xmlns:a16="http://schemas.microsoft.com/office/drawing/2014/main" id="{99B74213-CDA1-F640-9860-2A96153DB5A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76289" y="1052514"/>
            <a:ext cx="3275013"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2">
            <a:extLst>
              <a:ext uri="{FF2B5EF4-FFF2-40B4-BE49-F238E27FC236}">
                <a16:creationId xmlns:a16="http://schemas.microsoft.com/office/drawing/2014/main" id="{9ECBD7E3-D25F-D542-8F36-C9FFDBAD152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5926" y="2781300"/>
            <a:ext cx="4222750"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33183"/>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dissolve">
                                      <p:cBhvr>
                                        <p:cTn id="7" dur="500"/>
                                        <p:tgtEl>
                                          <p:spTgt spid="1433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4342"/>
                                        </p:tgtEl>
                                        <p:attrNameLst>
                                          <p:attrName>style.visibility</p:attrName>
                                        </p:attrNameLst>
                                      </p:cBhvr>
                                      <p:to>
                                        <p:strVal val="visible"/>
                                      </p:to>
                                    </p:set>
                                    <p:animEffect transition="in" filter="dissolve">
                                      <p:cBhvr>
                                        <p:cTn id="13"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34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CA2787F2-36CA-F346-8821-007537BC4351}"/>
              </a:ext>
            </a:extLst>
          </p:cNvPr>
          <p:cNvSpPr>
            <a:spLocks noGrp="1" noChangeArrowheads="1"/>
          </p:cNvSpPr>
          <p:nvPr>
            <p:ph type="title"/>
          </p:nvPr>
        </p:nvSpPr>
        <p:spPr>
          <a:xfrm>
            <a:off x="488951" y="161925"/>
            <a:ext cx="8928100" cy="603250"/>
          </a:xfrm>
        </p:spPr>
        <p:txBody>
          <a:bodyPr/>
          <a:lstStyle/>
          <a:p>
            <a:r>
              <a:rPr lang="en-GB" altLang="en-US">
                <a:ea typeface="ＭＳ Ｐゴシック" panose="020B0600070205080204" pitchFamily="34" charset="-128"/>
              </a:rPr>
              <a:t>Always avoid incomplete specification</a:t>
            </a:r>
          </a:p>
        </p:txBody>
      </p:sp>
      <p:sp>
        <p:nvSpPr>
          <p:cNvPr id="16386" name="Rectangle 3">
            <a:extLst>
              <a:ext uri="{FF2B5EF4-FFF2-40B4-BE49-F238E27FC236}">
                <a16:creationId xmlns:a16="http://schemas.microsoft.com/office/drawing/2014/main" id="{BF4E5501-12AF-934B-819E-3C06A6F28BF4}"/>
              </a:ext>
            </a:extLst>
          </p:cNvPr>
          <p:cNvSpPr txBox="1">
            <a:spLocks noChangeArrowheads="1"/>
          </p:cNvSpPr>
          <p:nvPr/>
        </p:nvSpPr>
        <p:spPr bwMode="auto">
          <a:xfrm>
            <a:off x="344489" y="1125538"/>
            <a:ext cx="45370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Solution 1: Precede all conditionals with a default assignment for all signals:</a:t>
            </a:r>
          </a:p>
        </p:txBody>
      </p:sp>
      <p:sp>
        <p:nvSpPr>
          <p:cNvPr id="16387" name="Rectangle 3">
            <a:extLst>
              <a:ext uri="{FF2B5EF4-FFF2-40B4-BE49-F238E27FC236}">
                <a16:creationId xmlns:a16="http://schemas.microsoft.com/office/drawing/2014/main" id="{CB6DD46A-9BF1-884F-A561-4622D158F0AA}"/>
              </a:ext>
            </a:extLst>
          </p:cNvPr>
          <p:cNvSpPr txBox="1">
            <a:spLocks noChangeArrowheads="1"/>
          </p:cNvSpPr>
          <p:nvPr/>
        </p:nvSpPr>
        <p:spPr bwMode="auto">
          <a:xfrm>
            <a:off x="5097464" y="1196975"/>
            <a:ext cx="45370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Solution 2: Fully specify all branches of if-else construct, or include a default statement in case construct:</a:t>
            </a:r>
          </a:p>
        </p:txBody>
      </p:sp>
      <p:pic>
        <p:nvPicPr>
          <p:cNvPr id="16388" name="Picture 1">
            <a:extLst>
              <a:ext uri="{FF2B5EF4-FFF2-40B4-BE49-F238E27FC236}">
                <a16:creationId xmlns:a16="http://schemas.microsoft.com/office/drawing/2014/main" id="{61DC9930-AEB0-EB40-8AD0-0E3FA2AC16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5926" y="2420939"/>
            <a:ext cx="43180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2">
            <a:extLst>
              <a:ext uri="{FF2B5EF4-FFF2-40B4-BE49-F238E27FC236}">
                <a16:creationId xmlns:a16="http://schemas.microsoft.com/office/drawing/2014/main" id="{20240712-89A9-2340-80A8-CD92BE3FBFD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75238" y="2492375"/>
            <a:ext cx="441483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8500622"/>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dissolve">
                                      <p:cBhvr>
                                        <p:cTn id="7" dur="500"/>
                                        <p:tgtEl>
                                          <p:spTgt spid="16387"/>
                                        </p:tgtEl>
                                      </p:cBhvr>
                                    </p:animEffect>
                                  </p:childTnLst>
                                </p:cTn>
                              </p:par>
                              <p:par>
                                <p:cTn id="8" presetID="9" presetClass="entr" presetSubtype="0" fill="hold" nodeType="withEffect">
                                  <p:stCondLst>
                                    <p:cond delay="0"/>
                                  </p:stCondLst>
                                  <p:childTnLst>
                                    <p:set>
                                      <p:cBhvr>
                                        <p:cTn id="9" dur="1" fill="hold">
                                          <p:stCondLst>
                                            <p:cond delay="0"/>
                                          </p:stCondLst>
                                        </p:cTn>
                                        <p:tgtEl>
                                          <p:spTgt spid="16389"/>
                                        </p:tgtEl>
                                        <p:attrNameLst>
                                          <p:attrName>style.visibility</p:attrName>
                                        </p:attrNameLst>
                                      </p:cBhvr>
                                      <p:to>
                                        <p:strVal val="visible"/>
                                      </p:to>
                                    </p:set>
                                    <p:animEffect transition="in" filter="dissolve">
                                      <p:cBhvr>
                                        <p:cTn id="10"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A901BF75-1538-AC4A-8376-CECE724AC018}"/>
              </a:ext>
            </a:extLst>
          </p:cNvPr>
          <p:cNvSpPr>
            <a:spLocks noGrp="1" noChangeArrowheads="1"/>
          </p:cNvSpPr>
          <p:nvPr>
            <p:ph type="title"/>
          </p:nvPr>
        </p:nvSpPr>
        <p:spPr>
          <a:xfrm>
            <a:off x="488951" y="161925"/>
            <a:ext cx="8928100" cy="603250"/>
          </a:xfrm>
        </p:spPr>
        <p:txBody>
          <a:bodyPr/>
          <a:lstStyle/>
          <a:p>
            <a:r>
              <a:rPr lang="en-GB" altLang="en-US">
                <a:ea typeface="ＭＳ Ｐゴシック" panose="020B0600070205080204" pitchFamily="34" charset="-128"/>
              </a:rPr>
              <a:t>How to specify a sequential circuit?</a:t>
            </a:r>
          </a:p>
        </p:txBody>
      </p:sp>
      <p:sp>
        <p:nvSpPr>
          <p:cNvPr id="18434" name="Rectangle 3">
            <a:extLst>
              <a:ext uri="{FF2B5EF4-FFF2-40B4-BE49-F238E27FC236}">
                <a16:creationId xmlns:a16="http://schemas.microsoft.com/office/drawing/2014/main" id="{4D94E3F7-C0F1-1248-90AB-92F3A52C1403}"/>
              </a:ext>
            </a:extLst>
          </p:cNvPr>
          <p:cNvSpPr txBox="1">
            <a:spLocks noChangeArrowheads="1"/>
          </p:cNvSpPr>
          <p:nvPr/>
        </p:nvSpPr>
        <p:spPr bwMode="auto">
          <a:xfrm>
            <a:off x="344488" y="1052514"/>
            <a:ext cx="9145588"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dirty="0"/>
              <a:t>Edge-triggered flipflop is specified with:    </a:t>
            </a:r>
            <a:r>
              <a:rPr lang="en-GB" altLang="en-US" b="1" dirty="0">
                <a:solidFill>
                  <a:srgbClr val="0000FF"/>
                </a:solidFill>
              </a:rPr>
              <a:t>always @  (</a:t>
            </a:r>
            <a:r>
              <a:rPr lang="en-GB" altLang="en-US" b="1" dirty="0" err="1">
                <a:solidFill>
                  <a:srgbClr val="0000FF"/>
                </a:solidFill>
              </a:rPr>
              <a:t>posedge</a:t>
            </a:r>
            <a:r>
              <a:rPr lang="en-GB" altLang="en-US" b="1" dirty="0">
                <a:solidFill>
                  <a:srgbClr val="0000FF"/>
                </a:solidFill>
              </a:rPr>
              <a:t>   </a:t>
            </a:r>
            <a:r>
              <a:rPr lang="en-GB" altLang="en-US" b="1" dirty="0" err="1">
                <a:solidFill>
                  <a:srgbClr val="0000FF"/>
                </a:solidFill>
              </a:rPr>
              <a:t>clk</a:t>
            </a:r>
            <a:r>
              <a:rPr lang="en-GB" altLang="en-US" b="1" dirty="0">
                <a:solidFill>
                  <a:srgbClr val="0000FF"/>
                </a:solidFill>
              </a:rPr>
              <a:t>):</a:t>
            </a:r>
          </a:p>
        </p:txBody>
      </p:sp>
      <p:pic>
        <p:nvPicPr>
          <p:cNvPr id="18435" name="Picture 1">
            <a:extLst>
              <a:ext uri="{FF2B5EF4-FFF2-40B4-BE49-F238E27FC236}">
                <a16:creationId xmlns:a16="http://schemas.microsoft.com/office/drawing/2014/main" id="{B56BBBA0-CE58-084F-9328-7F08F15EED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3052" y="1557339"/>
            <a:ext cx="4319587"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2">
            <a:extLst>
              <a:ext uri="{FF2B5EF4-FFF2-40B4-BE49-F238E27FC236}">
                <a16:creationId xmlns:a16="http://schemas.microsoft.com/office/drawing/2014/main" id="{6883719E-F445-E747-8233-AB67762E66B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210177" y="1557338"/>
            <a:ext cx="3990975"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9900060"/>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dissolve">
                                      <p:cBhvr>
                                        <p:cTn id="7" dur="500"/>
                                        <p:tgtEl>
                                          <p:spTgt spid="18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EE8FD6A-B3F6-974A-863E-FF7E80A6EDDF}"/>
              </a:ext>
            </a:extLst>
          </p:cNvPr>
          <p:cNvSpPr>
            <a:spLocks noGrp="1" noChangeArrowheads="1"/>
          </p:cNvSpPr>
          <p:nvPr>
            <p:ph type="title"/>
          </p:nvPr>
        </p:nvSpPr>
        <p:spPr>
          <a:xfrm>
            <a:off x="488951" y="161925"/>
            <a:ext cx="8928100" cy="603250"/>
          </a:xfrm>
        </p:spPr>
        <p:txBody>
          <a:bodyPr/>
          <a:lstStyle/>
          <a:p>
            <a:r>
              <a:rPr lang="en-GB" altLang="en-US">
                <a:ea typeface="ＭＳ Ｐゴシック" panose="020B0600070205080204" pitchFamily="34" charset="-128"/>
              </a:rPr>
              <a:t>Synchronous clear in D-flipflop</a:t>
            </a:r>
          </a:p>
        </p:txBody>
      </p:sp>
      <p:sp>
        <p:nvSpPr>
          <p:cNvPr id="20482" name="Rectangle 3">
            <a:extLst>
              <a:ext uri="{FF2B5EF4-FFF2-40B4-BE49-F238E27FC236}">
                <a16:creationId xmlns:a16="http://schemas.microsoft.com/office/drawing/2014/main" id="{8A64A557-D16D-BD47-BA61-0C792D8225A5}"/>
              </a:ext>
            </a:extLst>
          </p:cNvPr>
          <p:cNvSpPr txBox="1">
            <a:spLocks noChangeArrowheads="1"/>
          </p:cNvSpPr>
          <p:nvPr/>
        </p:nvSpPr>
        <p:spPr bwMode="auto">
          <a:xfrm>
            <a:off x="344488" y="908050"/>
            <a:ext cx="9145588"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b="1">
                <a:solidFill>
                  <a:srgbClr val="FF0000"/>
                </a:solidFill>
              </a:rPr>
              <a:t>posedge</a:t>
            </a:r>
            <a:r>
              <a:rPr lang="en-GB" altLang="en-US" sz="1800"/>
              <a:t>  and </a:t>
            </a:r>
            <a:r>
              <a:rPr lang="en-GB" altLang="en-US" sz="1800" b="1">
                <a:solidFill>
                  <a:srgbClr val="FB0737"/>
                </a:solidFill>
              </a:rPr>
              <a:t>negedge</a:t>
            </a:r>
            <a:r>
              <a:rPr lang="en-GB" altLang="en-US" sz="1800">
                <a:solidFill>
                  <a:srgbClr val="FB0737"/>
                </a:solidFill>
              </a:rPr>
              <a:t> </a:t>
            </a:r>
            <a:r>
              <a:rPr lang="en-GB" altLang="en-US" sz="1800"/>
              <a:t>makes an always block sequential and edge-triggered</a:t>
            </a:r>
          </a:p>
          <a:p>
            <a:pPr>
              <a:spcBef>
                <a:spcPts val="600"/>
              </a:spcBef>
            </a:pPr>
            <a:r>
              <a:rPr lang="en-GB" altLang="en-US" sz="1800"/>
              <a:t>Sensitivity list in a sequential </a:t>
            </a:r>
            <a:r>
              <a:rPr lang="en-GB" altLang="en-US" sz="1800" b="1">
                <a:solidFill>
                  <a:srgbClr val="0000FF"/>
                </a:solidFill>
              </a:rPr>
              <a:t>always</a:t>
            </a:r>
            <a:r>
              <a:rPr lang="en-GB" altLang="en-US" sz="1800">
                <a:solidFill>
                  <a:srgbClr val="0000FF"/>
                </a:solidFill>
              </a:rPr>
              <a:t> </a:t>
            </a:r>
            <a:r>
              <a:rPr lang="en-GB" altLang="en-US" sz="1800"/>
              <a:t>block determines what circuit is synthesized</a:t>
            </a:r>
            <a:endParaRPr lang="en-GB" altLang="en-US" b="1">
              <a:solidFill>
                <a:srgbClr val="0000FF"/>
              </a:solidFill>
            </a:endParaRPr>
          </a:p>
        </p:txBody>
      </p:sp>
      <p:sp>
        <p:nvSpPr>
          <p:cNvPr id="7" name="Content Placeholder 1">
            <a:extLst>
              <a:ext uri="{FF2B5EF4-FFF2-40B4-BE49-F238E27FC236}">
                <a16:creationId xmlns:a16="http://schemas.microsoft.com/office/drawing/2014/main" id="{C13B9BD8-5C7F-D249-8512-67F05D73A1D2}"/>
              </a:ext>
            </a:extLst>
          </p:cNvPr>
          <p:cNvSpPr txBox="1">
            <a:spLocks/>
          </p:cNvSpPr>
          <p:nvPr/>
        </p:nvSpPr>
        <p:spPr bwMode="auto">
          <a:xfrm>
            <a:off x="632520" y="1844824"/>
            <a:ext cx="3672408" cy="360040"/>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rgbClr val="000000"/>
            </a:solidFill>
          </a:ln>
          <a:extLst>
            <a:ext uri="{FAA26D3D-D897-4be2-8F04-BA451C77F1D7}">
              <ma14:placeholderFlag xmlns="" xmlns:ma14="http://schemas.microsoft.com/office/mac/drawingml/2011/main" val="1"/>
            </a:ext>
          </a:extLst>
        </p:spPr>
        <p:txBody>
          <a:bodyPr lIns="92075" tIns="46038" rIns="92075" bIns="46038"/>
          <a:lstStyle>
            <a:lvl1pPr marL="0" indent="0" algn="ctr">
              <a:spcBef>
                <a:spcPct val="20000"/>
              </a:spcBef>
              <a:buClr>
                <a:srgbClr val="842C00"/>
              </a:buClr>
              <a:buSzPct val="75000"/>
              <a:buFont typeface="Monotype Sorts" charset="0"/>
              <a:buNone/>
              <a:defRPr sz="2000">
                <a:latin typeface="+mn-lt"/>
              </a:defRPr>
            </a:lvl1pPr>
            <a:lvl2pPr marL="742950" indent="-285750">
              <a:spcBef>
                <a:spcPct val="20000"/>
              </a:spcBef>
              <a:buClr>
                <a:srgbClr val="842C00"/>
              </a:buClr>
              <a:buSzPct val="100000"/>
              <a:buFont typeface="Symbol" charset="0"/>
              <a:buChar char="·"/>
              <a:defRPr>
                <a:latin typeface="+mn-lt"/>
                <a:ea typeface="ＭＳ Ｐゴシック" charset="-128"/>
              </a:defRPr>
            </a:lvl2pPr>
            <a:lvl3pPr marL="1143000" indent="-228600">
              <a:spcBef>
                <a:spcPct val="20000"/>
              </a:spcBef>
              <a:buClr>
                <a:srgbClr val="842C00"/>
              </a:buClr>
              <a:buSzPct val="100000"/>
              <a:buFont typeface="Monotype Sorts" charset="0"/>
              <a:buChar char="ä"/>
              <a:defRPr sz="1600">
                <a:latin typeface="+mn-lt"/>
                <a:ea typeface="ＭＳ Ｐゴシック" charset="-128"/>
              </a:defRPr>
            </a:lvl3pPr>
            <a:lvl4pPr marL="1600200" indent="-228600">
              <a:spcBef>
                <a:spcPct val="20000"/>
              </a:spcBef>
              <a:buClr>
                <a:schemeClr val="accent2"/>
              </a:buClr>
              <a:buSzPct val="65000"/>
              <a:buFont typeface="Monotype Sorts" charset="0"/>
              <a:buChar char="u"/>
              <a:defRPr sz="1400">
                <a:latin typeface="+mn-lt"/>
                <a:ea typeface="ＭＳ Ｐゴシック" charset="-128"/>
              </a:defRPr>
            </a:lvl4pPr>
            <a:lvl5pPr marL="2057400" indent="-228600">
              <a:spcBef>
                <a:spcPct val="20000"/>
              </a:spcBef>
              <a:buClr>
                <a:schemeClr val="accent2"/>
              </a:buClr>
              <a:buSzPct val="100000"/>
              <a:buChar char="–"/>
              <a:defRPr sz="1400">
                <a:latin typeface="+mn-lt"/>
                <a:ea typeface="ＭＳ Ｐゴシック" charset="-128"/>
              </a:defRPr>
            </a:lvl5pPr>
            <a:lvl6pPr marL="2514600" indent="-228600" eaLnBrk="0" fontAlgn="base" hangingPunct="0">
              <a:spcBef>
                <a:spcPct val="20000"/>
              </a:spcBef>
              <a:spcAft>
                <a:spcPct val="0"/>
              </a:spcAft>
              <a:buClr>
                <a:schemeClr val="accent2"/>
              </a:buClr>
              <a:buSzPct val="100000"/>
              <a:buChar char="–"/>
              <a:defRPr sz="1400">
                <a:latin typeface="+mn-lt"/>
                <a:ea typeface="ＭＳ Ｐゴシック" charset="-128"/>
              </a:defRPr>
            </a:lvl6pPr>
            <a:lvl7pPr marL="2971800" indent="-228600" eaLnBrk="0" fontAlgn="base" hangingPunct="0">
              <a:spcBef>
                <a:spcPct val="20000"/>
              </a:spcBef>
              <a:spcAft>
                <a:spcPct val="0"/>
              </a:spcAft>
              <a:buClr>
                <a:schemeClr val="accent2"/>
              </a:buClr>
              <a:buSzPct val="100000"/>
              <a:buChar char="–"/>
              <a:defRPr sz="1400">
                <a:latin typeface="+mn-lt"/>
                <a:ea typeface="ＭＳ Ｐゴシック" charset="-128"/>
              </a:defRPr>
            </a:lvl7pPr>
            <a:lvl8pPr marL="3429000" indent="-228600" eaLnBrk="0" fontAlgn="base" hangingPunct="0">
              <a:spcBef>
                <a:spcPct val="20000"/>
              </a:spcBef>
              <a:spcAft>
                <a:spcPct val="0"/>
              </a:spcAft>
              <a:buClr>
                <a:schemeClr val="accent2"/>
              </a:buClr>
              <a:buSzPct val="100000"/>
              <a:buChar char="–"/>
              <a:defRPr sz="1400">
                <a:latin typeface="+mn-lt"/>
                <a:ea typeface="ＭＳ Ｐゴシック" charset="-128"/>
              </a:defRPr>
            </a:lvl8pPr>
            <a:lvl9pPr marL="3886200" indent="-228600" eaLnBrk="0" fontAlgn="base" hangingPunct="0">
              <a:spcBef>
                <a:spcPct val="20000"/>
              </a:spcBef>
              <a:spcAft>
                <a:spcPct val="0"/>
              </a:spcAft>
              <a:buClr>
                <a:schemeClr val="accent2"/>
              </a:buClr>
              <a:buSzPct val="100000"/>
              <a:buChar char="–"/>
              <a:defRPr sz="1400">
                <a:latin typeface="+mn-lt"/>
                <a:ea typeface="ＭＳ Ｐゴシック" charset="-128"/>
              </a:defRPr>
            </a:lvl9pPr>
          </a:lstStyle>
          <a:p>
            <a:pPr>
              <a:defRPr/>
            </a:pPr>
            <a:r>
              <a:rPr lang="en-US" sz="1800" dirty="0">
                <a:ea typeface="ＭＳ Ｐゴシック" charset="0"/>
                <a:cs typeface="ＭＳ Ｐゴシック" charset="0"/>
              </a:rPr>
              <a:t>D </a:t>
            </a:r>
            <a:r>
              <a:rPr lang="en-US" sz="1800" dirty="0" err="1">
                <a:ea typeface="ＭＳ Ｐゴシック" charset="0"/>
                <a:cs typeface="ＭＳ Ｐゴシック" charset="0"/>
              </a:rPr>
              <a:t>flipflop</a:t>
            </a:r>
            <a:r>
              <a:rPr lang="en-US" sz="1800" dirty="0">
                <a:ea typeface="ＭＳ Ｐゴシック" charset="0"/>
                <a:cs typeface="ＭＳ Ｐゴシック" charset="0"/>
              </a:rPr>
              <a:t> with </a:t>
            </a:r>
            <a:r>
              <a:rPr lang="en-US" sz="1800" b="1" dirty="0">
                <a:solidFill>
                  <a:srgbClr val="FB0737"/>
                </a:solidFill>
                <a:ea typeface="ＭＳ Ｐゴシック" charset="0"/>
                <a:cs typeface="ＭＳ Ｐゴシック" charset="0"/>
              </a:rPr>
              <a:t>synchronous</a:t>
            </a:r>
            <a:r>
              <a:rPr lang="en-US" sz="1800" dirty="0">
                <a:solidFill>
                  <a:srgbClr val="FB0737"/>
                </a:solidFill>
                <a:ea typeface="ＭＳ Ｐゴシック" charset="0"/>
                <a:cs typeface="ＭＳ Ｐゴシック" charset="0"/>
              </a:rPr>
              <a:t> </a:t>
            </a:r>
            <a:r>
              <a:rPr lang="en-US" sz="1800" dirty="0">
                <a:ea typeface="ＭＳ Ｐゴシック" charset="0"/>
                <a:cs typeface="ＭＳ Ｐゴシック" charset="0"/>
              </a:rPr>
              <a:t>clear</a:t>
            </a:r>
          </a:p>
        </p:txBody>
      </p:sp>
      <p:sp>
        <p:nvSpPr>
          <p:cNvPr id="14" name="Content Placeholder 1">
            <a:extLst>
              <a:ext uri="{FF2B5EF4-FFF2-40B4-BE49-F238E27FC236}">
                <a16:creationId xmlns:a16="http://schemas.microsoft.com/office/drawing/2014/main" id="{60AB70D3-07F6-FE40-A7FD-E7C9897A8855}"/>
              </a:ext>
            </a:extLst>
          </p:cNvPr>
          <p:cNvSpPr txBox="1">
            <a:spLocks/>
          </p:cNvSpPr>
          <p:nvPr/>
        </p:nvSpPr>
        <p:spPr bwMode="auto">
          <a:xfrm>
            <a:off x="848544" y="5085184"/>
            <a:ext cx="3384376" cy="504056"/>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rgbClr val="000000"/>
            </a:solidFill>
          </a:ln>
          <a:extLst>
            <a:ext uri="{FAA26D3D-D897-4be2-8F04-BA451C77F1D7}">
              <ma14:placeholderFlag xmlns="" xmlns:ma14="http://schemas.microsoft.com/office/mac/drawingml/2011/main" val="1"/>
            </a:ext>
          </a:extLst>
        </p:spPr>
        <p:txBody>
          <a:bodyPr lIns="92075" tIns="46038" rIns="92075" bIns="46038"/>
          <a:lstStyle>
            <a:lvl1pPr marL="0" indent="0" algn="ctr">
              <a:spcBef>
                <a:spcPct val="20000"/>
              </a:spcBef>
              <a:buClr>
                <a:srgbClr val="842C00"/>
              </a:buClr>
              <a:buSzPct val="75000"/>
              <a:buFont typeface="Monotype Sorts" charset="0"/>
              <a:buNone/>
              <a:defRPr sz="2000">
                <a:latin typeface="+mn-lt"/>
              </a:defRPr>
            </a:lvl1pPr>
            <a:lvl2pPr marL="742950" indent="-285750">
              <a:spcBef>
                <a:spcPct val="20000"/>
              </a:spcBef>
              <a:buClr>
                <a:srgbClr val="842C00"/>
              </a:buClr>
              <a:buSzPct val="100000"/>
              <a:buFont typeface="Symbol" charset="0"/>
              <a:buChar char="·"/>
              <a:defRPr>
                <a:latin typeface="+mn-lt"/>
                <a:ea typeface="ＭＳ Ｐゴシック" charset="-128"/>
              </a:defRPr>
            </a:lvl2pPr>
            <a:lvl3pPr marL="1143000" indent="-228600">
              <a:spcBef>
                <a:spcPct val="20000"/>
              </a:spcBef>
              <a:buClr>
                <a:srgbClr val="842C00"/>
              </a:buClr>
              <a:buSzPct val="100000"/>
              <a:buFont typeface="Monotype Sorts" charset="0"/>
              <a:buChar char="ä"/>
              <a:defRPr sz="1600">
                <a:latin typeface="+mn-lt"/>
                <a:ea typeface="ＭＳ Ｐゴシック" charset="-128"/>
              </a:defRPr>
            </a:lvl3pPr>
            <a:lvl4pPr marL="1600200" indent="-228600">
              <a:spcBef>
                <a:spcPct val="20000"/>
              </a:spcBef>
              <a:buClr>
                <a:schemeClr val="accent2"/>
              </a:buClr>
              <a:buSzPct val="65000"/>
              <a:buFont typeface="Monotype Sorts" charset="0"/>
              <a:buChar char="u"/>
              <a:defRPr sz="1400">
                <a:latin typeface="+mn-lt"/>
                <a:ea typeface="ＭＳ Ｐゴシック" charset="-128"/>
              </a:defRPr>
            </a:lvl4pPr>
            <a:lvl5pPr marL="2057400" indent="-228600">
              <a:spcBef>
                <a:spcPct val="20000"/>
              </a:spcBef>
              <a:buClr>
                <a:schemeClr val="accent2"/>
              </a:buClr>
              <a:buSzPct val="100000"/>
              <a:buChar char="–"/>
              <a:defRPr sz="1400">
                <a:latin typeface="+mn-lt"/>
                <a:ea typeface="ＭＳ Ｐゴシック" charset="-128"/>
              </a:defRPr>
            </a:lvl5pPr>
            <a:lvl6pPr marL="2514600" indent="-228600" eaLnBrk="0" fontAlgn="base" hangingPunct="0">
              <a:spcBef>
                <a:spcPct val="20000"/>
              </a:spcBef>
              <a:spcAft>
                <a:spcPct val="0"/>
              </a:spcAft>
              <a:buClr>
                <a:schemeClr val="accent2"/>
              </a:buClr>
              <a:buSzPct val="100000"/>
              <a:buChar char="–"/>
              <a:defRPr sz="1400">
                <a:latin typeface="+mn-lt"/>
                <a:ea typeface="ＭＳ Ｐゴシック" charset="-128"/>
              </a:defRPr>
            </a:lvl6pPr>
            <a:lvl7pPr marL="2971800" indent="-228600" eaLnBrk="0" fontAlgn="base" hangingPunct="0">
              <a:spcBef>
                <a:spcPct val="20000"/>
              </a:spcBef>
              <a:spcAft>
                <a:spcPct val="0"/>
              </a:spcAft>
              <a:buClr>
                <a:schemeClr val="accent2"/>
              </a:buClr>
              <a:buSzPct val="100000"/>
              <a:buChar char="–"/>
              <a:defRPr sz="1400">
                <a:latin typeface="+mn-lt"/>
                <a:ea typeface="ＭＳ Ｐゴシック" charset="-128"/>
              </a:defRPr>
            </a:lvl7pPr>
            <a:lvl8pPr marL="3429000" indent="-228600" eaLnBrk="0" fontAlgn="base" hangingPunct="0">
              <a:spcBef>
                <a:spcPct val="20000"/>
              </a:spcBef>
              <a:spcAft>
                <a:spcPct val="0"/>
              </a:spcAft>
              <a:buClr>
                <a:schemeClr val="accent2"/>
              </a:buClr>
              <a:buSzPct val="100000"/>
              <a:buChar char="–"/>
              <a:defRPr sz="1400">
                <a:latin typeface="+mn-lt"/>
                <a:ea typeface="ＭＳ Ｐゴシック" charset="-128"/>
              </a:defRPr>
            </a:lvl8pPr>
            <a:lvl9pPr marL="3886200" indent="-228600" eaLnBrk="0" fontAlgn="base" hangingPunct="0">
              <a:spcBef>
                <a:spcPct val="20000"/>
              </a:spcBef>
              <a:spcAft>
                <a:spcPct val="0"/>
              </a:spcAft>
              <a:buClr>
                <a:schemeClr val="accent2"/>
              </a:buClr>
              <a:buSzPct val="100000"/>
              <a:buChar char="–"/>
              <a:defRPr sz="1400">
                <a:latin typeface="+mn-lt"/>
                <a:ea typeface="ＭＳ Ｐゴシック" charset="-128"/>
              </a:defRPr>
            </a:lvl9pPr>
          </a:lstStyle>
          <a:p>
            <a:pPr>
              <a:defRPr/>
            </a:pPr>
            <a:r>
              <a:rPr lang="en-US" sz="1400" dirty="0">
                <a:ea typeface="ＭＳ Ｐゴシック" charset="0"/>
                <a:cs typeface="ＭＳ Ｐゴシック" charset="0"/>
              </a:rPr>
              <a:t>+</a:t>
            </a:r>
            <a:r>
              <a:rPr lang="en-US" sz="1400" dirty="0" err="1">
                <a:ea typeface="ＭＳ Ｐゴシック" charset="0"/>
                <a:cs typeface="ＭＳ Ｐゴシック" charset="0"/>
              </a:rPr>
              <a:t>ve</a:t>
            </a:r>
            <a:r>
              <a:rPr lang="en-US" sz="1400" dirty="0">
                <a:ea typeface="ＭＳ Ｐゴシック" charset="0"/>
                <a:cs typeface="ＭＳ Ｐゴシック" charset="0"/>
              </a:rPr>
              <a:t> edge on clock  triggers action in always block</a:t>
            </a:r>
          </a:p>
        </p:txBody>
      </p:sp>
      <p:sp>
        <p:nvSpPr>
          <p:cNvPr id="20489" name="Rectangle 3">
            <a:extLst>
              <a:ext uri="{FF2B5EF4-FFF2-40B4-BE49-F238E27FC236}">
                <a16:creationId xmlns:a16="http://schemas.microsoft.com/office/drawing/2014/main" id="{6CB1EE42-24BD-0C4C-A5C3-5B13A49EC49F}"/>
              </a:ext>
            </a:extLst>
          </p:cNvPr>
          <p:cNvSpPr txBox="1">
            <a:spLocks noChangeArrowheads="1"/>
          </p:cNvSpPr>
          <p:nvPr/>
        </p:nvSpPr>
        <p:spPr bwMode="auto">
          <a:xfrm>
            <a:off x="488952" y="5805488"/>
            <a:ext cx="91455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solidFill>
                  <a:srgbClr val="000000"/>
                </a:solidFill>
              </a:rPr>
              <a:t>Beware of </a:t>
            </a:r>
            <a:r>
              <a:rPr lang="en-GB" altLang="en-US" sz="1800" b="1">
                <a:solidFill>
                  <a:srgbClr val="FB0737"/>
                </a:solidFill>
              </a:rPr>
              <a:t>race condition </a:t>
            </a:r>
            <a:r>
              <a:rPr lang="en-GB" altLang="en-US" sz="1800">
                <a:solidFill>
                  <a:srgbClr val="000000"/>
                </a:solidFill>
              </a:rPr>
              <a:t>if you have two or more always blocks – they execute in parallel!</a:t>
            </a:r>
          </a:p>
          <a:p>
            <a:pPr lvl="1">
              <a:spcBef>
                <a:spcPts val="600"/>
              </a:spcBef>
            </a:pPr>
            <a:endParaRPr lang="en-GB" altLang="en-US" sz="1800"/>
          </a:p>
        </p:txBody>
      </p:sp>
      <p:grpSp>
        <p:nvGrpSpPr>
          <p:cNvPr id="20490" name="Group 16">
            <a:extLst>
              <a:ext uri="{FF2B5EF4-FFF2-40B4-BE49-F238E27FC236}">
                <a16:creationId xmlns:a16="http://schemas.microsoft.com/office/drawing/2014/main" id="{7BCB959C-BC7F-5E44-8967-09987D501C22}"/>
              </a:ext>
            </a:extLst>
          </p:cNvPr>
          <p:cNvGrpSpPr>
            <a:grpSpLocks/>
          </p:cNvGrpSpPr>
          <p:nvPr/>
        </p:nvGrpSpPr>
        <p:grpSpPr bwMode="auto">
          <a:xfrm>
            <a:off x="5024439" y="2565400"/>
            <a:ext cx="3960813" cy="2103438"/>
            <a:chOff x="126876" y="3701988"/>
            <a:chExt cx="3960310" cy="2103276"/>
          </a:xfrm>
        </p:grpSpPr>
        <p:sp>
          <p:nvSpPr>
            <p:cNvPr id="20492" name="TextBox 17">
              <a:extLst>
                <a:ext uri="{FF2B5EF4-FFF2-40B4-BE49-F238E27FC236}">
                  <a16:creationId xmlns:a16="http://schemas.microsoft.com/office/drawing/2014/main" id="{5F936744-682E-F14B-B8E0-6436822B5FF8}"/>
                </a:ext>
              </a:extLst>
            </p:cNvPr>
            <p:cNvSpPr txBox="1">
              <a:spLocks noChangeArrowheads="1"/>
            </p:cNvSpPr>
            <p:nvPr/>
          </p:nvSpPr>
          <p:spPr bwMode="auto">
            <a:xfrm>
              <a:off x="198884" y="3717032"/>
              <a:ext cx="6480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clk</a:t>
              </a:r>
            </a:p>
          </p:txBody>
        </p:sp>
        <p:sp>
          <p:nvSpPr>
            <p:cNvPr id="20493" name="TextBox 18">
              <a:extLst>
                <a:ext uri="{FF2B5EF4-FFF2-40B4-BE49-F238E27FC236}">
                  <a16:creationId xmlns:a16="http://schemas.microsoft.com/office/drawing/2014/main" id="{74F39CEE-AF51-E448-A19E-DF501429EA8F}"/>
                </a:ext>
              </a:extLst>
            </p:cNvPr>
            <p:cNvSpPr txBox="1">
              <a:spLocks noChangeArrowheads="1"/>
            </p:cNvSpPr>
            <p:nvPr/>
          </p:nvSpPr>
          <p:spPr bwMode="auto">
            <a:xfrm>
              <a:off x="270892" y="4221088"/>
              <a:ext cx="3600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d</a:t>
              </a:r>
            </a:p>
          </p:txBody>
        </p:sp>
        <p:grpSp>
          <p:nvGrpSpPr>
            <p:cNvPr id="20494" name="Group 19">
              <a:extLst>
                <a:ext uri="{FF2B5EF4-FFF2-40B4-BE49-F238E27FC236}">
                  <a16:creationId xmlns:a16="http://schemas.microsoft.com/office/drawing/2014/main" id="{FECF026A-CBBE-BA48-8F01-5C84BA73BC6D}"/>
                </a:ext>
              </a:extLst>
            </p:cNvPr>
            <p:cNvGrpSpPr>
              <a:grpSpLocks/>
            </p:cNvGrpSpPr>
            <p:nvPr/>
          </p:nvGrpSpPr>
          <p:grpSpPr bwMode="auto">
            <a:xfrm>
              <a:off x="558924" y="3701988"/>
              <a:ext cx="872480" cy="368424"/>
              <a:chOff x="558924" y="4653136"/>
              <a:chExt cx="872480" cy="368424"/>
            </a:xfrm>
          </p:grpSpPr>
          <p:cxnSp>
            <p:nvCxnSpPr>
              <p:cNvPr id="20526" name="Straight Connector 53">
                <a:extLst>
                  <a:ext uri="{FF2B5EF4-FFF2-40B4-BE49-F238E27FC236}">
                    <a16:creationId xmlns:a16="http://schemas.microsoft.com/office/drawing/2014/main" id="{77536166-9A07-BA4F-9A83-07D72B39F370}"/>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27" name="Straight Connector 54">
                <a:extLst>
                  <a:ext uri="{FF2B5EF4-FFF2-40B4-BE49-F238E27FC236}">
                    <a16:creationId xmlns:a16="http://schemas.microsoft.com/office/drawing/2014/main" id="{2B1C2723-5948-9C40-A486-435900961714}"/>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28" name="Straight Connector 55">
                <a:extLst>
                  <a:ext uri="{FF2B5EF4-FFF2-40B4-BE49-F238E27FC236}">
                    <a16:creationId xmlns:a16="http://schemas.microsoft.com/office/drawing/2014/main" id="{C561D926-E1F3-8246-B6B9-00B29E567BE1}"/>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29" name="Straight Connector 56">
                <a:extLst>
                  <a:ext uri="{FF2B5EF4-FFF2-40B4-BE49-F238E27FC236}">
                    <a16:creationId xmlns:a16="http://schemas.microsoft.com/office/drawing/2014/main" id="{CBDF5C32-7398-234C-8019-AA510936E5F8}"/>
                  </a:ext>
                </a:extLst>
              </p:cNvPr>
              <p:cNvCxnSpPr>
                <a:cxnSpLocks noChangeShapeType="1"/>
              </p:cNvCxnSpPr>
              <p:nvPr/>
            </p:nvCxnSpPr>
            <p:spPr bwMode="auto">
              <a:xfrm flipH="1" flipV="1">
                <a:off x="1423020"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0495" name="Group 20">
              <a:extLst>
                <a:ext uri="{FF2B5EF4-FFF2-40B4-BE49-F238E27FC236}">
                  <a16:creationId xmlns:a16="http://schemas.microsoft.com/office/drawing/2014/main" id="{131116DE-2C94-D74D-B598-9EEB8D712D3E}"/>
                </a:ext>
              </a:extLst>
            </p:cNvPr>
            <p:cNvGrpSpPr>
              <a:grpSpLocks/>
            </p:cNvGrpSpPr>
            <p:nvPr/>
          </p:nvGrpSpPr>
          <p:grpSpPr bwMode="auto">
            <a:xfrm>
              <a:off x="1423020" y="3701988"/>
              <a:ext cx="872480" cy="368424"/>
              <a:chOff x="558924" y="4653136"/>
              <a:chExt cx="872480" cy="368424"/>
            </a:xfrm>
          </p:grpSpPr>
          <p:cxnSp>
            <p:nvCxnSpPr>
              <p:cNvPr id="20522" name="Straight Connector 49">
                <a:extLst>
                  <a:ext uri="{FF2B5EF4-FFF2-40B4-BE49-F238E27FC236}">
                    <a16:creationId xmlns:a16="http://schemas.microsoft.com/office/drawing/2014/main" id="{4B953F0A-350A-0742-B737-C1AACE50E53A}"/>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23" name="Straight Connector 50">
                <a:extLst>
                  <a:ext uri="{FF2B5EF4-FFF2-40B4-BE49-F238E27FC236}">
                    <a16:creationId xmlns:a16="http://schemas.microsoft.com/office/drawing/2014/main" id="{057289FD-8C9B-9142-9E58-2CECA84824B8}"/>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24" name="Straight Connector 51">
                <a:extLst>
                  <a:ext uri="{FF2B5EF4-FFF2-40B4-BE49-F238E27FC236}">
                    <a16:creationId xmlns:a16="http://schemas.microsoft.com/office/drawing/2014/main" id="{76C44828-04EC-CE4F-A0F1-867471AC86D8}"/>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25" name="Straight Connector 52">
                <a:extLst>
                  <a:ext uri="{FF2B5EF4-FFF2-40B4-BE49-F238E27FC236}">
                    <a16:creationId xmlns:a16="http://schemas.microsoft.com/office/drawing/2014/main" id="{E8C40460-6939-1E43-A952-FF81C1753768}"/>
                  </a:ext>
                </a:extLst>
              </p:cNvPr>
              <p:cNvCxnSpPr>
                <a:cxnSpLocks noChangeShapeType="1"/>
              </p:cNvCxnSpPr>
              <p:nvPr/>
            </p:nvCxnSpPr>
            <p:spPr bwMode="auto">
              <a:xfrm flipH="1" flipV="1">
                <a:off x="1423020"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0496" name="Group 21">
              <a:extLst>
                <a:ext uri="{FF2B5EF4-FFF2-40B4-BE49-F238E27FC236}">
                  <a16:creationId xmlns:a16="http://schemas.microsoft.com/office/drawing/2014/main" id="{F3BAF0E9-4DF4-8341-A6F7-964F2846DCAE}"/>
                </a:ext>
              </a:extLst>
            </p:cNvPr>
            <p:cNvGrpSpPr>
              <a:grpSpLocks/>
            </p:cNvGrpSpPr>
            <p:nvPr/>
          </p:nvGrpSpPr>
          <p:grpSpPr bwMode="auto">
            <a:xfrm>
              <a:off x="2287116" y="3701988"/>
              <a:ext cx="872480" cy="368424"/>
              <a:chOff x="558924" y="4653136"/>
              <a:chExt cx="872480" cy="368424"/>
            </a:xfrm>
          </p:grpSpPr>
          <p:cxnSp>
            <p:nvCxnSpPr>
              <p:cNvPr id="20518" name="Straight Connector 45">
                <a:extLst>
                  <a:ext uri="{FF2B5EF4-FFF2-40B4-BE49-F238E27FC236}">
                    <a16:creationId xmlns:a16="http://schemas.microsoft.com/office/drawing/2014/main" id="{8C3C079A-0E54-4241-889A-D6DACC95FE8D}"/>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19" name="Straight Connector 46">
                <a:extLst>
                  <a:ext uri="{FF2B5EF4-FFF2-40B4-BE49-F238E27FC236}">
                    <a16:creationId xmlns:a16="http://schemas.microsoft.com/office/drawing/2014/main" id="{C37D8F2E-3C6E-B249-8043-80BC0A931D99}"/>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20" name="Straight Connector 47">
                <a:extLst>
                  <a:ext uri="{FF2B5EF4-FFF2-40B4-BE49-F238E27FC236}">
                    <a16:creationId xmlns:a16="http://schemas.microsoft.com/office/drawing/2014/main" id="{69215792-3E76-B640-904E-133959A412BA}"/>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21" name="Straight Connector 48">
                <a:extLst>
                  <a:ext uri="{FF2B5EF4-FFF2-40B4-BE49-F238E27FC236}">
                    <a16:creationId xmlns:a16="http://schemas.microsoft.com/office/drawing/2014/main" id="{C9704A42-9186-3B40-8624-908C851534FA}"/>
                  </a:ext>
                </a:extLst>
              </p:cNvPr>
              <p:cNvCxnSpPr>
                <a:cxnSpLocks noChangeShapeType="1"/>
              </p:cNvCxnSpPr>
              <p:nvPr/>
            </p:nvCxnSpPr>
            <p:spPr bwMode="auto">
              <a:xfrm flipH="1" flipV="1">
                <a:off x="1423020"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0497" name="Group 22">
              <a:extLst>
                <a:ext uri="{FF2B5EF4-FFF2-40B4-BE49-F238E27FC236}">
                  <a16:creationId xmlns:a16="http://schemas.microsoft.com/office/drawing/2014/main" id="{A1774DB1-E463-5A46-A211-42B5333D3BA1}"/>
                </a:ext>
              </a:extLst>
            </p:cNvPr>
            <p:cNvGrpSpPr>
              <a:grpSpLocks/>
            </p:cNvGrpSpPr>
            <p:nvPr/>
          </p:nvGrpSpPr>
          <p:grpSpPr bwMode="auto">
            <a:xfrm>
              <a:off x="3151212" y="3701988"/>
              <a:ext cx="872480" cy="368424"/>
              <a:chOff x="558924" y="4653136"/>
              <a:chExt cx="872480" cy="368424"/>
            </a:xfrm>
          </p:grpSpPr>
          <p:cxnSp>
            <p:nvCxnSpPr>
              <p:cNvPr id="20514" name="Straight Connector 41">
                <a:extLst>
                  <a:ext uri="{FF2B5EF4-FFF2-40B4-BE49-F238E27FC236}">
                    <a16:creationId xmlns:a16="http://schemas.microsoft.com/office/drawing/2014/main" id="{B137AE00-CD18-9C41-A506-E5780A1E9CE7}"/>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15" name="Straight Connector 42">
                <a:extLst>
                  <a:ext uri="{FF2B5EF4-FFF2-40B4-BE49-F238E27FC236}">
                    <a16:creationId xmlns:a16="http://schemas.microsoft.com/office/drawing/2014/main" id="{76ED05FF-0554-164A-BA41-00B78275C4EB}"/>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16" name="Straight Connector 43">
                <a:extLst>
                  <a:ext uri="{FF2B5EF4-FFF2-40B4-BE49-F238E27FC236}">
                    <a16:creationId xmlns:a16="http://schemas.microsoft.com/office/drawing/2014/main" id="{B432D7D3-DF0A-6C44-B035-80EB2C268A57}"/>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17" name="Straight Connector 44">
                <a:extLst>
                  <a:ext uri="{FF2B5EF4-FFF2-40B4-BE49-F238E27FC236}">
                    <a16:creationId xmlns:a16="http://schemas.microsoft.com/office/drawing/2014/main" id="{63D8CA83-D19A-1D4B-A3C4-C3EA771DE5E3}"/>
                  </a:ext>
                </a:extLst>
              </p:cNvPr>
              <p:cNvCxnSpPr>
                <a:cxnSpLocks noChangeShapeType="1"/>
              </p:cNvCxnSpPr>
              <p:nvPr/>
            </p:nvCxnSpPr>
            <p:spPr bwMode="auto">
              <a:xfrm flipH="1" flipV="1">
                <a:off x="1423020"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0498" name="Group 23">
              <a:extLst>
                <a:ext uri="{FF2B5EF4-FFF2-40B4-BE49-F238E27FC236}">
                  <a16:creationId xmlns:a16="http://schemas.microsoft.com/office/drawing/2014/main" id="{CC44C474-0A6E-6C4C-AA90-00A0E25656E4}"/>
                </a:ext>
              </a:extLst>
            </p:cNvPr>
            <p:cNvGrpSpPr>
              <a:grpSpLocks/>
            </p:cNvGrpSpPr>
            <p:nvPr/>
          </p:nvGrpSpPr>
          <p:grpSpPr bwMode="auto">
            <a:xfrm>
              <a:off x="558924" y="4205509"/>
              <a:ext cx="3528262" cy="368959"/>
              <a:chOff x="558924" y="4652601"/>
              <a:chExt cx="1583331" cy="368959"/>
            </a:xfrm>
          </p:grpSpPr>
          <p:cxnSp>
            <p:nvCxnSpPr>
              <p:cNvPr id="20511" name="Straight Connector 37">
                <a:extLst>
                  <a:ext uri="{FF2B5EF4-FFF2-40B4-BE49-F238E27FC236}">
                    <a16:creationId xmlns:a16="http://schemas.microsoft.com/office/drawing/2014/main" id="{EC6E4CA3-0224-2141-8BBA-2D7651B5D0D1}"/>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12" name="Straight Connector 38">
                <a:extLst>
                  <a:ext uri="{FF2B5EF4-FFF2-40B4-BE49-F238E27FC236}">
                    <a16:creationId xmlns:a16="http://schemas.microsoft.com/office/drawing/2014/main" id="{B2DE63DB-4DF3-EC43-A3F4-2E40AB1B56E0}"/>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13" name="Straight Connector 39">
                <a:extLst>
                  <a:ext uri="{FF2B5EF4-FFF2-40B4-BE49-F238E27FC236}">
                    <a16:creationId xmlns:a16="http://schemas.microsoft.com/office/drawing/2014/main" id="{494E6C43-7021-B945-8654-C69CA5566710}"/>
                  </a:ext>
                </a:extLst>
              </p:cNvPr>
              <p:cNvCxnSpPr>
                <a:cxnSpLocks noChangeShapeType="1"/>
              </p:cNvCxnSpPr>
              <p:nvPr/>
            </p:nvCxnSpPr>
            <p:spPr bwMode="auto">
              <a:xfrm flipV="1">
                <a:off x="990972" y="4652601"/>
                <a:ext cx="1151283" cy="5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0499" name="Group 25">
              <a:extLst>
                <a:ext uri="{FF2B5EF4-FFF2-40B4-BE49-F238E27FC236}">
                  <a16:creationId xmlns:a16="http://schemas.microsoft.com/office/drawing/2014/main" id="{A2D46839-235E-FC42-89AE-3271322E5A03}"/>
                </a:ext>
              </a:extLst>
            </p:cNvPr>
            <p:cNvGrpSpPr>
              <a:grpSpLocks/>
            </p:cNvGrpSpPr>
            <p:nvPr/>
          </p:nvGrpSpPr>
          <p:grpSpPr bwMode="auto">
            <a:xfrm flipV="1">
              <a:off x="1999084" y="4782108"/>
              <a:ext cx="1925533" cy="368424"/>
              <a:chOff x="558924" y="4653136"/>
              <a:chExt cx="864096" cy="368424"/>
            </a:xfrm>
          </p:grpSpPr>
          <p:cxnSp>
            <p:nvCxnSpPr>
              <p:cNvPr id="20508" name="Straight Connector 34">
                <a:extLst>
                  <a:ext uri="{FF2B5EF4-FFF2-40B4-BE49-F238E27FC236}">
                    <a16:creationId xmlns:a16="http://schemas.microsoft.com/office/drawing/2014/main" id="{DB44A907-0FB9-4140-962D-72AD00EF49DD}"/>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09" name="Straight Connector 35">
                <a:extLst>
                  <a:ext uri="{FF2B5EF4-FFF2-40B4-BE49-F238E27FC236}">
                    <a16:creationId xmlns:a16="http://schemas.microsoft.com/office/drawing/2014/main" id="{B41DB0D3-68C6-B04B-8913-B099AF5F8BF6}"/>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10" name="Straight Connector 36">
                <a:extLst>
                  <a:ext uri="{FF2B5EF4-FFF2-40B4-BE49-F238E27FC236}">
                    <a16:creationId xmlns:a16="http://schemas.microsoft.com/office/drawing/2014/main" id="{44E20521-0767-EE4E-96B3-46D92B310700}"/>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cxnSp>
          <p:nvCxnSpPr>
            <p:cNvPr id="20500" name="Straight Connector 26">
              <a:extLst>
                <a:ext uri="{FF2B5EF4-FFF2-40B4-BE49-F238E27FC236}">
                  <a16:creationId xmlns:a16="http://schemas.microsoft.com/office/drawing/2014/main" id="{EF9EC3B4-7819-B946-AFBD-E3A4354BFB3F}"/>
                </a:ext>
              </a:extLst>
            </p:cNvPr>
            <p:cNvCxnSpPr>
              <a:cxnSpLocks noChangeShapeType="1"/>
            </p:cNvCxnSpPr>
            <p:nvPr/>
          </p:nvCxnSpPr>
          <p:spPr bwMode="auto">
            <a:xfrm>
              <a:off x="558924" y="4782108"/>
              <a:ext cx="1440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01" name="Straight Connector 27">
              <a:extLst>
                <a:ext uri="{FF2B5EF4-FFF2-40B4-BE49-F238E27FC236}">
                  <a16:creationId xmlns:a16="http://schemas.microsoft.com/office/drawing/2014/main" id="{45A231C3-D975-8041-A487-570E96EFFE36}"/>
                </a:ext>
              </a:extLst>
            </p:cNvPr>
            <p:cNvCxnSpPr>
              <a:cxnSpLocks noChangeShapeType="1"/>
            </p:cNvCxnSpPr>
            <p:nvPr/>
          </p:nvCxnSpPr>
          <p:spPr bwMode="auto">
            <a:xfrm flipV="1">
              <a:off x="558924" y="5790940"/>
              <a:ext cx="1296144" cy="143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02" name="Straight Connector 28">
              <a:extLst>
                <a:ext uri="{FF2B5EF4-FFF2-40B4-BE49-F238E27FC236}">
                  <a16:creationId xmlns:a16="http://schemas.microsoft.com/office/drawing/2014/main" id="{184BFC05-A7FD-D94B-B4AA-3333A3133ABD}"/>
                </a:ext>
              </a:extLst>
            </p:cNvPr>
            <p:cNvCxnSpPr>
              <a:cxnSpLocks noChangeShapeType="1"/>
            </p:cNvCxnSpPr>
            <p:nvPr/>
          </p:nvCxnSpPr>
          <p:spPr bwMode="auto">
            <a:xfrm flipH="1" flipV="1">
              <a:off x="1855068" y="5430900"/>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03" name="Straight Connector 29">
              <a:extLst>
                <a:ext uri="{FF2B5EF4-FFF2-40B4-BE49-F238E27FC236}">
                  <a16:creationId xmlns:a16="http://schemas.microsoft.com/office/drawing/2014/main" id="{D6B77329-459D-5A47-BD88-DA99030B59A7}"/>
                </a:ext>
              </a:extLst>
            </p:cNvPr>
            <p:cNvCxnSpPr>
              <a:cxnSpLocks noChangeShapeType="1"/>
            </p:cNvCxnSpPr>
            <p:nvPr/>
          </p:nvCxnSpPr>
          <p:spPr bwMode="auto">
            <a:xfrm>
              <a:off x="1855068" y="5430900"/>
              <a:ext cx="1728192" cy="143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04" name="Straight Connector 30">
              <a:extLst>
                <a:ext uri="{FF2B5EF4-FFF2-40B4-BE49-F238E27FC236}">
                  <a16:creationId xmlns:a16="http://schemas.microsoft.com/office/drawing/2014/main" id="{9C269706-24DF-2641-81C0-76C2E20691C5}"/>
                </a:ext>
              </a:extLst>
            </p:cNvPr>
            <p:cNvCxnSpPr>
              <a:cxnSpLocks noChangeShapeType="1"/>
            </p:cNvCxnSpPr>
            <p:nvPr/>
          </p:nvCxnSpPr>
          <p:spPr bwMode="auto">
            <a:xfrm flipV="1">
              <a:off x="3583260" y="5445224"/>
              <a:ext cx="0" cy="3600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0505" name="Straight Connector 31">
              <a:extLst>
                <a:ext uri="{FF2B5EF4-FFF2-40B4-BE49-F238E27FC236}">
                  <a16:creationId xmlns:a16="http://schemas.microsoft.com/office/drawing/2014/main" id="{D1AC6A8E-B759-0B43-8A6F-12C77E0426C0}"/>
                </a:ext>
              </a:extLst>
            </p:cNvPr>
            <p:cNvCxnSpPr>
              <a:cxnSpLocks noChangeShapeType="1"/>
            </p:cNvCxnSpPr>
            <p:nvPr/>
          </p:nvCxnSpPr>
          <p:spPr bwMode="auto">
            <a:xfrm flipV="1">
              <a:off x="3583260" y="5790940"/>
              <a:ext cx="432048" cy="143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20506" name="TextBox 32">
              <a:extLst>
                <a:ext uri="{FF2B5EF4-FFF2-40B4-BE49-F238E27FC236}">
                  <a16:creationId xmlns:a16="http://schemas.microsoft.com/office/drawing/2014/main" id="{4E27FEA7-0D49-ED46-A4C2-F758E72D6DBC}"/>
                </a:ext>
              </a:extLst>
            </p:cNvPr>
            <p:cNvSpPr txBox="1">
              <a:spLocks noChangeArrowheads="1"/>
            </p:cNvSpPr>
            <p:nvPr/>
          </p:nvSpPr>
          <p:spPr bwMode="auto">
            <a:xfrm>
              <a:off x="126876" y="4869160"/>
              <a:ext cx="7920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clearb</a:t>
              </a:r>
            </a:p>
          </p:txBody>
        </p:sp>
        <p:sp>
          <p:nvSpPr>
            <p:cNvPr id="20507" name="TextBox 33">
              <a:extLst>
                <a:ext uri="{FF2B5EF4-FFF2-40B4-BE49-F238E27FC236}">
                  <a16:creationId xmlns:a16="http://schemas.microsoft.com/office/drawing/2014/main" id="{808DE98B-4B09-5C4E-A1F7-BEDCB9EFAB9D}"/>
                </a:ext>
              </a:extLst>
            </p:cNvPr>
            <p:cNvSpPr txBox="1">
              <a:spLocks noChangeArrowheads="1"/>
            </p:cNvSpPr>
            <p:nvPr/>
          </p:nvSpPr>
          <p:spPr bwMode="auto">
            <a:xfrm>
              <a:off x="342900" y="5458262"/>
              <a:ext cx="3600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q</a:t>
              </a:r>
            </a:p>
          </p:txBody>
        </p:sp>
      </p:grpSp>
      <p:pic>
        <p:nvPicPr>
          <p:cNvPr id="20491" name="Picture 1">
            <a:extLst>
              <a:ext uri="{FF2B5EF4-FFF2-40B4-BE49-F238E27FC236}">
                <a16:creationId xmlns:a16="http://schemas.microsoft.com/office/drawing/2014/main" id="{6FFA7979-4ECD-214A-821F-88104877842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0026" y="2276475"/>
            <a:ext cx="4652962"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9760641"/>
      </p:ext>
    </p:extLst>
  </p:cSld>
  <p:clrMapOvr>
    <a:masterClrMapping/>
  </p:clrMapOvr>
  <p:transition>
    <p:checke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Content Placeholder 1">
            <a:extLst>
              <a:ext uri="{FF2B5EF4-FFF2-40B4-BE49-F238E27FC236}">
                <a16:creationId xmlns:a16="http://schemas.microsoft.com/office/drawing/2014/main" id="{9EAF2F9E-7C2A-274E-B83A-BBBFCC3E70C8}"/>
              </a:ext>
            </a:extLst>
          </p:cNvPr>
          <p:cNvSpPr txBox="1">
            <a:spLocks/>
          </p:cNvSpPr>
          <p:nvPr/>
        </p:nvSpPr>
        <p:spPr bwMode="auto">
          <a:xfrm>
            <a:off x="704653" y="2179563"/>
            <a:ext cx="4032448" cy="360040"/>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rgbClr val="000000"/>
            </a:solidFill>
          </a:ln>
          <a:extLst>
            <a:ext uri="{FAA26D3D-D897-4be2-8F04-BA451C77F1D7}">
              <ma14:placeholderFlag xmlns="" xmlns:ma14="http://schemas.microsoft.com/office/mac/drawingml/2011/main" val="1"/>
            </a:ext>
          </a:extLst>
        </p:spPr>
        <p:txBody>
          <a:bodyPr lIns="92075" tIns="46038" rIns="92075" bIns="46038"/>
          <a:lstStyle>
            <a:lvl1pPr marL="0" indent="0" algn="ctr">
              <a:spcBef>
                <a:spcPct val="20000"/>
              </a:spcBef>
              <a:buClr>
                <a:srgbClr val="842C00"/>
              </a:buClr>
              <a:buSzPct val="75000"/>
              <a:buFont typeface="Monotype Sorts" charset="0"/>
              <a:buNone/>
              <a:defRPr sz="2000">
                <a:latin typeface="+mn-lt"/>
              </a:defRPr>
            </a:lvl1pPr>
            <a:lvl2pPr marL="742950" indent="-285750">
              <a:spcBef>
                <a:spcPct val="20000"/>
              </a:spcBef>
              <a:buClr>
                <a:srgbClr val="842C00"/>
              </a:buClr>
              <a:buSzPct val="100000"/>
              <a:buFont typeface="Symbol" charset="0"/>
              <a:buChar char="·"/>
              <a:defRPr>
                <a:latin typeface="+mn-lt"/>
                <a:ea typeface="ＭＳ Ｐゴシック" charset="-128"/>
              </a:defRPr>
            </a:lvl2pPr>
            <a:lvl3pPr marL="1143000" indent="-228600">
              <a:spcBef>
                <a:spcPct val="20000"/>
              </a:spcBef>
              <a:buClr>
                <a:srgbClr val="842C00"/>
              </a:buClr>
              <a:buSzPct val="100000"/>
              <a:buFont typeface="Monotype Sorts" charset="0"/>
              <a:buChar char="ä"/>
              <a:defRPr sz="1600">
                <a:latin typeface="+mn-lt"/>
                <a:ea typeface="ＭＳ Ｐゴシック" charset="-128"/>
              </a:defRPr>
            </a:lvl3pPr>
            <a:lvl4pPr marL="1600200" indent="-228600">
              <a:spcBef>
                <a:spcPct val="20000"/>
              </a:spcBef>
              <a:buClr>
                <a:schemeClr val="accent2"/>
              </a:buClr>
              <a:buSzPct val="65000"/>
              <a:buFont typeface="Monotype Sorts" charset="0"/>
              <a:buChar char="u"/>
              <a:defRPr sz="1400">
                <a:latin typeface="+mn-lt"/>
                <a:ea typeface="ＭＳ Ｐゴシック" charset="-128"/>
              </a:defRPr>
            </a:lvl4pPr>
            <a:lvl5pPr marL="2057400" indent="-228600">
              <a:spcBef>
                <a:spcPct val="20000"/>
              </a:spcBef>
              <a:buClr>
                <a:schemeClr val="accent2"/>
              </a:buClr>
              <a:buSzPct val="100000"/>
              <a:buChar char="–"/>
              <a:defRPr sz="1400">
                <a:latin typeface="+mn-lt"/>
                <a:ea typeface="ＭＳ Ｐゴシック" charset="-128"/>
              </a:defRPr>
            </a:lvl5pPr>
            <a:lvl6pPr marL="2514600" indent="-228600" eaLnBrk="0" fontAlgn="base" hangingPunct="0">
              <a:spcBef>
                <a:spcPct val="20000"/>
              </a:spcBef>
              <a:spcAft>
                <a:spcPct val="0"/>
              </a:spcAft>
              <a:buClr>
                <a:schemeClr val="accent2"/>
              </a:buClr>
              <a:buSzPct val="100000"/>
              <a:buChar char="–"/>
              <a:defRPr sz="1400">
                <a:latin typeface="+mn-lt"/>
                <a:ea typeface="ＭＳ Ｐゴシック" charset="-128"/>
              </a:defRPr>
            </a:lvl6pPr>
            <a:lvl7pPr marL="2971800" indent="-228600" eaLnBrk="0" fontAlgn="base" hangingPunct="0">
              <a:spcBef>
                <a:spcPct val="20000"/>
              </a:spcBef>
              <a:spcAft>
                <a:spcPct val="0"/>
              </a:spcAft>
              <a:buClr>
                <a:schemeClr val="accent2"/>
              </a:buClr>
              <a:buSzPct val="100000"/>
              <a:buChar char="–"/>
              <a:defRPr sz="1400">
                <a:latin typeface="+mn-lt"/>
                <a:ea typeface="ＭＳ Ｐゴシック" charset="-128"/>
              </a:defRPr>
            </a:lvl7pPr>
            <a:lvl8pPr marL="3429000" indent="-228600" eaLnBrk="0" fontAlgn="base" hangingPunct="0">
              <a:spcBef>
                <a:spcPct val="20000"/>
              </a:spcBef>
              <a:spcAft>
                <a:spcPct val="0"/>
              </a:spcAft>
              <a:buClr>
                <a:schemeClr val="accent2"/>
              </a:buClr>
              <a:buSzPct val="100000"/>
              <a:buChar char="–"/>
              <a:defRPr sz="1400">
                <a:latin typeface="+mn-lt"/>
                <a:ea typeface="ＭＳ Ｐゴシック" charset="-128"/>
              </a:defRPr>
            </a:lvl8pPr>
            <a:lvl9pPr marL="3886200" indent="-228600" eaLnBrk="0" fontAlgn="base" hangingPunct="0">
              <a:spcBef>
                <a:spcPct val="20000"/>
              </a:spcBef>
              <a:spcAft>
                <a:spcPct val="0"/>
              </a:spcAft>
              <a:buClr>
                <a:schemeClr val="accent2"/>
              </a:buClr>
              <a:buSzPct val="100000"/>
              <a:buChar char="–"/>
              <a:defRPr sz="1400">
                <a:latin typeface="+mn-lt"/>
                <a:ea typeface="ＭＳ Ｐゴシック" charset="-128"/>
              </a:defRPr>
            </a:lvl9pPr>
          </a:lstStyle>
          <a:p>
            <a:pPr>
              <a:defRPr/>
            </a:pPr>
            <a:r>
              <a:rPr lang="en-US" sz="1800" dirty="0">
                <a:ea typeface="ＭＳ Ｐゴシック" charset="0"/>
                <a:cs typeface="ＭＳ Ｐゴシック" charset="0"/>
              </a:rPr>
              <a:t>D </a:t>
            </a:r>
            <a:r>
              <a:rPr lang="en-US" sz="1800" dirty="0" err="1">
                <a:ea typeface="ＭＳ Ｐゴシック" charset="0"/>
                <a:cs typeface="ＭＳ Ｐゴシック" charset="0"/>
              </a:rPr>
              <a:t>flipflop</a:t>
            </a:r>
            <a:r>
              <a:rPr lang="en-US" sz="1800" dirty="0">
                <a:ea typeface="ＭＳ Ｐゴシック" charset="0"/>
                <a:cs typeface="ＭＳ Ｐゴシック" charset="0"/>
              </a:rPr>
              <a:t> with </a:t>
            </a:r>
            <a:r>
              <a:rPr lang="en-US" sz="1800" b="1" dirty="0">
                <a:solidFill>
                  <a:srgbClr val="FB0737"/>
                </a:solidFill>
                <a:ea typeface="ＭＳ Ｐゴシック" charset="0"/>
                <a:cs typeface="ＭＳ Ｐゴシック" charset="0"/>
              </a:rPr>
              <a:t>asynchronous</a:t>
            </a:r>
            <a:r>
              <a:rPr lang="en-US" sz="1800" dirty="0">
                <a:solidFill>
                  <a:srgbClr val="FB0737"/>
                </a:solidFill>
                <a:ea typeface="ＭＳ Ｐゴシック" charset="0"/>
                <a:cs typeface="ＭＳ Ｐゴシック" charset="0"/>
              </a:rPr>
              <a:t> </a:t>
            </a:r>
            <a:r>
              <a:rPr lang="en-US" sz="1800" dirty="0">
                <a:ea typeface="ＭＳ Ｐゴシック" charset="0"/>
                <a:cs typeface="ＭＳ Ｐゴシック" charset="0"/>
              </a:rPr>
              <a:t>clear</a:t>
            </a:r>
          </a:p>
        </p:txBody>
      </p:sp>
      <p:sp>
        <p:nvSpPr>
          <p:cNvPr id="15" name="Content Placeholder 1">
            <a:extLst>
              <a:ext uri="{FF2B5EF4-FFF2-40B4-BE49-F238E27FC236}">
                <a16:creationId xmlns:a16="http://schemas.microsoft.com/office/drawing/2014/main" id="{EDA9A101-8514-E34B-A254-8CDECFBA2332}"/>
              </a:ext>
            </a:extLst>
          </p:cNvPr>
          <p:cNvSpPr txBox="1">
            <a:spLocks/>
          </p:cNvSpPr>
          <p:nvPr/>
        </p:nvSpPr>
        <p:spPr bwMode="auto">
          <a:xfrm>
            <a:off x="711815" y="5301208"/>
            <a:ext cx="4032448" cy="504056"/>
          </a:xfrm>
          <a:prstGeom prst="rect">
            <a:avLst/>
          </a:prstGeom>
          <a:gradFill flip="none" rotWithShape="1">
            <a:gsLst>
              <a:gs pos="0">
                <a:schemeClr val="accent2">
                  <a:lumMod val="40000"/>
                  <a:lumOff val="60000"/>
                </a:schemeClr>
              </a:gs>
              <a:gs pos="100000">
                <a:srgbClr val="FFFFFF"/>
              </a:gs>
            </a:gsLst>
            <a:path path="circle">
              <a:fillToRect l="100000" t="100000"/>
            </a:path>
            <a:tileRect r="-100000" b="-100000"/>
          </a:gradFill>
          <a:ln>
            <a:solidFill>
              <a:srgbClr val="000000"/>
            </a:solidFill>
          </a:ln>
          <a:extLst>
            <a:ext uri="{FAA26D3D-D897-4be2-8F04-BA451C77F1D7}">
              <ma14:placeholderFlag xmlns="" xmlns:ma14="http://schemas.microsoft.com/office/mac/drawingml/2011/main" val="1"/>
            </a:ext>
          </a:extLst>
        </p:spPr>
        <p:txBody>
          <a:bodyPr lIns="92075" tIns="46038" rIns="92075" bIns="46038"/>
          <a:lstStyle>
            <a:lvl1pPr marL="0" indent="0" algn="ctr">
              <a:spcBef>
                <a:spcPct val="20000"/>
              </a:spcBef>
              <a:buClr>
                <a:srgbClr val="842C00"/>
              </a:buClr>
              <a:buSzPct val="75000"/>
              <a:buFont typeface="Monotype Sorts" charset="0"/>
              <a:buNone/>
              <a:defRPr sz="2000">
                <a:latin typeface="+mn-lt"/>
              </a:defRPr>
            </a:lvl1pPr>
            <a:lvl2pPr marL="742950" indent="-285750">
              <a:spcBef>
                <a:spcPct val="20000"/>
              </a:spcBef>
              <a:buClr>
                <a:srgbClr val="842C00"/>
              </a:buClr>
              <a:buSzPct val="100000"/>
              <a:buFont typeface="Symbol" charset="0"/>
              <a:buChar char="·"/>
              <a:defRPr>
                <a:latin typeface="+mn-lt"/>
                <a:ea typeface="ＭＳ Ｐゴシック" charset="-128"/>
              </a:defRPr>
            </a:lvl2pPr>
            <a:lvl3pPr marL="1143000" indent="-228600">
              <a:spcBef>
                <a:spcPct val="20000"/>
              </a:spcBef>
              <a:buClr>
                <a:srgbClr val="842C00"/>
              </a:buClr>
              <a:buSzPct val="100000"/>
              <a:buFont typeface="Monotype Sorts" charset="0"/>
              <a:buChar char="ä"/>
              <a:defRPr sz="1600">
                <a:latin typeface="+mn-lt"/>
                <a:ea typeface="ＭＳ Ｐゴシック" charset="-128"/>
              </a:defRPr>
            </a:lvl3pPr>
            <a:lvl4pPr marL="1600200" indent="-228600">
              <a:spcBef>
                <a:spcPct val="20000"/>
              </a:spcBef>
              <a:buClr>
                <a:schemeClr val="accent2"/>
              </a:buClr>
              <a:buSzPct val="65000"/>
              <a:buFont typeface="Monotype Sorts" charset="0"/>
              <a:buChar char="u"/>
              <a:defRPr sz="1400">
                <a:latin typeface="+mn-lt"/>
                <a:ea typeface="ＭＳ Ｐゴシック" charset="-128"/>
              </a:defRPr>
            </a:lvl4pPr>
            <a:lvl5pPr marL="2057400" indent="-228600">
              <a:spcBef>
                <a:spcPct val="20000"/>
              </a:spcBef>
              <a:buClr>
                <a:schemeClr val="accent2"/>
              </a:buClr>
              <a:buSzPct val="100000"/>
              <a:buChar char="–"/>
              <a:defRPr sz="1400">
                <a:latin typeface="+mn-lt"/>
                <a:ea typeface="ＭＳ Ｐゴシック" charset="-128"/>
              </a:defRPr>
            </a:lvl5pPr>
            <a:lvl6pPr marL="2514600" indent="-228600" eaLnBrk="0" fontAlgn="base" hangingPunct="0">
              <a:spcBef>
                <a:spcPct val="20000"/>
              </a:spcBef>
              <a:spcAft>
                <a:spcPct val="0"/>
              </a:spcAft>
              <a:buClr>
                <a:schemeClr val="accent2"/>
              </a:buClr>
              <a:buSzPct val="100000"/>
              <a:buChar char="–"/>
              <a:defRPr sz="1400">
                <a:latin typeface="+mn-lt"/>
                <a:ea typeface="ＭＳ Ｐゴシック" charset="-128"/>
              </a:defRPr>
            </a:lvl6pPr>
            <a:lvl7pPr marL="2971800" indent="-228600" eaLnBrk="0" fontAlgn="base" hangingPunct="0">
              <a:spcBef>
                <a:spcPct val="20000"/>
              </a:spcBef>
              <a:spcAft>
                <a:spcPct val="0"/>
              </a:spcAft>
              <a:buClr>
                <a:schemeClr val="accent2"/>
              </a:buClr>
              <a:buSzPct val="100000"/>
              <a:buChar char="–"/>
              <a:defRPr sz="1400">
                <a:latin typeface="+mn-lt"/>
                <a:ea typeface="ＭＳ Ｐゴシック" charset="-128"/>
              </a:defRPr>
            </a:lvl7pPr>
            <a:lvl8pPr marL="3429000" indent="-228600" eaLnBrk="0" fontAlgn="base" hangingPunct="0">
              <a:spcBef>
                <a:spcPct val="20000"/>
              </a:spcBef>
              <a:spcAft>
                <a:spcPct val="0"/>
              </a:spcAft>
              <a:buClr>
                <a:schemeClr val="accent2"/>
              </a:buClr>
              <a:buSzPct val="100000"/>
              <a:buChar char="–"/>
              <a:defRPr sz="1400">
                <a:latin typeface="+mn-lt"/>
                <a:ea typeface="ＭＳ Ｐゴシック" charset="-128"/>
              </a:defRPr>
            </a:lvl8pPr>
            <a:lvl9pPr marL="3886200" indent="-228600" eaLnBrk="0" fontAlgn="base" hangingPunct="0">
              <a:spcBef>
                <a:spcPct val="20000"/>
              </a:spcBef>
              <a:spcAft>
                <a:spcPct val="0"/>
              </a:spcAft>
              <a:buClr>
                <a:schemeClr val="accent2"/>
              </a:buClr>
              <a:buSzPct val="100000"/>
              <a:buChar char="–"/>
              <a:defRPr sz="1400">
                <a:latin typeface="+mn-lt"/>
                <a:ea typeface="ＭＳ Ｐゴシック" charset="-128"/>
              </a:defRPr>
            </a:lvl9pPr>
          </a:lstStyle>
          <a:p>
            <a:pPr>
              <a:defRPr/>
            </a:pPr>
            <a:r>
              <a:rPr lang="en-US" sz="1400" dirty="0">
                <a:ea typeface="ＭＳ Ｐゴシック" charset="0"/>
                <a:cs typeface="ＭＳ Ｐゴシック" charset="0"/>
              </a:rPr>
              <a:t>+</a:t>
            </a:r>
            <a:r>
              <a:rPr lang="en-US" sz="1400" dirty="0" err="1">
                <a:ea typeface="ＭＳ Ｐゴシック" charset="0"/>
                <a:cs typeface="ＭＳ Ｐゴシック" charset="0"/>
              </a:rPr>
              <a:t>ve</a:t>
            </a:r>
            <a:r>
              <a:rPr lang="en-US" sz="1400" dirty="0">
                <a:ea typeface="ＭＳ Ｐゴシック" charset="0"/>
                <a:cs typeface="ＭＳ Ｐゴシック" charset="0"/>
              </a:rPr>
              <a:t> edge on clock OR </a:t>
            </a:r>
            <a:r>
              <a:rPr lang="en-US" sz="1400" dirty="0" err="1">
                <a:ea typeface="ＭＳ Ｐゴシック" charset="0"/>
                <a:cs typeface="ＭＳ Ｐゴシック" charset="0"/>
              </a:rPr>
              <a:t>clearb</a:t>
            </a:r>
            <a:r>
              <a:rPr lang="en-US" sz="1400" dirty="0">
                <a:ea typeface="ＭＳ Ｐゴシック" charset="0"/>
                <a:cs typeface="ＭＳ Ｐゴシック" charset="0"/>
              </a:rPr>
              <a:t> trigger action in always block</a:t>
            </a:r>
          </a:p>
        </p:txBody>
      </p:sp>
      <p:sp>
        <p:nvSpPr>
          <p:cNvPr id="22535" name="Rectangle 3">
            <a:extLst>
              <a:ext uri="{FF2B5EF4-FFF2-40B4-BE49-F238E27FC236}">
                <a16:creationId xmlns:a16="http://schemas.microsoft.com/office/drawing/2014/main" id="{22205B0A-9D53-DB4C-9AD1-DFE68244E8FF}"/>
              </a:ext>
            </a:extLst>
          </p:cNvPr>
          <p:cNvSpPr txBox="1">
            <a:spLocks noChangeArrowheads="1"/>
          </p:cNvSpPr>
          <p:nvPr/>
        </p:nvSpPr>
        <p:spPr bwMode="auto">
          <a:xfrm>
            <a:off x="344488" y="1125539"/>
            <a:ext cx="914558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If one signal in the sensitivity list uses </a:t>
            </a:r>
            <a:r>
              <a:rPr lang="en-GB" altLang="en-US" sz="1800" b="1">
                <a:solidFill>
                  <a:srgbClr val="FB0737"/>
                </a:solidFill>
              </a:rPr>
              <a:t>posedge</a:t>
            </a:r>
            <a:r>
              <a:rPr lang="en-GB" altLang="en-US" sz="1800">
                <a:solidFill>
                  <a:srgbClr val="FB0737"/>
                </a:solidFill>
              </a:rPr>
              <a:t> </a:t>
            </a:r>
            <a:r>
              <a:rPr lang="en-GB" altLang="en-US" sz="1800"/>
              <a:t>or </a:t>
            </a:r>
            <a:r>
              <a:rPr lang="en-GB" altLang="en-US" sz="1800" b="1">
                <a:solidFill>
                  <a:srgbClr val="FB0737"/>
                </a:solidFill>
              </a:rPr>
              <a:t>negedge</a:t>
            </a:r>
            <a:r>
              <a:rPr lang="en-GB" altLang="en-US" sz="1800"/>
              <a:t>, ALL signals must also specify an edge.  This syntax is wrong: </a:t>
            </a:r>
            <a:r>
              <a:rPr lang="en-GB" altLang="en-US" sz="1800" b="1">
                <a:solidFill>
                  <a:srgbClr val="0000FF"/>
                </a:solidFill>
              </a:rPr>
              <a:t>always @ (clearb or posedge clock)</a:t>
            </a:r>
          </a:p>
        </p:txBody>
      </p:sp>
      <p:grpSp>
        <p:nvGrpSpPr>
          <p:cNvPr id="22536" name="Group 11">
            <a:extLst>
              <a:ext uri="{FF2B5EF4-FFF2-40B4-BE49-F238E27FC236}">
                <a16:creationId xmlns:a16="http://schemas.microsoft.com/office/drawing/2014/main" id="{92CB6ADC-CDE7-AB45-B4A3-4F9626058C62}"/>
              </a:ext>
            </a:extLst>
          </p:cNvPr>
          <p:cNvGrpSpPr>
            <a:grpSpLocks/>
          </p:cNvGrpSpPr>
          <p:nvPr/>
        </p:nvGrpSpPr>
        <p:grpSpPr bwMode="auto">
          <a:xfrm>
            <a:off x="5384802" y="2924175"/>
            <a:ext cx="3895725" cy="2103438"/>
            <a:chOff x="4879404" y="3645024"/>
            <a:chExt cx="3896816" cy="2103276"/>
          </a:xfrm>
        </p:grpSpPr>
        <p:sp>
          <p:nvSpPr>
            <p:cNvPr id="22539" name="TextBox 16">
              <a:extLst>
                <a:ext uri="{FF2B5EF4-FFF2-40B4-BE49-F238E27FC236}">
                  <a16:creationId xmlns:a16="http://schemas.microsoft.com/office/drawing/2014/main" id="{8135C58C-743D-0E48-99EC-6E6A5A082A41}"/>
                </a:ext>
              </a:extLst>
            </p:cNvPr>
            <p:cNvSpPr txBox="1">
              <a:spLocks noChangeArrowheads="1"/>
            </p:cNvSpPr>
            <p:nvPr/>
          </p:nvSpPr>
          <p:spPr bwMode="auto">
            <a:xfrm>
              <a:off x="4951412" y="3660068"/>
              <a:ext cx="6480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clk</a:t>
              </a:r>
            </a:p>
          </p:txBody>
        </p:sp>
        <p:sp>
          <p:nvSpPr>
            <p:cNvPr id="22540" name="TextBox 17">
              <a:extLst>
                <a:ext uri="{FF2B5EF4-FFF2-40B4-BE49-F238E27FC236}">
                  <a16:creationId xmlns:a16="http://schemas.microsoft.com/office/drawing/2014/main" id="{F5843762-91BE-474B-B936-5DF963DF975D}"/>
                </a:ext>
              </a:extLst>
            </p:cNvPr>
            <p:cNvSpPr txBox="1">
              <a:spLocks noChangeArrowheads="1"/>
            </p:cNvSpPr>
            <p:nvPr/>
          </p:nvSpPr>
          <p:spPr bwMode="auto">
            <a:xfrm>
              <a:off x="5023420" y="4164124"/>
              <a:ext cx="3600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d</a:t>
              </a:r>
            </a:p>
          </p:txBody>
        </p:sp>
        <p:grpSp>
          <p:nvGrpSpPr>
            <p:cNvPr id="22541" name="Group 18">
              <a:extLst>
                <a:ext uri="{FF2B5EF4-FFF2-40B4-BE49-F238E27FC236}">
                  <a16:creationId xmlns:a16="http://schemas.microsoft.com/office/drawing/2014/main" id="{D4D8BF26-FE2C-B042-812C-4EAC042960F5}"/>
                </a:ext>
              </a:extLst>
            </p:cNvPr>
            <p:cNvGrpSpPr>
              <a:grpSpLocks/>
            </p:cNvGrpSpPr>
            <p:nvPr/>
          </p:nvGrpSpPr>
          <p:grpSpPr bwMode="auto">
            <a:xfrm>
              <a:off x="5311452" y="3645024"/>
              <a:ext cx="872480" cy="368424"/>
              <a:chOff x="558924" y="4653136"/>
              <a:chExt cx="872480" cy="368424"/>
            </a:xfrm>
          </p:grpSpPr>
          <p:cxnSp>
            <p:nvCxnSpPr>
              <p:cNvPr id="22573" name="Straight Connector 52">
                <a:extLst>
                  <a:ext uri="{FF2B5EF4-FFF2-40B4-BE49-F238E27FC236}">
                    <a16:creationId xmlns:a16="http://schemas.microsoft.com/office/drawing/2014/main" id="{72ACACB4-28A5-0949-A696-C5738EB0DC0A}"/>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74" name="Straight Connector 53">
                <a:extLst>
                  <a:ext uri="{FF2B5EF4-FFF2-40B4-BE49-F238E27FC236}">
                    <a16:creationId xmlns:a16="http://schemas.microsoft.com/office/drawing/2014/main" id="{8DC603AC-BF25-D748-8823-3E749A48889B}"/>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75" name="Straight Connector 54">
                <a:extLst>
                  <a:ext uri="{FF2B5EF4-FFF2-40B4-BE49-F238E27FC236}">
                    <a16:creationId xmlns:a16="http://schemas.microsoft.com/office/drawing/2014/main" id="{DD86053C-A565-9A43-9867-D2D888707153}"/>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76" name="Straight Connector 55">
                <a:extLst>
                  <a:ext uri="{FF2B5EF4-FFF2-40B4-BE49-F238E27FC236}">
                    <a16:creationId xmlns:a16="http://schemas.microsoft.com/office/drawing/2014/main" id="{42C23B96-BB77-5E44-B12D-04426F815E39}"/>
                  </a:ext>
                </a:extLst>
              </p:cNvPr>
              <p:cNvCxnSpPr>
                <a:cxnSpLocks noChangeShapeType="1"/>
              </p:cNvCxnSpPr>
              <p:nvPr/>
            </p:nvCxnSpPr>
            <p:spPr bwMode="auto">
              <a:xfrm flipH="1" flipV="1">
                <a:off x="1423020"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2542" name="Group 19">
              <a:extLst>
                <a:ext uri="{FF2B5EF4-FFF2-40B4-BE49-F238E27FC236}">
                  <a16:creationId xmlns:a16="http://schemas.microsoft.com/office/drawing/2014/main" id="{3BB1D1BB-8C5A-2F4A-89FB-0099C41E6DFE}"/>
                </a:ext>
              </a:extLst>
            </p:cNvPr>
            <p:cNvGrpSpPr>
              <a:grpSpLocks/>
            </p:cNvGrpSpPr>
            <p:nvPr/>
          </p:nvGrpSpPr>
          <p:grpSpPr bwMode="auto">
            <a:xfrm>
              <a:off x="6175548" y="3645024"/>
              <a:ext cx="872480" cy="368424"/>
              <a:chOff x="558924" y="4653136"/>
              <a:chExt cx="872480" cy="368424"/>
            </a:xfrm>
          </p:grpSpPr>
          <p:cxnSp>
            <p:nvCxnSpPr>
              <p:cNvPr id="22569" name="Straight Connector 48">
                <a:extLst>
                  <a:ext uri="{FF2B5EF4-FFF2-40B4-BE49-F238E27FC236}">
                    <a16:creationId xmlns:a16="http://schemas.microsoft.com/office/drawing/2014/main" id="{343EFB6D-EFC7-DF42-97D6-ABE4AEA6A1A1}"/>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70" name="Straight Connector 49">
                <a:extLst>
                  <a:ext uri="{FF2B5EF4-FFF2-40B4-BE49-F238E27FC236}">
                    <a16:creationId xmlns:a16="http://schemas.microsoft.com/office/drawing/2014/main" id="{9FDB106C-A1FB-1547-913A-B622A2AB4C5E}"/>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71" name="Straight Connector 50">
                <a:extLst>
                  <a:ext uri="{FF2B5EF4-FFF2-40B4-BE49-F238E27FC236}">
                    <a16:creationId xmlns:a16="http://schemas.microsoft.com/office/drawing/2014/main" id="{F42903D3-836E-AB43-BCAD-3C75492A4981}"/>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72" name="Straight Connector 51">
                <a:extLst>
                  <a:ext uri="{FF2B5EF4-FFF2-40B4-BE49-F238E27FC236}">
                    <a16:creationId xmlns:a16="http://schemas.microsoft.com/office/drawing/2014/main" id="{4E5D7950-9435-0940-9564-9033BEE47B01}"/>
                  </a:ext>
                </a:extLst>
              </p:cNvPr>
              <p:cNvCxnSpPr>
                <a:cxnSpLocks noChangeShapeType="1"/>
              </p:cNvCxnSpPr>
              <p:nvPr/>
            </p:nvCxnSpPr>
            <p:spPr bwMode="auto">
              <a:xfrm flipH="1" flipV="1">
                <a:off x="1423020"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2543" name="Group 20">
              <a:extLst>
                <a:ext uri="{FF2B5EF4-FFF2-40B4-BE49-F238E27FC236}">
                  <a16:creationId xmlns:a16="http://schemas.microsoft.com/office/drawing/2014/main" id="{536401D4-E800-DE47-83B9-DF9C2BEDBD94}"/>
                </a:ext>
              </a:extLst>
            </p:cNvPr>
            <p:cNvGrpSpPr>
              <a:grpSpLocks/>
            </p:cNvGrpSpPr>
            <p:nvPr/>
          </p:nvGrpSpPr>
          <p:grpSpPr bwMode="auto">
            <a:xfrm>
              <a:off x="7039644" y="3645024"/>
              <a:ext cx="872480" cy="368424"/>
              <a:chOff x="558924" y="4653136"/>
              <a:chExt cx="872480" cy="368424"/>
            </a:xfrm>
          </p:grpSpPr>
          <p:cxnSp>
            <p:nvCxnSpPr>
              <p:cNvPr id="22565" name="Straight Connector 44">
                <a:extLst>
                  <a:ext uri="{FF2B5EF4-FFF2-40B4-BE49-F238E27FC236}">
                    <a16:creationId xmlns:a16="http://schemas.microsoft.com/office/drawing/2014/main" id="{5880F046-4E8A-5D42-82A3-1B99B9B5E64B}"/>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66" name="Straight Connector 45">
                <a:extLst>
                  <a:ext uri="{FF2B5EF4-FFF2-40B4-BE49-F238E27FC236}">
                    <a16:creationId xmlns:a16="http://schemas.microsoft.com/office/drawing/2014/main" id="{0F4EE5EF-4AF5-8D40-9714-B31BA6D5111B}"/>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67" name="Straight Connector 46">
                <a:extLst>
                  <a:ext uri="{FF2B5EF4-FFF2-40B4-BE49-F238E27FC236}">
                    <a16:creationId xmlns:a16="http://schemas.microsoft.com/office/drawing/2014/main" id="{6832EE14-A86A-D442-9320-B3C413CF1B31}"/>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68" name="Straight Connector 47">
                <a:extLst>
                  <a:ext uri="{FF2B5EF4-FFF2-40B4-BE49-F238E27FC236}">
                    <a16:creationId xmlns:a16="http://schemas.microsoft.com/office/drawing/2014/main" id="{49E6E00C-5184-4E4A-91D7-19D08DC511EE}"/>
                  </a:ext>
                </a:extLst>
              </p:cNvPr>
              <p:cNvCxnSpPr>
                <a:cxnSpLocks noChangeShapeType="1"/>
              </p:cNvCxnSpPr>
              <p:nvPr/>
            </p:nvCxnSpPr>
            <p:spPr bwMode="auto">
              <a:xfrm flipH="1" flipV="1">
                <a:off x="1423020"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2544" name="Group 21">
              <a:extLst>
                <a:ext uri="{FF2B5EF4-FFF2-40B4-BE49-F238E27FC236}">
                  <a16:creationId xmlns:a16="http://schemas.microsoft.com/office/drawing/2014/main" id="{C5AD0A5A-878B-5F49-A5D9-76FA912C5CF7}"/>
                </a:ext>
              </a:extLst>
            </p:cNvPr>
            <p:cNvGrpSpPr>
              <a:grpSpLocks/>
            </p:cNvGrpSpPr>
            <p:nvPr/>
          </p:nvGrpSpPr>
          <p:grpSpPr bwMode="auto">
            <a:xfrm>
              <a:off x="7903740" y="3645024"/>
              <a:ext cx="872480" cy="368424"/>
              <a:chOff x="558924" y="4653136"/>
              <a:chExt cx="872480" cy="368424"/>
            </a:xfrm>
          </p:grpSpPr>
          <p:cxnSp>
            <p:nvCxnSpPr>
              <p:cNvPr id="22561" name="Straight Connector 40">
                <a:extLst>
                  <a:ext uri="{FF2B5EF4-FFF2-40B4-BE49-F238E27FC236}">
                    <a16:creationId xmlns:a16="http://schemas.microsoft.com/office/drawing/2014/main" id="{BE1276DD-296A-964D-A451-299A48B8034E}"/>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62" name="Straight Connector 41">
                <a:extLst>
                  <a:ext uri="{FF2B5EF4-FFF2-40B4-BE49-F238E27FC236}">
                    <a16:creationId xmlns:a16="http://schemas.microsoft.com/office/drawing/2014/main" id="{BC33C5C0-4C8E-284C-9002-78EA0BC1DC7A}"/>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63" name="Straight Connector 42">
                <a:extLst>
                  <a:ext uri="{FF2B5EF4-FFF2-40B4-BE49-F238E27FC236}">
                    <a16:creationId xmlns:a16="http://schemas.microsoft.com/office/drawing/2014/main" id="{761E17F5-033C-4946-BC08-8D7E6D8F7E51}"/>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64" name="Straight Connector 43">
                <a:extLst>
                  <a:ext uri="{FF2B5EF4-FFF2-40B4-BE49-F238E27FC236}">
                    <a16:creationId xmlns:a16="http://schemas.microsoft.com/office/drawing/2014/main" id="{413CBB8D-D674-6846-B66A-78E08968B763}"/>
                  </a:ext>
                </a:extLst>
              </p:cNvPr>
              <p:cNvCxnSpPr>
                <a:cxnSpLocks noChangeShapeType="1"/>
              </p:cNvCxnSpPr>
              <p:nvPr/>
            </p:nvCxnSpPr>
            <p:spPr bwMode="auto">
              <a:xfrm flipH="1" flipV="1">
                <a:off x="1423020"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2545" name="Group 22">
              <a:extLst>
                <a:ext uri="{FF2B5EF4-FFF2-40B4-BE49-F238E27FC236}">
                  <a16:creationId xmlns:a16="http://schemas.microsoft.com/office/drawing/2014/main" id="{0F41238E-AC62-934B-9D35-5C47B48377AB}"/>
                </a:ext>
              </a:extLst>
            </p:cNvPr>
            <p:cNvGrpSpPr>
              <a:grpSpLocks/>
            </p:cNvGrpSpPr>
            <p:nvPr/>
          </p:nvGrpSpPr>
          <p:grpSpPr bwMode="auto">
            <a:xfrm>
              <a:off x="5311452" y="4149080"/>
              <a:ext cx="3456701" cy="368424"/>
              <a:chOff x="558924" y="4653136"/>
              <a:chExt cx="1551218" cy="368424"/>
            </a:xfrm>
          </p:grpSpPr>
          <p:cxnSp>
            <p:nvCxnSpPr>
              <p:cNvPr id="22558" name="Straight Connector 36">
                <a:extLst>
                  <a:ext uri="{FF2B5EF4-FFF2-40B4-BE49-F238E27FC236}">
                    <a16:creationId xmlns:a16="http://schemas.microsoft.com/office/drawing/2014/main" id="{AD91DA1B-1774-A24E-AB2E-B856169BA3C3}"/>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59" name="Straight Connector 37">
                <a:extLst>
                  <a:ext uri="{FF2B5EF4-FFF2-40B4-BE49-F238E27FC236}">
                    <a16:creationId xmlns:a16="http://schemas.microsoft.com/office/drawing/2014/main" id="{56C2884B-5F65-EA45-A636-36CD50660168}"/>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60" name="Straight Connector 38">
                <a:extLst>
                  <a:ext uri="{FF2B5EF4-FFF2-40B4-BE49-F238E27FC236}">
                    <a16:creationId xmlns:a16="http://schemas.microsoft.com/office/drawing/2014/main" id="{00127370-3AC3-284A-9B4C-BB92D83947D0}"/>
                  </a:ext>
                </a:extLst>
              </p:cNvPr>
              <p:cNvCxnSpPr>
                <a:cxnSpLocks noChangeShapeType="1"/>
              </p:cNvCxnSpPr>
              <p:nvPr/>
            </p:nvCxnSpPr>
            <p:spPr bwMode="auto">
              <a:xfrm>
                <a:off x="990972" y="4653136"/>
                <a:ext cx="1119170" cy="2511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grpSp>
          <p:nvGrpSpPr>
            <p:cNvPr id="22546" name="Group 24">
              <a:extLst>
                <a:ext uri="{FF2B5EF4-FFF2-40B4-BE49-F238E27FC236}">
                  <a16:creationId xmlns:a16="http://schemas.microsoft.com/office/drawing/2014/main" id="{0A418914-6EC8-6F4C-B190-01C0A7936F31}"/>
                </a:ext>
              </a:extLst>
            </p:cNvPr>
            <p:cNvGrpSpPr>
              <a:grpSpLocks/>
            </p:cNvGrpSpPr>
            <p:nvPr/>
          </p:nvGrpSpPr>
          <p:grpSpPr bwMode="auto">
            <a:xfrm flipV="1">
              <a:off x="6751612" y="4725144"/>
              <a:ext cx="1925533" cy="368424"/>
              <a:chOff x="558924" y="4653136"/>
              <a:chExt cx="864096" cy="368424"/>
            </a:xfrm>
          </p:grpSpPr>
          <p:cxnSp>
            <p:nvCxnSpPr>
              <p:cNvPr id="22555" name="Straight Connector 33">
                <a:extLst>
                  <a:ext uri="{FF2B5EF4-FFF2-40B4-BE49-F238E27FC236}">
                    <a16:creationId xmlns:a16="http://schemas.microsoft.com/office/drawing/2014/main" id="{C373318E-6C2F-044E-80A4-3EF5E43EF2D9}"/>
                  </a:ext>
                </a:extLst>
              </p:cNvPr>
              <p:cNvCxnSpPr>
                <a:cxnSpLocks noChangeShapeType="1"/>
              </p:cNvCxnSpPr>
              <p:nvPr/>
            </p:nvCxnSpPr>
            <p:spPr bwMode="auto">
              <a:xfrm>
                <a:off x="558924" y="501317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56" name="Straight Connector 34">
                <a:extLst>
                  <a:ext uri="{FF2B5EF4-FFF2-40B4-BE49-F238E27FC236}">
                    <a16:creationId xmlns:a16="http://schemas.microsoft.com/office/drawing/2014/main" id="{667EF9A1-C5C1-9F40-86BC-7A2DE1AD4F5F}"/>
                  </a:ext>
                </a:extLst>
              </p:cNvPr>
              <p:cNvCxnSpPr>
                <a:cxnSpLocks noChangeShapeType="1"/>
              </p:cNvCxnSpPr>
              <p:nvPr/>
            </p:nvCxnSpPr>
            <p:spPr bwMode="auto">
              <a:xfrm flipH="1" flipV="1">
                <a:off x="990972" y="46531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57" name="Straight Connector 35">
                <a:extLst>
                  <a:ext uri="{FF2B5EF4-FFF2-40B4-BE49-F238E27FC236}">
                    <a16:creationId xmlns:a16="http://schemas.microsoft.com/office/drawing/2014/main" id="{409297DA-80BA-F643-BB85-1DD3627718F7}"/>
                  </a:ext>
                </a:extLst>
              </p:cNvPr>
              <p:cNvCxnSpPr>
                <a:cxnSpLocks noChangeShapeType="1"/>
              </p:cNvCxnSpPr>
              <p:nvPr/>
            </p:nvCxnSpPr>
            <p:spPr bwMode="auto">
              <a:xfrm>
                <a:off x="990972" y="4653136"/>
                <a:ext cx="43204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grpSp>
        <p:cxnSp>
          <p:nvCxnSpPr>
            <p:cNvPr id="22547" name="Straight Connector 25">
              <a:extLst>
                <a:ext uri="{FF2B5EF4-FFF2-40B4-BE49-F238E27FC236}">
                  <a16:creationId xmlns:a16="http://schemas.microsoft.com/office/drawing/2014/main" id="{9353FBAA-2B37-3C4E-879E-05A56ED09ACD}"/>
                </a:ext>
              </a:extLst>
            </p:cNvPr>
            <p:cNvCxnSpPr>
              <a:cxnSpLocks noChangeShapeType="1"/>
            </p:cNvCxnSpPr>
            <p:nvPr/>
          </p:nvCxnSpPr>
          <p:spPr bwMode="auto">
            <a:xfrm>
              <a:off x="5311452" y="4725144"/>
              <a:ext cx="144016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48" name="Straight Connector 26">
              <a:extLst>
                <a:ext uri="{FF2B5EF4-FFF2-40B4-BE49-F238E27FC236}">
                  <a16:creationId xmlns:a16="http://schemas.microsoft.com/office/drawing/2014/main" id="{A8A2B6FB-FB36-144E-8314-73C16E9825E4}"/>
                </a:ext>
              </a:extLst>
            </p:cNvPr>
            <p:cNvCxnSpPr>
              <a:cxnSpLocks noChangeShapeType="1"/>
            </p:cNvCxnSpPr>
            <p:nvPr/>
          </p:nvCxnSpPr>
          <p:spPr bwMode="auto">
            <a:xfrm flipV="1">
              <a:off x="5311452" y="5733976"/>
              <a:ext cx="1296144" cy="143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49" name="Straight Connector 27">
              <a:extLst>
                <a:ext uri="{FF2B5EF4-FFF2-40B4-BE49-F238E27FC236}">
                  <a16:creationId xmlns:a16="http://schemas.microsoft.com/office/drawing/2014/main" id="{E0D8576A-6719-CA4E-86CC-AF9F314BA28F}"/>
                </a:ext>
              </a:extLst>
            </p:cNvPr>
            <p:cNvCxnSpPr>
              <a:cxnSpLocks noChangeShapeType="1"/>
            </p:cNvCxnSpPr>
            <p:nvPr/>
          </p:nvCxnSpPr>
          <p:spPr bwMode="auto">
            <a:xfrm flipH="1" flipV="1">
              <a:off x="6607596" y="5373936"/>
              <a:ext cx="8384" cy="3684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50" name="Straight Connector 28">
              <a:extLst>
                <a:ext uri="{FF2B5EF4-FFF2-40B4-BE49-F238E27FC236}">
                  <a16:creationId xmlns:a16="http://schemas.microsoft.com/office/drawing/2014/main" id="{C767EDD4-C708-1944-B751-05ECC956A97C}"/>
                </a:ext>
              </a:extLst>
            </p:cNvPr>
            <p:cNvCxnSpPr>
              <a:cxnSpLocks noChangeShapeType="1"/>
            </p:cNvCxnSpPr>
            <p:nvPr/>
          </p:nvCxnSpPr>
          <p:spPr bwMode="auto">
            <a:xfrm flipV="1">
              <a:off x="6607596" y="5373216"/>
              <a:ext cx="1152128" cy="72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51" name="Straight Connector 29">
              <a:extLst>
                <a:ext uri="{FF2B5EF4-FFF2-40B4-BE49-F238E27FC236}">
                  <a16:creationId xmlns:a16="http://schemas.microsoft.com/office/drawing/2014/main" id="{FED6F1F0-8BED-6E46-9B6F-1EBC12D31D54}"/>
                </a:ext>
              </a:extLst>
            </p:cNvPr>
            <p:cNvCxnSpPr>
              <a:cxnSpLocks noChangeShapeType="1"/>
            </p:cNvCxnSpPr>
            <p:nvPr/>
          </p:nvCxnSpPr>
          <p:spPr bwMode="auto">
            <a:xfrm flipV="1">
              <a:off x="7759724" y="5388260"/>
              <a:ext cx="0" cy="36004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22552" name="Straight Connector 30">
              <a:extLst>
                <a:ext uri="{FF2B5EF4-FFF2-40B4-BE49-F238E27FC236}">
                  <a16:creationId xmlns:a16="http://schemas.microsoft.com/office/drawing/2014/main" id="{E56475A3-82D3-A147-B520-21BE40543D12}"/>
                </a:ext>
              </a:extLst>
            </p:cNvPr>
            <p:cNvCxnSpPr>
              <a:cxnSpLocks noChangeShapeType="1"/>
            </p:cNvCxnSpPr>
            <p:nvPr/>
          </p:nvCxnSpPr>
          <p:spPr bwMode="auto">
            <a:xfrm flipV="1">
              <a:off x="7759724" y="5733256"/>
              <a:ext cx="936104" cy="150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22553" name="TextBox 31">
              <a:extLst>
                <a:ext uri="{FF2B5EF4-FFF2-40B4-BE49-F238E27FC236}">
                  <a16:creationId xmlns:a16="http://schemas.microsoft.com/office/drawing/2014/main" id="{3AC5C2BD-549A-314A-ADA0-82DA7B6C3326}"/>
                </a:ext>
              </a:extLst>
            </p:cNvPr>
            <p:cNvSpPr txBox="1">
              <a:spLocks noChangeArrowheads="1"/>
            </p:cNvSpPr>
            <p:nvPr/>
          </p:nvSpPr>
          <p:spPr bwMode="auto">
            <a:xfrm>
              <a:off x="4879404" y="4812196"/>
              <a:ext cx="7920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clearb</a:t>
              </a:r>
            </a:p>
          </p:txBody>
        </p:sp>
        <p:sp>
          <p:nvSpPr>
            <p:cNvPr id="22554" name="TextBox 32">
              <a:extLst>
                <a:ext uri="{FF2B5EF4-FFF2-40B4-BE49-F238E27FC236}">
                  <a16:creationId xmlns:a16="http://schemas.microsoft.com/office/drawing/2014/main" id="{8327A122-AC25-D049-860B-36BE5B935426}"/>
                </a:ext>
              </a:extLst>
            </p:cNvPr>
            <p:cNvSpPr txBox="1">
              <a:spLocks noChangeArrowheads="1"/>
            </p:cNvSpPr>
            <p:nvPr/>
          </p:nvSpPr>
          <p:spPr bwMode="auto">
            <a:xfrm>
              <a:off x="5095428" y="5401298"/>
              <a:ext cx="3600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r>
                <a:rPr lang="en-US" altLang="en-US" sz="1600"/>
                <a:t>q</a:t>
              </a:r>
            </a:p>
          </p:txBody>
        </p:sp>
      </p:grpSp>
      <p:sp>
        <p:nvSpPr>
          <p:cNvPr id="22537" name="Rectangle 2">
            <a:extLst>
              <a:ext uri="{FF2B5EF4-FFF2-40B4-BE49-F238E27FC236}">
                <a16:creationId xmlns:a16="http://schemas.microsoft.com/office/drawing/2014/main" id="{CF817F92-F8BD-5643-82EA-31ECBF80E289}"/>
              </a:ext>
            </a:extLst>
          </p:cNvPr>
          <p:cNvSpPr>
            <a:spLocks noGrp="1" noChangeArrowheads="1"/>
          </p:cNvSpPr>
          <p:nvPr>
            <p:ph type="title"/>
          </p:nvPr>
        </p:nvSpPr>
        <p:spPr>
          <a:xfrm>
            <a:off x="488951" y="161925"/>
            <a:ext cx="8928100" cy="603250"/>
          </a:xfrm>
        </p:spPr>
        <p:txBody>
          <a:bodyPr/>
          <a:lstStyle/>
          <a:p>
            <a:r>
              <a:rPr lang="en-GB" altLang="en-US">
                <a:ea typeface="ＭＳ Ｐゴシック" panose="020B0600070205080204" pitchFamily="34" charset="-128"/>
              </a:rPr>
              <a:t>Asynchronous clear in D-flipflop</a:t>
            </a:r>
          </a:p>
        </p:txBody>
      </p:sp>
      <p:pic>
        <p:nvPicPr>
          <p:cNvPr id="22538" name="Picture 1">
            <a:extLst>
              <a:ext uri="{FF2B5EF4-FFF2-40B4-BE49-F238E27FC236}">
                <a16:creationId xmlns:a16="http://schemas.microsoft.com/office/drawing/2014/main" id="{B4127947-7936-F64C-B750-D56190965B8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502" y="2565400"/>
            <a:ext cx="5394325"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5650380"/>
      </p:ext>
    </p:extLst>
  </p:cSld>
  <p:clrMapOvr>
    <a:masterClrMapping/>
  </p:clrMapOvr>
  <p:transition>
    <p:checke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7" name="Rectangle 3">
            <a:extLst>
              <a:ext uri="{FF2B5EF4-FFF2-40B4-BE49-F238E27FC236}">
                <a16:creationId xmlns:a16="http://schemas.microsoft.com/office/drawing/2014/main" id="{EE68D476-A016-8949-9D9F-8D71FC15680C}"/>
              </a:ext>
            </a:extLst>
          </p:cNvPr>
          <p:cNvSpPr txBox="1">
            <a:spLocks noChangeArrowheads="1"/>
          </p:cNvSpPr>
          <p:nvPr/>
        </p:nvSpPr>
        <p:spPr bwMode="auto">
          <a:xfrm>
            <a:off x="200025" y="973139"/>
            <a:ext cx="95059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dirty="0"/>
              <a:t>Verilog has two different types of assignments: </a:t>
            </a:r>
            <a:r>
              <a:rPr lang="en-GB" altLang="en-US" sz="1800" b="1" dirty="0">
                <a:solidFill>
                  <a:srgbClr val="FB0737"/>
                </a:solidFill>
              </a:rPr>
              <a:t>blocking</a:t>
            </a:r>
            <a:r>
              <a:rPr lang="en-GB" altLang="en-US" sz="1800" dirty="0">
                <a:solidFill>
                  <a:srgbClr val="FB0737"/>
                </a:solidFill>
              </a:rPr>
              <a:t> </a:t>
            </a:r>
            <a:r>
              <a:rPr lang="en-GB" altLang="en-US" sz="1800" dirty="0"/>
              <a:t>&amp; </a:t>
            </a:r>
            <a:r>
              <a:rPr lang="en-GB" altLang="en-US" sz="1800" b="1" dirty="0">
                <a:solidFill>
                  <a:srgbClr val="FB0737"/>
                </a:solidFill>
              </a:rPr>
              <a:t>nonblocking</a:t>
            </a:r>
            <a:r>
              <a:rPr lang="en-GB" altLang="en-US" sz="1800" dirty="0"/>
              <a:t>.</a:t>
            </a:r>
          </a:p>
          <a:p>
            <a:pPr>
              <a:spcBef>
                <a:spcPts val="600"/>
              </a:spcBef>
            </a:pPr>
            <a:r>
              <a:rPr lang="en-GB" altLang="en-US" sz="1800" dirty="0"/>
              <a:t>Blocking assignments </a:t>
            </a:r>
            <a:r>
              <a:rPr lang="en-GB" altLang="en-US" sz="1800" b="1" dirty="0">
                <a:solidFill>
                  <a:srgbClr val="0000FF"/>
                </a:solidFill>
              </a:rPr>
              <a:t>=</a:t>
            </a:r>
            <a:r>
              <a:rPr lang="en-GB" altLang="en-US" sz="1800" dirty="0">
                <a:solidFill>
                  <a:srgbClr val="0000FF"/>
                </a:solidFill>
              </a:rPr>
              <a:t> </a:t>
            </a:r>
            <a:r>
              <a:rPr lang="en-GB" altLang="en-US" sz="1800" dirty="0"/>
              <a:t>are executed in the order they appear, therefore they are done one after another.  Therefore the first statement “blocks” the second until it is done, hence it is called blocking assignments.</a:t>
            </a:r>
          </a:p>
        </p:txBody>
      </p:sp>
      <p:sp>
        <p:nvSpPr>
          <p:cNvPr id="24578" name="Rectangle 2">
            <a:extLst>
              <a:ext uri="{FF2B5EF4-FFF2-40B4-BE49-F238E27FC236}">
                <a16:creationId xmlns:a16="http://schemas.microsoft.com/office/drawing/2014/main" id="{D007F5D3-7321-3644-8809-813AC7295882}"/>
              </a:ext>
            </a:extLst>
          </p:cNvPr>
          <p:cNvSpPr>
            <a:spLocks noGrp="1" noChangeArrowheads="1"/>
          </p:cNvSpPr>
          <p:nvPr>
            <p:ph type="title"/>
          </p:nvPr>
        </p:nvSpPr>
        <p:spPr>
          <a:xfrm>
            <a:off x="488951" y="161925"/>
            <a:ext cx="8928100" cy="603250"/>
          </a:xfrm>
        </p:spPr>
        <p:txBody>
          <a:bodyPr/>
          <a:lstStyle/>
          <a:p>
            <a:r>
              <a:rPr lang="en-GB" altLang="en-US">
                <a:ea typeface="ＭＳ Ｐゴシック" panose="020B0600070205080204" pitchFamily="34" charset="-128"/>
              </a:rPr>
              <a:t>Blocking vs Non-blocking Assignments</a:t>
            </a:r>
          </a:p>
        </p:txBody>
      </p:sp>
      <p:sp>
        <p:nvSpPr>
          <p:cNvPr id="24579" name="Rectangle 3">
            <a:extLst>
              <a:ext uri="{FF2B5EF4-FFF2-40B4-BE49-F238E27FC236}">
                <a16:creationId xmlns:a16="http://schemas.microsoft.com/office/drawing/2014/main" id="{DE2127DB-EFE9-9849-9B62-6EB88429DF31}"/>
              </a:ext>
            </a:extLst>
          </p:cNvPr>
          <p:cNvSpPr txBox="1">
            <a:spLocks noChangeArrowheads="1"/>
          </p:cNvSpPr>
          <p:nvPr/>
        </p:nvSpPr>
        <p:spPr bwMode="auto">
          <a:xfrm>
            <a:off x="273052" y="2492375"/>
            <a:ext cx="2592387" cy="129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buNone/>
            </a:pPr>
            <a:r>
              <a:rPr lang="en-GB" altLang="en-US" sz="1800">
                <a:latin typeface="Courier" pitchFamily="2" charset="0"/>
              </a:rPr>
              <a:t>a = b;</a:t>
            </a:r>
          </a:p>
          <a:p>
            <a:pPr>
              <a:spcBef>
                <a:spcPts val="600"/>
              </a:spcBef>
              <a:buNone/>
            </a:pPr>
            <a:r>
              <a:rPr lang="en-GB" altLang="en-US" sz="1800">
                <a:latin typeface="Courier" pitchFamily="2" charset="0"/>
              </a:rPr>
              <a:t>b = a;</a:t>
            </a:r>
          </a:p>
          <a:p>
            <a:pPr>
              <a:spcBef>
                <a:spcPts val="600"/>
              </a:spcBef>
              <a:buNone/>
            </a:pPr>
            <a:r>
              <a:rPr lang="en-GB" altLang="en-US" sz="1800">
                <a:latin typeface="Courier" pitchFamily="2" charset="0"/>
              </a:rPr>
              <a:t>// both a &amp; b = b</a:t>
            </a:r>
          </a:p>
        </p:txBody>
      </p:sp>
      <p:pic>
        <p:nvPicPr>
          <p:cNvPr id="24581" name="Picture 1">
            <a:extLst>
              <a:ext uri="{FF2B5EF4-FFF2-40B4-BE49-F238E27FC236}">
                <a16:creationId xmlns:a16="http://schemas.microsoft.com/office/drawing/2014/main" id="{FA4C07A8-1004-0044-B77F-9C309E2998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81338" y="2349501"/>
            <a:ext cx="669448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TextBox 1">
            <a:extLst>
              <a:ext uri="{FF2B5EF4-FFF2-40B4-BE49-F238E27FC236}">
                <a16:creationId xmlns:a16="http://schemas.microsoft.com/office/drawing/2014/main" id="{FFA8B9DC-9D2A-2741-B7C0-7557A42FE4AC}"/>
              </a:ext>
            </a:extLst>
          </p:cNvPr>
          <p:cNvSpPr txBox="1">
            <a:spLocks noChangeArrowheads="1"/>
          </p:cNvSpPr>
          <p:nvPr/>
        </p:nvSpPr>
        <p:spPr bwMode="auto">
          <a:xfrm>
            <a:off x="6753227" y="2420939"/>
            <a:ext cx="1031875" cy="3698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chemeClr val="bg1"/>
                </a:solidFill>
              </a:rPr>
              <a:t>blocking</a:t>
            </a:r>
          </a:p>
        </p:txBody>
      </p:sp>
      <p:sp>
        <p:nvSpPr>
          <p:cNvPr id="24584" name="TextBox 8">
            <a:extLst>
              <a:ext uri="{FF2B5EF4-FFF2-40B4-BE49-F238E27FC236}">
                <a16:creationId xmlns:a16="http://schemas.microsoft.com/office/drawing/2014/main" id="{47D5D1C2-1593-8A4B-99CB-70740C263434}"/>
              </a:ext>
            </a:extLst>
          </p:cNvPr>
          <p:cNvSpPr txBox="1">
            <a:spLocks noChangeArrowheads="1"/>
          </p:cNvSpPr>
          <p:nvPr/>
        </p:nvSpPr>
        <p:spPr bwMode="auto">
          <a:xfrm>
            <a:off x="1568452" y="2565400"/>
            <a:ext cx="1031875" cy="3683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800">
                <a:solidFill>
                  <a:schemeClr val="bg1"/>
                </a:solidFill>
              </a:rPr>
              <a:t>blocking</a:t>
            </a:r>
          </a:p>
        </p:txBody>
      </p:sp>
      <p:grpSp>
        <p:nvGrpSpPr>
          <p:cNvPr id="2" name="Group 1">
            <a:extLst>
              <a:ext uri="{FF2B5EF4-FFF2-40B4-BE49-F238E27FC236}">
                <a16:creationId xmlns:a16="http://schemas.microsoft.com/office/drawing/2014/main" id="{5F3B6E49-0A3B-124F-9340-56F1D2592321}"/>
              </a:ext>
            </a:extLst>
          </p:cNvPr>
          <p:cNvGrpSpPr/>
          <p:nvPr/>
        </p:nvGrpSpPr>
        <p:grpSpPr>
          <a:xfrm>
            <a:off x="158250" y="4013199"/>
            <a:ext cx="9619164" cy="2368552"/>
            <a:chOff x="158250" y="4013199"/>
            <a:chExt cx="9619164" cy="2368552"/>
          </a:xfrm>
        </p:grpSpPr>
        <p:sp>
          <p:nvSpPr>
            <p:cNvPr id="24580" name="Rectangle 3">
              <a:extLst>
                <a:ext uri="{FF2B5EF4-FFF2-40B4-BE49-F238E27FC236}">
                  <a16:creationId xmlns:a16="http://schemas.microsoft.com/office/drawing/2014/main" id="{E7130FBC-C77D-6E4A-B153-6F7F49BE3410}"/>
                </a:ext>
              </a:extLst>
            </p:cNvPr>
            <p:cNvSpPr txBox="1">
              <a:spLocks noChangeArrowheads="1"/>
            </p:cNvSpPr>
            <p:nvPr/>
          </p:nvSpPr>
          <p:spPr bwMode="auto">
            <a:xfrm>
              <a:off x="273052" y="4822825"/>
              <a:ext cx="2592387" cy="12954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92075" tIns="46038" rIns="92075" bIns="46038"/>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buNone/>
              </a:pPr>
              <a:r>
                <a:rPr lang="en-GB" altLang="en-US" sz="1800">
                  <a:latin typeface="Courier" pitchFamily="2" charset="0"/>
                </a:rPr>
                <a:t>a &lt;= b;</a:t>
              </a:r>
            </a:p>
            <a:p>
              <a:pPr>
                <a:spcBef>
                  <a:spcPts val="600"/>
                </a:spcBef>
                <a:buNone/>
              </a:pPr>
              <a:r>
                <a:rPr lang="en-GB" altLang="en-US" sz="1800">
                  <a:latin typeface="Courier" pitchFamily="2" charset="0"/>
                </a:rPr>
                <a:t>b &lt;= a;</a:t>
              </a:r>
            </a:p>
            <a:p>
              <a:pPr>
                <a:spcBef>
                  <a:spcPts val="600"/>
                </a:spcBef>
                <a:buNone/>
              </a:pPr>
              <a:r>
                <a:rPr lang="en-GB" altLang="en-US" sz="1800">
                  <a:latin typeface="Courier" pitchFamily="2" charset="0"/>
                </a:rPr>
                <a:t>// swap a and b</a:t>
              </a:r>
            </a:p>
          </p:txBody>
        </p:sp>
        <p:pic>
          <p:nvPicPr>
            <p:cNvPr id="24582" name="Picture 2">
              <a:extLst>
                <a:ext uri="{FF2B5EF4-FFF2-40B4-BE49-F238E27FC236}">
                  <a16:creationId xmlns:a16="http://schemas.microsoft.com/office/drawing/2014/main" id="{F1AEF011-FBEF-C442-A538-A92EBA26D25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36877" y="4733926"/>
              <a:ext cx="6840537"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5" name="TextBox 9">
              <a:extLst>
                <a:ext uri="{FF2B5EF4-FFF2-40B4-BE49-F238E27FC236}">
                  <a16:creationId xmlns:a16="http://schemas.microsoft.com/office/drawing/2014/main" id="{7B292577-002D-DA46-9163-0AA0D3A16356}"/>
                </a:ext>
              </a:extLst>
            </p:cNvPr>
            <p:cNvSpPr txBox="1">
              <a:spLocks noChangeArrowheads="1"/>
            </p:cNvSpPr>
            <p:nvPr/>
          </p:nvSpPr>
          <p:spPr bwMode="auto">
            <a:xfrm>
              <a:off x="1423989" y="4868864"/>
              <a:ext cx="1382713" cy="33813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600">
                  <a:solidFill>
                    <a:schemeClr val="bg1"/>
                  </a:solidFill>
                </a:rPr>
                <a:t>Non-blocking</a:t>
              </a:r>
            </a:p>
          </p:txBody>
        </p:sp>
        <p:sp>
          <p:nvSpPr>
            <p:cNvPr id="24586" name="TextBox 10">
              <a:extLst>
                <a:ext uri="{FF2B5EF4-FFF2-40B4-BE49-F238E27FC236}">
                  <a16:creationId xmlns:a16="http://schemas.microsoft.com/office/drawing/2014/main" id="{87A718C9-58F4-FE47-879F-5DDB18F5C9CD}"/>
                </a:ext>
              </a:extLst>
            </p:cNvPr>
            <p:cNvSpPr txBox="1">
              <a:spLocks noChangeArrowheads="1"/>
            </p:cNvSpPr>
            <p:nvPr/>
          </p:nvSpPr>
          <p:spPr bwMode="auto">
            <a:xfrm>
              <a:off x="6824664" y="4797425"/>
              <a:ext cx="1382713" cy="33813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sz="1600">
                  <a:solidFill>
                    <a:schemeClr val="bg1"/>
                  </a:solidFill>
                </a:rPr>
                <a:t>Non-blocking</a:t>
              </a:r>
            </a:p>
          </p:txBody>
        </p:sp>
        <p:sp>
          <p:nvSpPr>
            <p:cNvPr id="12" name="Rectangle 3">
              <a:extLst>
                <a:ext uri="{FF2B5EF4-FFF2-40B4-BE49-F238E27FC236}">
                  <a16:creationId xmlns:a16="http://schemas.microsoft.com/office/drawing/2014/main" id="{659A760E-095A-8B47-A40F-624224F19C30}"/>
                </a:ext>
              </a:extLst>
            </p:cNvPr>
            <p:cNvSpPr txBox="1">
              <a:spLocks noChangeArrowheads="1"/>
            </p:cNvSpPr>
            <p:nvPr/>
          </p:nvSpPr>
          <p:spPr bwMode="auto">
            <a:xfrm>
              <a:off x="158250" y="4013199"/>
              <a:ext cx="9505950" cy="720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dirty="0"/>
                <a:t>Non-blocking assignments </a:t>
              </a:r>
              <a:r>
                <a:rPr lang="en-GB" altLang="en-US" sz="1800" b="1" dirty="0">
                  <a:solidFill>
                    <a:srgbClr val="0000FF"/>
                  </a:solidFill>
                </a:rPr>
                <a:t>&lt;=</a:t>
              </a:r>
              <a:r>
                <a:rPr lang="en-GB" altLang="en-US" sz="1800" dirty="0"/>
                <a:t> are executed in parallel.  Therefore an earlier statement does not block the later statement.  Note the subtle effect this has within </a:t>
              </a:r>
              <a:r>
                <a:rPr lang="en-GB" altLang="en-US" sz="1800" b="1" dirty="0">
                  <a:solidFill>
                    <a:srgbClr val="0000FF"/>
                  </a:solidFill>
                </a:rPr>
                <a:t>always</a:t>
              </a:r>
              <a:r>
                <a:rPr lang="en-GB" altLang="en-US" sz="1800" dirty="0">
                  <a:solidFill>
                    <a:srgbClr val="0000FF"/>
                  </a:solidFill>
                </a:rPr>
                <a:t> </a:t>
              </a:r>
              <a:r>
                <a:rPr lang="en-GB" altLang="en-US" sz="1800" dirty="0"/>
                <a:t>block:</a:t>
              </a:r>
            </a:p>
          </p:txBody>
        </p:sp>
      </p:grpSp>
    </p:spTree>
    <p:extLst>
      <p:ext uri="{BB962C8B-B14F-4D97-AF65-F5344CB8AC3E}">
        <p14:creationId xmlns:p14="http://schemas.microsoft.com/office/powerpoint/2010/main" val="4106864430"/>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5" name="Rectangle 3">
            <a:extLst>
              <a:ext uri="{FF2B5EF4-FFF2-40B4-BE49-F238E27FC236}">
                <a16:creationId xmlns:a16="http://schemas.microsoft.com/office/drawing/2014/main" id="{E5471D1E-2019-7942-A057-A7703A1A0117}"/>
              </a:ext>
            </a:extLst>
          </p:cNvPr>
          <p:cNvSpPr txBox="1">
            <a:spLocks noChangeArrowheads="1"/>
          </p:cNvSpPr>
          <p:nvPr/>
        </p:nvSpPr>
        <p:spPr bwMode="auto">
          <a:xfrm>
            <a:off x="200027" y="1268414"/>
            <a:ext cx="45370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Here are two versions of a 3-stage shift register consisting of 3 flipflops using blocking and nonblocking assignments.</a:t>
            </a:r>
          </a:p>
          <a:p>
            <a:pPr>
              <a:spcBef>
                <a:spcPts val="600"/>
              </a:spcBef>
            </a:pPr>
            <a:r>
              <a:rPr lang="en-GB" altLang="en-US" sz="1800"/>
              <a:t>Will they give the same results? </a:t>
            </a:r>
          </a:p>
        </p:txBody>
      </p:sp>
      <p:sp>
        <p:nvSpPr>
          <p:cNvPr id="26626" name="Rectangle 2">
            <a:extLst>
              <a:ext uri="{FF2B5EF4-FFF2-40B4-BE49-F238E27FC236}">
                <a16:creationId xmlns:a16="http://schemas.microsoft.com/office/drawing/2014/main" id="{4C9F8039-DF0A-D04F-8C91-70E87ABACCDF}"/>
              </a:ext>
            </a:extLst>
          </p:cNvPr>
          <p:cNvSpPr>
            <a:spLocks noGrp="1" noChangeArrowheads="1"/>
          </p:cNvSpPr>
          <p:nvPr>
            <p:ph type="title"/>
          </p:nvPr>
        </p:nvSpPr>
        <p:spPr>
          <a:xfrm>
            <a:off x="488951" y="161925"/>
            <a:ext cx="8928100" cy="603250"/>
          </a:xfrm>
        </p:spPr>
        <p:txBody>
          <a:bodyPr/>
          <a:lstStyle/>
          <a:p>
            <a:r>
              <a:rPr lang="en-GB" altLang="en-US">
                <a:ea typeface="ＭＳ Ｐゴシック" panose="020B0600070205080204" pitchFamily="34" charset="-128"/>
              </a:rPr>
              <a:t>Be careful to use the correct assignment</a:t>
            </a:r>
          </a:p>
        </p:txBody>
      </p:sp>
      <p:pic>
        <p:nvPicPr>
          <p:cNvPr id="26627" name="Picture 1">
            <a:extLst>
              <a:ext uri="{FF2B5EF4-FFF2-40B4-BE49-F238E27FC236}">
                <a16:creationId xmlns:a16="http://schemas.microsoft.com/office/drawing/2014/main" id="{AFECB5E4-BE95-C14C-8CAD-3C70BA003D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5927" y="2781300"/>
            <a:ext cx="421798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2">
            <a:extLst>
              <a:ext uri="{FF2B5EF4-FFF2-40B4-BE49-F238E27FC236}">
                <a16:creationId xmlns:a16="http://schemas.microsoft.com/office/drawing/2014/main" id="{6F2839CB-8015-1847-9A68-F6E54F3A3F3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903789" y="1125538"/>
            <a:ext cx="4657725"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629899"/>
      </p:ext>
    </p:extLst>
  </p:cSld>
  <p:clrMapOvr>
    <a:masterClrMapping/>
  </p:clrMapOvr>
  <p:transition>
    <p:checke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 name="Rectangle 3">
            <a:extLst>
              <a:ext uri="{FF2B5EF4-FFF2-40B4-BE49-F238E27FC236}">
                <a16:creationId xmlns:a16="http://schemas.microsoft.com/office/drawing/2014/main" id="{B94EEDD8-488F-E846-8841-61240155C456}"/>
              </a:ext>
            </a:extLst>
          </p:cNvPr>
          <p:cNvSpPr txBox="1">
            <a:spLocks noChangeArrowheads="1"/>
          </p:cNvSpPr>
          <p:nvPr/>
        </p:nvSpPr>
        <p:spPr bwMode="auto">
          <a:xfrm>
            <a:off x="5168902" y="3284538"/>
            <a:ext cx="4537075" cy="1008062"/>
          </a:xfrm>
          <a:prstGeom prst="rect">
            <a:avLst/>
          </a:prstGeom>
          <a:solidFill>
            <a:schemeClr val="accent2">
              <a:lumMod val="40000"/>
              <a:lumOff val="60000"/>
              <a:alpha val="34000"/>
            </a:schemeClr>
          </a:solidFill>
          <a:ln w="9525">
            <a:solidFill>
              <a:srgbClr val="000000"/>
            </a:solidFill>
            <a:miter lim="800000"/>
            <a:headEnd/>
            <a:tailEnd/>
          </a:ln>
          <a:extLst>
            <a:ext uri="{FAA26D3D-D897-4be2-8F04-BA451C77F1D7}">
              <ma14:placeholderFlag xmlns="" xmlns:ma14="http://schemas.microsoft.com/office/mac/drawingml/2011/main" val="1"/>
            </a:ext>
          </a:extLst>
        </p:spPr>
        <p:txBody>
          <a:bodyPr lIns="92075" tIns="46038" rIns="92075" bIns="46038"/>
          <a:lstStyle>
            <a:defPPr>
              <a:defRPr lang="en-US"/>
            </a:defPPr>
            <a:lvl1pPr marL="342900" indent="-342900">
              <a:spcBef>
                <a:spcPts val="0"/>
              </a:spcBef>
              <a:spcAft>
                <a:spcPts val="0"/>
              </a:spcAft>
              <a:buClr>
                <a:srgbClr val="842C00"/>
              </a:buClr>
              <a:buSzPct val="75000"/>
              <a:buFont typeface="Monotype Sorts" charset="0"/>
              <a:buChar char="u"/>
              <a:defRPr sz="1800">
                <a:latin typeface="+mn-lt"/>
              </a:defRPr>
            </a:lvl1pPr>
            <a:lvl2pPr marL="400050" lvl="1" indent="0">
              <a:spcBef>
                <a:spcPts val="0"/>
              </a:spcBef>
              <a:spcAft>
                <a:spcPts val="0"/>
              </a:spcAft>
              <a:buClr>
                <a:srgbClr val="842C00"/>
              </a:buClr>
              <a:buSzPct val="100000"/>
              <a:buFont typeface="Symbol" charset="0"/>
              <a:buNone/>
              <a:defRPr sz="1800" i="1">
                <a:latin typeface="+mn-lt"/>
                <a:ea typeface="ＭＳ Ｐゴシック" charset="-128"/>
              </a:defRPr>
            </a:lvl2pPr>
            <a:lvl3pPr marL="1143000" indent="-228600">
              <a:spcBef>
                <a:spcPct val="20000"/>
              </a:spcBef>
              <a:buClr>
                <a:srgbClr val="842C00"/>
              </a:buClr>
              <a:buSzPct val="100000"/>
              <a:buFont typeface="Monotype Sorts" charset="0"/>
              <a:buChar char="ä"/>
              <a:defRPr sz="1600">
                <a:latin typeface="+mn-lt"/>
                <a:ea typeface="ＭＳ Ｐゴシック" charset="-128"/>
              </a:defRPr>
            </a:lvl3pPr>
            <a:lvl4pPr marL="1600200" indent="-228600">
              <a:spcBef>
                <a:spcPct val="20000"/>
              </a:spcBef>
              <a:buClr>
                <a:schemeClr val="accent2"/>
              </a:buClr>
              <a:buSzPct val="65000"/>
              <a:buFont typeface="Monotype Sorts" charset="0"/>
              <a:buChar char="u"/>
              <a:defRPr sz="1400">
                <a:latin typeface="+mn-lt"/>
                <a:ea typeface="ＭＳ Ｐゴシック" charset="-128"/>
              </a:defRPr>
            </a:lvl4pPr>
            <a:lvl5pPr marL="2057400" indent="-228600">
              <a:spcBef>
                <a:spcPct val="20000"/>
              </a:spcBef>
              <a:buClr>
                <a:schemeClr val="accent2"/>
              </a:buClr>
              <a:buSzPct val="100000"/>
              <a:buChar char="–"/>
              <a:defRPr sz="1400">
                <a:latin typeface="+mn-lt"/>
                <a:ea typeface="ＭＳ Ｐゴシック" charset="-128"/>
              </a:defRPr>
            </a:lvl5pPr>
            <a:lvl6pPr marL="2514600" indent="-228600" eaLnBrk="0" fontAlgn="base" hangingPunct="0">
              <a:spcBef>
                <a:spcPct val="20000"/>
              </a:spcBef>
              <a:spcAft>
                <a:spcPct val="0"/>
              </a:spcAft>
              <a:buClr>
                <a:schemeClr val="accent2"/>
              </a:buClr>
              <a:buSzPct val="100000"/>
              <a:buChar char="–"/>
              <a:defRPr sz="1400">
                <a:latin typeface="+mn-lt"/>
                <a:ea typeface="ＭＳ Ｐゴシック" charset="-128"/>
              </a:defRPr>
            </a:lvl6pPr>
            <a:lvl7pPr marL="2971800" indent="-228600" eaLnBrk="0" fontAlgn="base" hangingPunct="0">
              <a:spcBef>
                <a:spcPct val="20000"/>
              </a:spcBef>
              <a:spcAft>
                <a:spcPct val="0"/>
              </a:spcAft>
              <a:buClr>
                <a:schemeClr val="accent2"/>
              </a:buClr>
              <a:buSzPct val="100000"/>
              <a:buChar char="–"/>
              <a:defRPr sz="1400">
                <a:latin typeface="+mn-lt"/>
                <a:ea typeface="ＭＳ Ｐゴシック" charset="-128"/>
              </a:defRPr>
            </a:lvl7pPr>
            <a:lvl8pPr marL="3429000" indent="-228600" eaLnBrk="0" fontAlgn="base" hangingPunct="0">
              <a:spcBef>
                <a:spcPct val="20000"/>
              </a:spcBef>
              <a:spcAft>
                <a:spcPct val="0"/>
              </a:spcAft>
              <a:buClr>
                <a:schemeClr val="accent2"/>
              </a:buClr>
              <a:buSzPct val="100000"/>
              <a:buChar char="–"/>
              <a:defRPr sz="1400">
                <a:latin typeface="+mn-lt"/>
                <a:ea typeface="ＭＳ Ｐゴシック" charset="-128"/>
              </a:defRPr>
            </a:lvl8pPr>
            <a:lvl9pPr marL="3886200" indent="-228600" eaLnBrk="0" fontAlgn="base" hangingPunct="0">
              <a:spcBef>
                <a:spcPct val="20000"/>
              </a:spcBef>
              <a:spcAft>
                <a:spcPct val="0"/>
              </a:spcAft>
              <a:buClr>
                <a:schemeClr val="accent2"/>
              </a:buClr>
              <a:buSzPct val="100000"/>
              <a:buChar char="–"/>
              <a:defRPr sz="1400">
                <a:latin typeface="+mn-lt"/>
                <a:ea typeface="ＭＳ Ｐゴシック" charset="-128"/>
              </a:defRPr>
            </a:lvl9pPr>
          </a:lstStyle>
          <a:p>
            <a:pPr>
              <a:defRPr/>
            </a:pPr>
            <a:r>
              <a:rPr lang="en-GB" dirty="0">
                <a:ea typeface="ＭＳ Ｐゴシック" charset="0"/>
                <a:cs typeface="ＭＳ Ｐゴシック" charset="0"/>
              </a:rPr>
              <a:t>At each rising clock edge, </a:t>
            </a:r>
            <a:r>
              <a:rPr lang="en-GB" i="1" dirty="0">
                <a:ea typeface="ＭＳ Ｐゴシック" charset="0"/>
                <a:cs typeface="ＭＳ Ｐゴシック" charset="0"/>
              </a:rPr>
              <a:t>q1, q2 </a:t>
            </a:r>
            <a:r>
              <a:rPr lang="en-GB" dirty="0">
                <a:ea typeface="ＭＳ Ｐゴシック" charset="0"/>
                <a:cs typeface="ＭＳ Ｐゴシック" charset="0"/>
              </a:rPr>
              <a:t>and </a:t>
            </a:r>
            <a:r>
              <a:rPr lang="en-GB" i="1" dirty="0">
                <a:ea typeface="ＭＳ Ｐゴシック" charset="0"/>
                <a:cs typeface="ＭＳ Ｐゴシック" charset="0"/>
              </a:rPr>
              <a:t>out</a:t>
            </a:r>
            <a:r>
              <a:rPr lang="en-GB" dirty="0">
                <a:ea typeface="ＭＳ Ｐゴシック" charset="0"/>
                <a:cs typeface="ＭＳ Ｐゴシック" charset="0"/>
              </a:rPr>
              <a:t> simultaneously receive the old values of </a:t>
            </a:r>
            <a:r>
              <a:rPr lang="en-GB" i="1" dirty="0">
                <a:ea typeface="ＭＳ Ｐゴシック" charset="0"/>
                <a:cs typeface="ＭＳ Ｐゴシック" charset="0"/>
              </a:rPr>
              <a:t>in, q1, q2 </a:t>
            </a:r>
            <a:r>
              <a:rPr lang="en-GB" dirty="0">
                <a:ea typeface="ＭＳ Ｐゴシック" charset="0"/>
                <a:cs typeface="ＭＳ Ｐゴシック" charset="0"/>
              </a:rPr>
              <a:t>respectively.</a:t>
            </a:r>
          </a:p>
        </p:txBody>
      </p:sp>
      <p:sp>
        <p:nvSpPr>
          <p:cNvPr id="28674" name="Rectangle 2">
            <a:extLst>
              <a:ext uri="{FF2B5EF4-FFF2-40B4-BE49-F238E27FC236}">
                <a16:creationId xmlns:a16="http://schemas.microsoft.com/office/drawing/2014/main" id="{65FD920E-2008-0F4A-99B8-156C93FC5BBF}"/>
              </a:ext>
            </a:extLst>
          </p:cNvPr>
          <p:cNvSpPr>
            <a:spLocks noGrp="1" noChangeArrowheads="1"/>
          </p:cNvSpPr>
          <p:nvPr>
            <p:ph type="title"/>
          </p:nvPr>
        </p:nvSpPr>
        <p:spPr>
          <a:xfrm>
            <a:off x="488952" y="161925"/>
            <a:ext cx="9217025" cy="603250"/>
          </a:xfrm>
        </p:spPr>
        <p:txBody>
          <a:bodyPr/>
          <a:lstStyle/>
          <a:p>
            <a:r>
              <a:rPr lang="en-GB" altLang="en-US">
                <a:ea typeface="ＭＳ Ｐゴシック" panose="020B0600070205080204" pitchFamily="34" charset="-128"/>
              </a:rPr>
              <a:t>Use NONBLOCKING assignment for sequential logic</a:t>
            </a:r>
          </a:p>
        </p:txBody>
      </p:sp>
      <p:sp>
        <p:nvSpPr>
          <p:cNvPr id="14" name="Rectangle 3">
            <a:extLst>
              <a:ext uri="{FF2B5EF4-FFF2-40B4-BE49-F238E27FC236}">
                <a16:creationId xmlns:a16="http://schemas.microsoft.com/office/drawing/2014/main" id="{134E7DAC-8458-7F48-B24E-17FFD9C10737}"/>
              </a:ext>
            </a:extLst>
          </p:cNvPr>
          <p:cNvSpPr txBox="1">
            <a:spLocks noChangeArrowheads="1"/>
          </p:cNvSpPr>
          <p:nvPr/>
        </p:nvSpPr>
        <p:spPr bwMode="auto">
          <a:xfrm>
            <a:off x="344489" y="2997200"/>
            <a:ext cx="4537075" cy="1944688"/>
          </a:xfrm>
          <a:prstGeom prst="rect">
            <a:avLst/>
          </a:prstGeom>
          <a:solidFill>
            <a:schemeClr val="accent2">
              <a:lumMod val="40000"/>
              <a:lumOff val="60000"/>
              <a:alpha val="34000"/>
            </a:schemeClr>
          </a:solidFill>
          <a:ln w="9525">
            <a:solidFill>
              <a:srgbClr val="000000"/>
            </a:solidFill>
            <a:miter lim="800000"/>
            <a:headEnd/>
            <a:tailEnd/>
          </a:ln>
          <a:extLst>
            <a:ext uri="{FAA26D3D-D897-4be2-8F04-BA451C77F1D7}">
              <ma14:placeholderFlag xmlns="" xmlns:ma14="http://schemas.microsoft.com/office/mac/drawingml/2011/main" val="1"/>
            </a:ext>
          </a:extLst>
        </p:spPr>
        <p:txBody>
          <a:bodyPr lIns="92075" tIns="46038" rIns="92075" bIns="46038"/>
          <a:lstStyle>
            <a:lvl1pPr marL="342900" indent="-342900" algn="l" rtl="0" eaLnBrk="0" fontAlgn="base" hangingPunct="0">
              <a:spcBef>
                <a:spcPct val="20000"/>
              </a:spcBef>
              <a:spcAft>
                <a:spcPct val="0"/>
              </a:spcAft>
              <a:buClr>
                <a:srgbClr val="842C00"/>
              </a:buClr>
              <a:buSzPct val="75000"/>
              <a:buFont typeface="Monotype Sorts" charset="0"/>
              <a:buChar char="u"/>
              <a:defRPr sz="20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lr>
                <a:srgbClr val="842C00"/>
              </a:buClr>
              <a:buSzPct val="100000"/>
              <a:buFont typeface="Symbol" charset="0"/>
              <a:buChar char="·"/>
              <a:defRPr>
                <a:solidFill>
                  <a:schemeClr val="tx1"/>
                </a:solidFill>
                <a:latin typeface="+mn-lt"/>
                <a:ea typeface="ＭＳ Ｐゴシック" charset="-128"/>
              </a:defRPr>
            </a:lvl2pPr>
            <a:lvl3pPr marL="1143000" indent="-228600" algn="l" rtl="0" eaLnBrk="0" fontAlgn="base" hangingPunct="0">
              <a:spcBef>
                <a:spcPct val="20000"/>
              </a:spcBef>
              <a:spcAft>
                <a:spcPct val="0"/>
              </a:spcAft>
              <a:buClr>
                <a:srgbClr val="842C00"/>
              </a:buClr>
              <a:buSzPct val="100000"/>
              <a:buFont typeface="Monotype Sorts" charset="0"/>
              <a:buChar char="ä"/>
              <a:defRPr sz="16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65000"/>
              <a:buFont typeface="Monotype Sorts" charset="0"/>
              <a:buChar char="u"/>
              <a:defRPr sz="14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5pPr>
            <a:lvl6pPr marL="25146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6pPr>
            <a:lvl7pPr marL="29718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7pPr>
            <a:lvl8pPr marL="34290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8pPr>
            <a:lvl9pPr marL="3886200" indent="-228600" algn="l" rtl="0" eaLnBrk="0" fontAlgn="base" hangingPunct="0">
              <a:spcBef>
                <a:spcPct val="20000"/>
              </a:spcBef>
              <a:spcAft>
                <a:spcPct val="0"/>
              </a:spcAft>
              <a:buClr>
                <a:schemeClr val="accent2"/>
              </a:buClr>
              <a:buSzPct val="100000"/>
              <a:buChar char="–"/>
              <a:defRPr sz="1400">
                <a:solidFill>
                  <a:schemeClr val="tx1"/>
                </a:solidFill>
                <a:latin typeface="+mn-lt"/>
                <a:ea typeface="ＭＳ Ｐゴシック" charset="-128"/>
              </a:defRPr>
            </a:lvl9pPr>
          </a:lstStyle>
          <a:p>
            <a:pPr>
              <a:spcBef>
                <a:spcPts val="0"/>
              </a:spcBef>
              <a:spcAft>
                <a:spcPts val="0"/>
              </a:spcAft>
              <a:defRPr/>
            </a:pPr>
            <a:r>
              <a:rPr lang="en-GB" sz="1800" dirty="0"/>
              <a:t>At each rising clock edge:</a:t>
            </a:r>
            <a:r>
              <a:rPr lang="en-GB" sz="3000" dirty="0"/>
              <a:t> </a:t>
            </a:r>
          </a:p>
          <a:p>
            <a:pPr marL="400050" lvl="1" indent="0">
              <a:spcBef>
                <a:spcPts val="0"/>
              </a:spcBef>
              <a:spcAft>
                <a:spcPts val="0"/>
              </a:spcAft>
              <a:buNone/>
              <a:defRPr/>
            </a:pPr>
            <a:r>
              <a:rPr lang="en-GB" sz="1800" i="1" dirty="0">
                <a:cs typeface="ＭＳ Ｐゴシック" charset="0"/>
              </a:rPr>
              <a:t>q1 = in,</a:t>
            </a:r>
          </a:p>
          <a:p>
            <a:pPr marL="400050" lvl="1" indent="0">
              <a:spcBef>
                <a:spcPts val="0"/>
              </a:spcBef>
              <a:spcAft>
                <a:spcPts val="0"/>
              </a:spcAft>
              <a:buNone/>
              <a:defRPr/>
            </a:pPr>
            <a:r>
              <a:rPr lang="en-GB" sz="1800" i="1" dirty="0">
                <a:cs typeface="ＭＳ Ｐゴシック" charset="0"/>
              </a:rPr>
              <a:t>then q2 = q1 = in,</a:t>
            </a:r>
          </a:p>
          <a:p>
            <a:pPr marL="400050" lvl="1" indent="0">
              <a:spcBef>
                <a:spcPts val="0"/>
              </a:spcBef>
              <a:spcAft>
                <a:spcPts val="0"/>
              </a:spcAft>
              <a:buNone/>
              <a:defRPr/>
            </a:pPr>
            <a:r>
              <a:rPr lang="en-GB" sz="1800" i="1" dirty="0">
                <a:cs typeface="ＭＳ Ｐゴシック" charset="0"/>
              </a:rPr>
              <a:t>then,  out = q2 = q1 = in.</a:t>
            </a:r>
          </a:p>
          <a:p>
            <a:pPr>
              <a:spcBef>
                <a:spcPts val="0"/>
              </a:spcBef>
              <a:spcAft>
                <a:spcPts val="0"/>
              </a:spcAft>
              <a:defRPr/>
            </a:pPr>
            <a:r>
              <a:rPr lang="en-GB" sz="1800" dirty="0"/>
              <a:t>Therefore out = in, which is NOT the intention.</a:t>
            </a:r>
          </a:p>
        </p:txBody>
      </p:sp>
      <p:pic>
        <p:nvPicPr>
          <p:cNvPr id="28676" name="Picture 1">
            <a:extLst>
              <a:ext uri="{FF2B5EF4-FFF2-40B4-BE49-F238E27FC236}">
                <a16:creationId xmlns:a16="http://schemas.microsoft.com/office/drawing/2014/main" id="{20523514-E336-3342-9C90-42F5FC13514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0388" y="1052513"/>
            <a:ext cx="4052888"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2">
            <a:extLst>
              <a:ext uri="{FF2B5EF4-FFF2-40B4-BE49-F238E27FC236}">
                <a16:creationId xmlns:a16="http://schemas.microsoft.com/office/drawing/2014/main" id="{4F98190E-0B51-494F-9A16-A64D9A7CFD7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5789" y="5013325"/>
            <a:ext cx="3935413"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3">
            <a:extLst>
              <a:ext uri="{FF2B5EF4-FFF2-40B4-BE49-F238E27FC236}">
                <a16:creationId xmlns:a16="http://schemas.microsoft.com/office/drawing/2014/main" id="{0834D5FA-C460-F74C-94E9-B9D6B4E3A91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70513" y="1052514"/>
            <a:ext cx="41910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4">
            <a:extLst>
              <a:ext uri="{FF2B5EF4-FFF2-40B4-BE49-F238E27FC236}">
                <a16:creationId xmlns:a16="http://schemas.microsoft.com/office/drawing/2014/main" id="{D3D295BF-BF85-5D45-AF5F-4C19E17DCF7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24439" y="4797426"/>
            <a:ext cx="4570413"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1987797"/>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par>
                                <p:cTn id="8" presetID="9" presetClass="entr" presetSubtype="0" fill="hold" nodeType="withEffect">
                                  <p:stCondLst>
                                    <p:cond delay="0"/>
                                  </p:stCondLst>
                                  <p:childTnLst>
                                    <p:set>
                                      <p:cBhvr>
                                        <p:cTn id="9" dur="1" fill="hold">
                                          <p:stCondLst>
                                            <p:cond delay="0"/>
                                          </p:stCondLst>
                                        </p:cTn>
                                        <p:tgtEl>
                                          <p:spTgt spid="28678"/>
                                        </p:tgtEl>
                                        <p:attrNameLst>
                                          <p:attrName>style.visibility</p:attrName>
                                        </p:attrNameLst>
                                      </p:cBhvr>
                                      <p:to>
                                        <p:strVal val="visible"/>
                                      </p:to>
                                    </p:set>
                                    <p:animEffect transition="in" filter="dissolve">
                                      <p:cBhvr>
                                        <p:cTn id="10" dur="500"/>
                                        <p:tgtEl>
                                          <p:spTgt spid="28678"/>
                                        </p:tgtEl>
                                      </p:cBhvr>
                                    </p:animEffect>
                                  </p:childTnLst>
                                </p:cTn>
                              </p:par>
                              <p:par>
                                <p:cTn id="11" presetID="9" presetClass="entr" presetSubtype="0" fill="hold" nodeType="withEffect">
                                  <p:stCondLst>
                                    <p:cond delay="0"/>
                                  </p:stCondLst>
                                  <p:childTnLst>
                                    <p:set>
                                      <p:cBhvr>
                                        <p:cTn id="12" dur="1" fill="hold">
                                          <p:stCondLst>
                                            <p:cond delay="0"/>
                                          </p:stCondLst>
                                        </p:cTn>
                                        <p:tgtEl>
                                          <p:spTgt spid="28679"/>
                                        </p:tgtEl>
                                        <p:attrNameLst>
                                          <p:attrName>style.visibility</p:attrName>
                                        </p:attrNameLst>
                                      </p:cBhvr>
                                      <p:to>
                                        <p:strVal val="visible"/>
                                      </p:to>
                                    </p:set>
                                    <p:animEffect transition="in" filter="dissolve">
                                      <p:cBhvr>
                                        <p:cTn id="13" dur="500"/>
                                        <p:tgtEl>
                                          <p:spTgt spid="28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0721" name="Picture 2">
            <a:extLst>
              <a:ext uri="{FF2B5EF4-FFF2-40B4-BE49-F238E27FC236}">
                <a16:creationId xmlns:a16="http://schemas.microsoft.com/office/drawing/2014/main" id="{9599E0D6-9240-684F-86C9-D1E84D4AB0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489" y="1484313"/>
            <a:ext cx="4392613" cy="356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2" name="Rectangle 2">
            <a:extLst>
              <a:ext uri="{FF2B5EF4-FFF2-40B4-BE49-F238E27FC236}">
                <a16:creationId xmlns:a16="http://schemas.microsoft.com/office/drawing/2014/main" id="{6F01D061-2BCF-3B41-8C56-D8E6CD38CA7F}"/>
              </a:ext>
            </a:extLst>
          </p:cNvPr>
          <p:cNvSpPr>
            <a:spLocks noGrp="1" noChangeArrowheads="1"/>
          </p:cNvSpPr>
          <p:nvPr>
            <p:ph type="title"/>
          </p:nvPr>
        </p:nvSpPr>
        <p:spPr>
          <a:xfrm>
            <a:off x="488952" y="161925"/>
            <a:ext cx="9217025" cy="603250"/>
          </a:xfrm>
        </p:spPr>
        <p:txBody>
          <a:bodyPr/>
          <a:lstStyle/>
          <a:p>
            <a:r>
              <a:rPr lang="en-GB" altLang="en-US">
                <a:ea typeface="ＭＳ Ｐゴシック" panose="020B0600070205080204" pitchFamily="34" charset="-128"/>
              </a:rPr>
              <a:t>A larger example – 32-bit ALU in Verilog</a:t>
            </a:r>
          </a:p>
        </p:txBody>
      </p:sp>
      <p:sp>
        <p:nvSpPr>
          <p:cNvPr id="30723" name="Rectangle 3">
            <a:extLst>
              <a:ext uri="{FF2B5EF4-FFF2-40B4-BE49-F238E27FC236}">
                <a16:creationId xmlns:a16="http://schemas.microsoft.com/office/drawing/2014/main" id="{0A365D73-F80C-F64F-A3C7-F5BD24383D6B}"/>
              </a:ext>
            </a:extLst>
          </p:cNvPr>
          <p:cNvSpPr txBox="1">
            <a:spLocks noChangeArrowheads="1"/>
          </p:cNvSpPr>
          <p:nvPr/>
        </p:nvSpPr>
        <p:spPr bwMode="auto">
          <a:xfrm>
            <a:off x="273051" y="981075"/>
            <a:ext cx="950595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Here is an 32-bit ALU with 5 simple instructions:</a:t>
            </a:r>
          </a:p>
        </p:txBody>
      </p:sp>
      <p:pic>
        <p:nvPicPr>
          <p:cNvPr id="30726" name="Picture 1">
            <a:extLst>
              <a:ext uri="{FF2B5EF4-FFF2-40B4-BE49-F238E27FC236}">
                <a16:creationId xmlns:a16="http://schemas.microsoft.com/office/drawing/2014/main" id="{7907B76E-9473-D046-A2AE-12F14689372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81339" y="4632326"/>
            <a:ext cx="1839913"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4F8B33D3-A68B-D84E-9A11-A6B7704C99A1}"/>
              </a:ext>
            </a:extLst>
          </p:cNvPr>
          <p:cNvGrpSpPr/>
          <p:nvPr/>
        </p:nvGrpSpPr>
        <p:grpSpPr>
          <a:xfrm>
            <a:off x="2720977" y="1019176"/>
            <a:ext cx="6662736" cy="2193925"/>
            <a:chOff x="2720977" y="1019176"/>
            <a:chExt cx="6662736" cy="2193925"/>
          </a:xfrm>
        </p:grpSpPr>
        <p:cxnSp>
          <p:nvCxnSpPr>
            <p:cNvPr id="30724" name="Straight Arrow Connector 9">
              <a:extLst>
                <a:ext uri="{FF2B5EF4-FFF2-40B4-BE49-F238E27FC236}">
                  <a16:creationId xmlns:a16="http://schemas.microsoft.com/office/drawing/2014/main" id="{EE88B5C6-1D2E-9E46-8CC7-10CE13C71D1D}"/>
                </a:ext>
              </a:extLst>
            </p:cNvPr>
            <p:cNvCxnSpPr>
              <a:cxnSpLocks noChangeShapeType="1"/>
            </p:cNvCxnSpPr>
            <p:nvPr/>
          </p:nvCxnSpPr>
          <p:spPr bwMode="auto">
            <a:xfrm flipH="1">
              <a:off x="2720977" y="1484314"/>
              <a:ext cx="3095625" cy="1368425"/>
            </a:xfrm>
            <a:prstGeom prst="straightConnector1">
              <a:avLst/>
            </a:prstGeom>
            <a:noFill/>
            <a:ln w="57150">
              <a:solidFill>
                <a:srgbClr val="FB0737"/>
              </a:solidFill>
              <a:round/>
              <a:headEnd type="none" w="sm" len="sm"/>
              <a:tailEnd type="arrow" w="med" len="med"/>
            </a:ln>
            <a:extLst>
              <a:ext uri="{909E8E84-426E-40DD-AFC4-6F175D3DCCD1}">
                <a14:hiddenFill xmlns:a14="http://schemas.microsoft.com/office/drawing/2010/main">
                  <a:noFill/>
                </a14:hiddenFill>
              </a:ext>
            </a:extLst>
          </p:spPr>
        </p:cxnSp>
        <p:pic>
          <p:nvPicPr>
            <p:cNvPr id="30727" name="Picture 3">
              <a:extLst>
                <a:ext uri="{FF2B5EF4-FFF2-40B4-BE49-F238E27FC236}">
                  <a16:creationId xmlns:a16="http://schemas.microsoft.com/office/drawing/2014/main" id="{42D8900A-49AF-824E-BBB5-14A302F5AEF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816601" y="1019176"/>
              <a:ext cx="3567112"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2">
            <a:extLst>
              <a:ext uri="{FF2B5EF4-FFF2-40B4-BE49-F238E27FC236}">
                <a16:creationId xmlns:a16="http://schemas.microsoft.com/office/drawing/2014/main" id="{F0D64ED4-6C37-6949-ADF0-493751F7DC9D}"/>
              </a:ext>
            </a:extLst>
          </p:cNvPr>
          <p:cNvGrpSpPr/>
          <p:nvPr/>
        </p:nvGrpSpPr>
        <p:grpSpPr>
          <a:xfrm>
            <a:off x="2647951" y="3284538"/>
            <a:ext cx="6697663" cy="3097212"/>
            <a:chOff x="2647951" y="3284538"/>
            <a:chExt cx="6697663" cy="3097212"/>
          </a:xfrm>
        </p:grpSpPr>
        <p:cxnSp>
          <p:nvCxnSpPr>
            <p:cNvPr id="30725" name="Straight Arrow Connector 16">
              <a:extLst>
                <a:ext uri="{FF2B5EF4-FFF2-40B4-BE49-F238E27FC236}">
                  <a16:creationId xmlns:a16="http://schemas.microsoft.com/office/drawing/2014/main" id="{5FB1FD22-EB9F-914C-A605-73B0F60AD4C0}"/>
                </a:ext>
              </a:extLst>
            </p:cNvPr>
            <p:cNvCxnSpPr>
              <a:cxnSpLocks noChangeShapeType="1"/>
            </p:cNvCxnSpPr>
            <p:nvPr/>
          </p:nvCxnSpPr>
          <p:spPr bwMode="auto">
            <a:xfrm flipH="1">
              <a:off x="2647951" y="3644901"/>
              <a:ext cx="3097212" cy="576263"/>
            </a:xfrm>
            <a:prstGeom prst="straightConnector1">
              <a:avLst/>
            </a:prstGeom>
            <a:noFill/>
            <a:ln w="57150">
              <a:solidFill>
                <a:srgbClr val="FB0737"/>
              </a:solidFill>
              <a:round/>
              <a:headEnd type="none" w="sm" len="sm"/>
              <a:tailEnd type="arrow" w="med" len="med"/>
            </a:ln>
            <a:extLst>
              <a:ext uri="{909E8E84-426E-40DD-AFC4-6F175D3DCCD1}">
                <a14:hiddenFill xmlns:a14="http://schemas.microsoft.com/office/drawing/2010/main">
                  <a:noFill/>
                </a14:hiddenFill>
              </a:ext>
            </a:extLst>
          </p:spPr>
        </p:cxnSp>
        <p:pic>
          <p:nvPicPr>
            <p:cNvPr id="30728" name="Picture 4">
              <a:extLst>
                <a:ext uri="{FF2B5EF4-FFF2-40B4-BE49-F238E27FC236}">
                  <a16:creationId xmlns:a16="http://schemas.microsoft.com/office/drawing/2014/main" id="{26C55FA3-C3BA-CC4D-AC8B-B4990B86CFF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718177" y="3284538"/>
              <a:ext cx="3627437"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87723631"/>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2769" name="Picture 1">
            <a:extLst>
              <a:ext uri="{FF2B5EF4-FFF2-40B4-BE49-F238E27FC236}">
                <a16:creationId xmlns:a16="http://schemas.microsoft.com/office/drawing/2014/main" id="{F1F6B6E9-F86E-4A44-A3B8-BE30A31977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0389" y="1341438"/>
            <a:ext cx="4176713"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0" name="Rectangle 2">
            <a:extLst>
              <a:ext uri="{FF2B5EF4-FFF2-40B4-BE49-F238E27FC236}">
                <a16:creationId xmlns:a16="http://schemas.microsoft.com/office/drawing/2014/main" id="{9C3B0ABB-623F-B84A-8270-292FE74E1A2D}"/>
              </a:ext>
            </a:extLst>
          </p:cNvPr>
          <p:cNvSpPr>
            <a:spLocks noGrp="1" noChangeArrowheads="1"/>
          </p:cNvSpPr>
          <p:nvPr>
            <p:ph type="title"/>
          </p:nvPr>
        </p:nvSpPr>
        <p:spPr>
          <a:xfrm>
            <a:off x="488952" y="161925"/>
            <a:ext cx="9217025" cy="603250"/>
          </a:xfrm>
        </p:spPr>
        <p:txBody>
          <a:bodyPr/>
          <a:lstStyle/>
          <a:p>
            <a:r>
              <a:rPr lang="en-GB" altLang="en-US">
                <a:ea typeface="ＭＳ Ｐゴシック" panose="020B0600070205080204" pitchFamily="34" charset="-128"/>
              </a:rPr>
              <a:t>The arithmetic modules</a:t>
            </a:r>
          </a:p>
        </p:txBody>
      </p:sp>
      <p:sp>
        <p:nvSpPr>
          <p:cNvPr id="32771" name="Rectangle 3">
            <a:extLst>
              <a:ext uri="{FF2B5EF4-FFF2-40B4-BE49-F238E27FC236}">
                <a16:creationId xmlns:a16="http://schemas.microsoft.com/office/drawing/2014/main" id="{15FDBD7F-32A8-FF49-BE34-3B68DA7AB829}"/>
              </a:ext>
            </a:extLst>
          </p:cNvPr>
          <p:cNvSpPr txBox="1">
            <a:spLocks noChangeArrowheads="1"/>
          </p:cNvSpPr>
          <p:nvPr/>
        </p:nvSpPr>
        <p:spPr bwMode="auto">
          <a:xfrm>
            <a:off x="200026" y="981075"/>
            <a:ext cx="950595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Here is an 32-bit ALU with 5 simple instructions:</a:t>
            </a:r>
          </a:p>
        </p:txBody>
      </p:sp>
      <p:grpSp>
        <p:nvGrpSpPr>
          <p:cNvPr id="2" name="Group 1">
            <a:extLst>
              <a:ext uri="{FF2B5EF4-FFF2-40B4-BE49-F238E27FC236}">
                <a16:creationId xmlns:a16="http://schemas.microsoft.com/office/drawing/2014/main" id="{0BA471F7-07C7-CD4D-88DC-253752E6EE60}"/>
              </a:ext>
            </a:extLst>
          </p:cNvPr>
          <p:cNvGrpSpPr/>
          <p:nvPr/>
        </p:nvGrpSpPr>
        <p:grpSpPr>
          <a:xfrm>
            <a:off x="3440113" y="1125538"/>
            <a:ext cx="6107114" cy="1943101"/>
            <a:chOff x="3440113" y="1125538"/>
            <a:chExt cx="6107114" cy="1943101"/>
          </a:xfrm>
        </p:grpSpPr>
        <p:cxnSp>
          <p:nvCxnSpPr>
            <p:cNvPr id="32772" name="Straight Arrow Connector 9">
              <a:extLst>
                <a:ext uri="{FF2B5EF4-FFF2-40B4-BE49-F238E27FC236}">
                  <a16:creationId xmlns:a16="http://schemas.microsoft.com/office/drawing/2014/main" id="{96EA89BC-ECC6-0042-BEE0-0ACBA1407186}"/>
                </a:ext>
              </a:extLst>
            </p:cNvPr>
            <p:cNvCxnSpPr>
              <a:cxnSpLocks noChangeShapeType="1"/>
            </p:cNvCxnSpPr>
            <p:nvPr/>
          </p:nvCxnSpPr>
          <p:spPr bwMode="auto">
            <a:xfrm flipH="1">
              <a:off x="3440113" y="1484314"/>
              <a:ext cx="2376488" cy="1584325"/>
            </a:xfrm>
            <a:prstGeom prst="straightConnector1">
              <a:avLst/>
            </a:prstGeom>
            <a:noFill/>
            <a:ln w="57150">
              <a:solidFill>
                <a:srgbClr val="FB0737"/>
              </a:solidFill>
              <a:round/>
              <a:headEnd type="none" w="sm" len="sm"/>
              <a:tailEnd type="arrow" w="med" len="med"/>
            </a:ln>
            <a:extLst>
              <a:ext uri="{909E8E84-426E-40DD-AFC4-6F175D3DCCD1}">
                <a14:hiddenFill xmlns:a14="http://schemas.microsoft.com/office/drawing/2010/main">
                  <a:noFill/>
                </a14:hiddenFill>
              </a:ext>
            </a:extLst>
          </p:spPr>
        </p:cxnSp>
        <p:pic>
          <p:nvPicPr>
            <p:cNvPr id="32775" name="Picture 2">
              <a:extLst>
                <a:ext uri="{FF2B5EF4-FFF2-40B4-BE49-F238E27FC236}">
                  <a16:creationId xmlns:a16="http://schemas.microsoft.com/office/drawing/2014/main" id="{C1190889-59F2-C648-BAF4-482E5E509CD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16602" y="1125538"/>
              <a:ext cx="3730625" cy="183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Group 3">
            <a:extLst>
              <a:ext uri="{FF2B5EF4-FFF2-40B4-BE49-F238E27FC236}">
                <a16:creationId xmlns:a16="http://schemas.microsoft.com/office/drawing/2014/main" id="{718746CD-D893-4B48-BE18-03E89CAC3739}"/>
              </a:ext>
            </a:extLst>
          </p:cNvPr>
          <p:cNvGrpSpPr/>
          <p:nvPr/>
        </p:nvGrpSpPr>
        <p:grpSpPr>
          <a:xfrm>
            <a:off x="2216151" y="3357564"/>
            <a:ext cx="6737350" cy="1597025"/>
            <a:chOff x="2216151" y="3357564"/>
            <a:chExt cx="6737350" cy="1597025"/>
          </a:xfrm>
        </p:grpSpPr>
        <p:cxnSp>
          <p:nvCxnSpPr>
            <p:cNvPr id="32773" name="Straight Arrow Connector 16">
              <a:extLst>
                <a:ext uri="{FF2B5EF4-FFF2-40B4-BE49-F238E27FC236}">
                  <a16:creationId xmlns:a16="http://schemas.microsoft.com/office/drawing/2014/main" id="{00927DE5-F165-404A-AB72-5AC424B9A0F0}"/>
                </a:ext>
              </a:extLst>
            </p:cNvPr>
            <p:cNvCxnSpPr>
              <a:cxnSpLocks noChangeShapeType="1"/>
            </p:cNvCxnSpPr>
            <p:nvPr/>
          </p:nvCxnSpPr>
          <p:spPr bwMode="auto">
            <a:xfrm flipH="1" flipV="1">
              <a:off x="2216151" y="3429001"/>
              <a:ext cx="3744912" cy="360363"/>
            </a:xfrm>
            <a:prstGeom prst="straightConnector1">
              <a:avLst/>
            </a:prstGeom>
            <a:noFill/>
            <a:ln w="57150">
              <a:solidFill>
                <a:srgbClr val="FB0737"/>
              </a:solidFill>
              <a:round/>
              <a:headEnd type="none" w="sm" len="sm"/>
              <a:tailEnd type="arrow" w="med" len="med"/>
            </a:ln>
            <a:extLst>
              <a:ext uri="{909E8E84-426E-40DD-AFC4-6F175D3DCCD1}">
                <a14:hiddenFill xmlns:a14="http://schemas.microsoft.com/office/drawing/2010/main">
                  <a:noFill/>
                </a14:hiddenFill>
              </a:ext>
            </a:extLst>
          </p:spPr>
        </p:cxnSp>
        <p:pic>
          <p:nvPicPr>
            <p:cNvPr id="32776" name="Picture 3">
              <a:extLst>
                <a:ext uri="{FF2B5EF4-FFF2-40B4-BE49-F238E27FC236}">
                  <a16:creationId xmlns:a16="http://schemas.microsoft.com/office/drawing/2014/main" id="{E08CAFD9-F3E6-384B-A814-5BB9994815C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32501" y="3357564"/>
              <a:ext cx="2921000"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2">
            <a:extLst>
              <a:ext uri="{FF2B5EF4-FFF2-40B4-BE49-F238E27FC236}">
                <a16:creationId xmlns:a16="http://schemas.microsoft.com/office/drawing/2014/main" id="{834ABB97-E2CA-0D49-92CE-05F5116628BB}"/>
              </a:ext>
            </a:extLst>
          </p:cNvPr>
          <p:cNvGrpSpPr/>
          <p:nvPr/>
        </p:nvGrpSpPr>
        <p:grpSpPr>
          <a:xfrm>
            <a:off x="992189" y="3429001"/>
            <a:ext cx="4721224" cy="2833687"/>
            <a:chOff x="992189" y="3429001"/>
            <a:chExt cx="4721224" cy="2833687"/>
          </a:xfrm>
        </p:grpSpPr>
        <p:cxnSp>
          <p:nvCxnSpPr>
            <p:cNvPr id="32774" name="Straight Arrow Connector 15">
              <a:extLst>
                <a:ext uri="{FF2B5EF4-FFF2-40B4-BE49-F238E27FC236}">
                  <a16:creationId xmlns:a16="http://schemas.microsoft.com/office/drawing/2014/main" id="{093442AE-8001-B44C-A433-92DF72C19BF7}"/>
                </a:ext>
              </a:extLst>
            </p:cNvPr>
            <p:cNvCxnSpPr>
              <a:cxnSpLocks noChangeShapeType="1"/>
            </p:cNvCxnSpPr>
            <p:nvPr/>
          </p:nvCxnSpPr>
          <p:spPr bwMode="auto">
            <a:xfrm flipH="1" flipV="1">
              <a:off x="992189" y="3429001"/>
              <a:ext cx="1800225" cy="1584325"/>
            </a:xfrm>
            <a:prstGeom prst="straightConnector1">
              <a:avLst/>
            </a:prstGeom>
            <a:noFill/>
            <a:ln w="57150">
              <a:solidFill>
                <a:srgbClr val="FB0737"/>
              </a:solidFill>
              <a:round/>
              <a:headEnd type="none" w="sm" len="sm"/>
              <a:tailEnd type="arrow" w="med" len="med"/>
            </a:ln>
            <a:extLst>
              <a:ext uri="{909E8E84-426E-40DD-AFC4-6F175D3DCCD1}">
                <a14:hiddenFill xmlns:a14="http://schemas.microsoft.com/office/drawing/2010/main">
                  <a:noFill/>
                </a14:hiddenFill>
              </a:ext>
            </a:extLst>
          </p:spPr>
        </p:cxnSp>
        <p:pic>
          <p:nvPicPr>
            <p:cNvPr id="32777" name="Picture 4">
              <a:extLst>
                <a:ext uri="{FF2B5EF4-FFF2-40B4-BE49-F238E27FC236}">
                  <a16:creationId xmlns:a16="http://schemas.microsoft.com/office/drawing/2014/main" id="{3E674EDB-0535-DB41-BB77-2059DD61E13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792413" y="4641850"/>
              <a:ext cx="2921000"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464910100"/>
      </p:ext>
    </p:ext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7" name="Rectangle 5">
            <a:extLst>
              <a:ext uri="{FF2B5EF4-FFF2-40B4-BE49-F238E27FC236}">
                <a16:creationId xmlns:a16="http://schemas.microsoft.com/office/drawing/2014/main" id="{EB0B0D23-884F-A747-892D-DE0E979AEE1B}"/>
              </a:ext>
            </a:extLst>
          </p:cNvPr>
          <p:cNvSpPr>
            <a:spLocks noChangeArrowheads="1"/>
          </p:cNvSpPr>
          <p:nvPr/>
        </p:nvSpPr>
        <p:spPr bwMode="auto">
          <a:xfrm>
            <a:off x="4927602" y="2349500"/>
            <a:ext cx="3049587" cy="1079500"/>
          </a:xfrm>
          <a:prstGeom prst="rect">
            <a:avLst/>
          </a:prstGeom>
          <a:solidFill>
            <a:srgbClr val="FFFFFF"/>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sp>
        <p:nvSpPr>
          <p:cNvPr id="34818" name="Rectangle 2">
            <a:extLst>
              <a:ext uri="{FF2B5EF4-FFF2-40B4-BE49-F238E27FC236}">
                <a16:creationId xmlns:a16="http://schemas.microsoft.com/office/drawing/2014/main" id="{40FF2169-9D49-DE42-93C2-83B31BBF6F32}"/>
              </a:ext>
            </a:extLst>
          </p:cNvPr>
          <p:cNvSpPr>
            <a:spLocks noGrp="1" noChangeArrowheads="1"/>
          </p:cNvSpPr>
          <p:nvPr>
            <p:ph type="title"/>
          </p:nvPr>
        </p:nvSpPr>
        <p:spPr>
          <a:xfrm>
            <a:off x="488952" y="161925"/>
            <a:ext cx="9217025" cy="603250"/>
          </a:xfrm>
        </p:spPr>
        <p:txBody>
          <a:bodyPr/>
          <a:lstStyle/>
          <a:p>
            <a:r>
              <a:rPr lang="en-GB" altLang="en-US">
                <a:ea typeface="ＭＳ Ｐゴシック" panose="020B0600070205080204" pitchFamily="34" charset="-128"/>
              </a:rPr>
              <a:t>Top-level module – putting them together</a:t>
            </a:r>
          </a:p>
        </p:txBody>
      </p:sp>
      <p:sp>
        <p:nvSpPr>
          <p:cNvPr id="34819" name="Rectangle 3">
            <a:extLst>
              <a:ext uri="{FF2B5EF4-FFF2-40B4-BE49-F238E27FC236}">
                <a16:creationId xmlns:a16="http://schemas.microsoft.com/office/drawing/2014/main" id="{0274FAA4-A4A6-8044-B696-9EBDA0E5ED68}"/>
              </a:ext>
            </a:extLst>
          </p:cNvPr>
          <p:cNvSpPr txBox="1">
            <a:spLocks noChangeArrowheads="1"/>
          </p:cNvSpPr>
          <p:nvPr/>
        </p:nvSpPr>
        <p:spPr bwMode="auto">
          <a:xfrm>
            <a:off x="200026" y="981075"/>
            <a:ext cx="950595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ts val="600"/>
              </a:spcBef>
            </a:pPr>
            <a:r>
              <a:rPr lang="en-GB" altLang="en-US" sz="1800"/>
              <a:t>Given submodules:</a:t>
            </a:r>
          </a:p>
        </p:txBody>
      </p:sp>
      <p:pic>
        <p:nvPicPr>
          <p:cNvPr id="34820" name="Picture 1">
            <a:extLst>
              <a:ext uri="{FF2B5EF4-FFF2-40B4-BE49-F238E27FC236}">
                <a16:creationId xmlns:a16="http://schemas.microsoft.com/office/drawing/2014/main" id="{5CE2E555-43F9-3149-998E-669E344DEB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4489" y="2349500"/>
            <a:ext cx="7993063" cy="403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Rectangle 2">
            <a:extLst>
              <a:ext uri="{FF2B5EF4-FFF2-40B4-BE49-F238E27FC236}">
                <a16:creationId xmlns:a16="http://schemas.microsoft.com/office/drawing/2014/main" id="{3ADB9C4A-BF86-1F44-B1F1-6F396650A901}"/>
              </a:ext>
            </a:extLst>
          </p:cNvPr>
          <p:cNvSpPr>
            <a:spLocks noChangeArrowheads="1"/>
          </p:cNvSpPr>
          <p:nvPr/>
        </p:nvSpPr>
        <p:spPr bwMode="auto">
          <a:xfrm>
            <a:off x="5168901" y="2349501"/>
            <a:ext cx="3313112" cy="1008063"/>
          </a:xfrm>
          <a:prstGeom prst="rect">
            <a:avLst/>
          </a:prstGeom>
          <a:solidFill>
            <a:schemeClr val="bg1"/>
          </a:solidFill>
          <a:ln>
            <a:noFill/>
          </a:ln>
          <a:extLst>
            <a:ext uri="{91240B29-F687-4F45-9708-019B960494DF}">
              <a14:hiddenLine xmlns:a14="http://schemas.microsoft.com/office/drawing/2010/main" w="12700">
                <a:solidFill>
                  <a:srgbClr val="000000"/>
                </a:solidFill>
                <a:round/>
                <a:headEnd type="none" w="sm" len="sm"/>
                <a:tailEnd type="none" w="sm" len="sm"/>
              </a14:hiddenLine>
            </a:ext>
          </a:extLst>
        </p:spPr>
        <p:txBody>
          <a:bodyPr/>
          <a:lstStyle>
            <a:lvl1pPr>
              <a:spcBef>
                <a:spcPct val="20000"/>
              </a:spcBef>
              <a:buClr>
                <a:srgbClr val="842C00"/>
              </a:buClr>
              <a:buSzPct val="75000"/>
              <a:buFont typeface="Monotype Sorts" pitchFamily="2" charset="2"/>
              <a:buChar char="u"/>
              <a:defRPr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lr>
                <a:srgbClr val="842C00"/>
              </a:buClr>
              <a:buSzPct val="100000"/>
              <a:buFont typeface="Symbol" pitchFamily="2" charset="2"/>
              <a:buChar char="·"/>
              <a:defRPr>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lr>
                <a:srgbClr val="842C00"/>
              </a:buClr>
              <a:buSzPct val="100000"/>
              <a:buFont typeface="Monotype Sorts" pitchFamily="2" charset="2"/>
              <a:buChar char="ä"/>
              <a:defRPr sz="16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accent2"/>
              </a:buClr>
              <a:buSzPct val="65000"/>
              <a:buFont typeface="Monotype Sorts" pitchFamily="2" charset="2"/>
              <a:buChar char="u"/>
              <a:defRPr sz="14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100000"/>
              <a:buChar char="–"/>
              <a:defRPr sz="14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lang="en-US" altLang="en-US" sz="3200"/>
          </a:p>
        </p:txBody>
      </p:sp>
      <p:pic>
        <p:nvPicPr>
          <p:cNvPr id="34822" name="Picture 3">
            <a:extLst>
              <a:ext uri="{FF2B5EF4-FFF2-40B4-BE49-F238E27FC236}">
                <a16:creationId xmlns:a16="http://schemas.microsoft.com/office/drawing/2014/main" id="{C625C600-7634-994A-960F-327A54CC91C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753227" y="1052514"/>
            <a:ext cx="2941637"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4">
            <a:extLst>
              <a:ext uri="{FF2B5EF4-FFF2-40B4-BE49-F238E27FC236}">
                <a16:creationId xmlns:a16="http://schemas.microsoft.com/office/drawing/2014/main" id="{DDE8AC3D-C74E-9A4A-A861-7E7B5B6FC97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720977" y="1052513"/>
            <a:ext cx="3767137"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508917"/>
      </p:ext>
    </p:extLst>
  </p:cSld>
  <p:clrMapOvr>
    <a:masterClrMapping/>
  </p:clrMapOvr>
  <p:transition>
    <p:checker/>
  </p:transition>
</p:sld>
</file>

<file path=ppt/theme/theme1.xml><?xml version="1.0" encoding="utf-8"?>
<a:theme xmlns:a="http://schemas.openxmlformats.org/drawingml/2006/main" name="lecture 1">
  <a:themeElements>
    <a:clrScheme name="lecture 1.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ecture 1.pp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a:ln>
              <a:noFill/>
            </a:ln>
            <a:solidFill>
              <a:schemeClr val="tx1"/>
            </a:solidFill>
            <a:effectLst/>
            <a:latin typeface="Arial" charset="0"/>
          </a:defRPr>
        </a:defPPr>
      </a:lstStyle>
    </a:lnDef>
  </a:objectDefaults>
  <a:extraClrSchemeLst>
    <a:extraClrScheme>
      <a:clrScheme name="lecture 1.pp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 1.pp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lecture 1.pp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 1.pp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 1.pp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 1.pp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lecture 1.pp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H:\_Mywork\_ICTeaching\EE2 Computing\lecture 1.ppt</Template>
  <TotalTime>22029</TotalTime>
  <Words>5569</Words>
  <Application>Microsoft Macintosh PowerPoint</Application>
  <PresentationFormat>A4 Paper (210x297 mm)</PresentationFormat>
  <Paragraphs>415</Paragraphs>
  <Slides>32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Courier</vt:lpstr>
      <vt:lpstr>Monotype Sorts</vt:lpstr>
      <vt:lpstr>Symbol</vt:lpstr>
      <vt:lpstr>Times New Roman</vt:lpstr>
      <vt:lpstr>Verdana</vt:lpstr>
      <vt:lpstr>Wingdings</vt:lpstr>
      <vt:lpstr>lecture 1</vt:lpstr>
      <vt:lpstr>Lecture 6  Verilog HDL</vt:lpstr>
      <vt:lpstr>Lecture Objectives</vt:lpstr>
      <vt:lpstr> Schematic vs  HDL</vt:lpstr>
      <vt:lpstr>Verilog HDL</vt:lpstr>
      <vt:lpstr>Structure of a Module</vt:lpstr>
      <vt:lpstr>Continuous Assignment</vt:lpstr>
      <vt:lpstr>Description at Gate Level</vt:lpstr>
      <vt:lpstr>Procedural Assignment using “always”</vt:lpstr>
      <vt:lpstr>Verilog “register” is NOT what it appears!</vt:lpstr>
      <vt:lpstr>case statement – better alternative to if-else</vt:lpstr>
      <vt:lpstr>n-bit signals - buses</vt:lpstr>
      <vt:lpstr>PowerPoint Presentation</vt:lpstr>
      <vt:lpstr>Method 1: Schematic Entry Implementation</vt:lpstr>
      <vt:lpstr>Method 2: Use primitive gates in Verilog</vt:lpstr>
      <vt:lpstr>Method 3:  Use continuous assignment in Verilog</vt:lpstr>
      <vt:lpstr>Hex_to_7seg.v</vt:lpstr>
      <vt:lpstr>Method 4:  Power of behavoural abstraction</vt:lpstr>
      <vt:lpstr>From Verilog code to FPGA hardware</vt:lpstr>
      <vt:lpstr> Power of Verilog: Integer Arithmetic</vt:lpstr>
      <vt:lpstr>Different types of Boolean Operators</vt:lpstr>
      <vt:lpstr>Beware of Incomplete Specification</vt:lpstr>
      <vt:lpstr>Incomplete specification:   adds unwanted  latch circuit</vt:lpstr>
      <vt:lpstr>Always avoid incomplete specification</vt:lpstr>
      <vt:lpstr>How to specify a sequential circuit?</vt:lpstr>
      <vt:lpstr>Synchronous clear in D-flipflop</vt:lpstr>
      <vt:lpstr>Asynchronous clear in D-flipflop</vt:lpstr>
      <vt:lpstr>Blocking vs Non-blocking Assignments</vt:lpstr>
      <vt:lpstr>Be careful to use the correct assignment</vt:lpstr>
      <vt:lpstr>Use NONBLOCKING assignment for sequential logic</vt:lpstr>
      <vt:lpstr>A larger example – 32-bit ALU in Verilog</vt:lpstr>
      <vt:lpstr>The arithmetic modules</vt:lpstr>
      <vt:lpstr>Top-level module – putting them together</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ASIC and all that!</dc:title>
  <dc:creator>peterc</dc:creator>
  <cp:lastModifiedBy>Cheung, Peter Y</cp:lastModifiedBy>
  <cp:revision>259</cp:revision>
  <cp:lastPrinted>2019-10-14T06:22:49Z</cp:lastPrinted>
  <dcterms:created xsi:type="dcterms:W3CDTF">1998-10-08T18:04:10Z</dcterms:created>
  <dcterms:modified xsi:type="dcterms:W3CDTF">2021-10-30T09:30:00Z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2</vt:i4>
  </property>
  <property fmtid="{D5CDD505-2E9C-101B-9397-08002B2CF9AE}" pid="4" name="Compression">
    <vt:i4>100</vt:i4>
  </property>
  <property fmtid="{D5CDD505-2E9C-101B-9397-08002B2CF9AE}" pid="5" name="ScreenSize">
    <vt:i4>3</vt:i4>
  </property>
  <property fmtid="{D5CDD505-2E9C-101B-9397-08002B2CF9AE}" pid="6" name="ScreenUsage">
    <vt:i4>2</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false</vt:bool>
  </property>
  <property fmtid="{D5CDD505-2E9C-101B-9397-08002B2CF9AE}" pid="13" name="BackColor">
    <vt:i4>12632256</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H:\_Mywork\_ICTeaching\ASIC\Notes 98</vt:lpwstr>
  </property>
</Properties>
</file>