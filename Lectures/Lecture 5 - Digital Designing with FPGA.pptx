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23"/>
  </p:notesMasterIdLst>
  <p:handoutMasterIdLst>
    <p:handoutMasterId r:id="rId24"/>
  </p:handoutMasterIdLst>
  <p:sldIdLst>
    <p:sldId id="278" r:id="rId2"/>
    <p:sldId id="286" r:id="rId3"/>
    <p:sldId id="291" r:id="rId4"/>
    <p:sldId id="285" r:id="rId5"/>
    <p:sldId id="290" r:id="rId6"/>
    <p:sldId id="287" r:id="rId7"/>
    <p:sldId id="288" r:id="rId8"/>
    <p:sldId id="289" r:id="rId9"/>
    <p:sldId id="305" r:id="rId10"/>
    <p:sldId id="306" r:id="rId11"/>
    <p:sldId id="307" r:id="rId12"/>
    <p:sldId id="293" r:id="rId13"/>
    <p:sldId id="294" r:id="rId14"/>
    <p:sldId id="295" r:id="rId15"/>
    <p:sldId id="298" r:id="rId16"/>
    <p:sldId id="304" r:id="rId17"/>
    <p:sldId id="308" r:id="rId18"/>
    <p:sldId id="296" r:id="rId19"/>
    <p:sldId id="297" r:id="rId20"/>
    <p:sldId id="299" r:id="rId21"/>
    <p:sldId id="301" r:id="rId22"/>
  </p:sldIdLst>
  <p:sldSz cx="9906000" cy="6858000" type="A4"/>
  <p:notesSz cx="6794500" cy="9906000"/>
  <p:defaultTextStyle>
    <a:defPPr>
      <a:defRPr lang="en-US"/>
    </a:defPPr>
    <a:lvl1pPr algn="l" rtl="0" eaLnBrk="0" fontAlgn="base" hangingPunct="0">
      <a:spcBef>
        <a:spcPct val="0"/>
      </a:spcBef>
      <a:spcAft>
        <a:spcPct val="0"/>
      </a:spcAft>
      <a:defRPr sz="32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32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32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32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32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768">
          <p15:clr>
            <a:srgbClr val="A4A3A4"/>
          </p15:clr>
        </p15:guide>
        <p15:guide id="2" pos="3075">
          <p15:clr>
            <a:srgbClr val="A4A3A4"/>
          </p15:clr>
        </p15:guide>
      </p15:sldGuideLst>
    </p:ext>
    <p:ext uri="{2D200454-40CA-4A62-9FC3-DE9A4176ACB9}">
      <p15:notesGuideLst xmlns:p15="http://schemas.microsoft.com/office/powerpoint/2012/main">
        <p15:guide id="1" orient="horz" pos="3029">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347"/>
    <p:restoredTop sz="94552"/>
  </p:normalViewPr>
  <p:slideViewPr>
    <p:cSldViewPr>
      <p:cViewPr varScale="1">
        <p:scale>
          <a:sx n="182" d="100"/>
          <a:sy n="182" d="100"/>
        </p:scale>
        <p:origin x="2752" y="168"/>
      </p:cViewPr>
      <p:guideLst>
        <p:guide orient="horz" pos="1768"/>
        <p:guide pos="3075"/>
      </p:guideLst>
    </p:cSldViewPr>
  </p:slideViewPr>
  <p:notesTextViewPr>
    <p:cViewPr>
      <p:scale>
        <a:sx n="100" d="100"/>
        <a:sy n="100" d="100"/>
      </p:scale>
      <p:origin x="0" y="0"/>
    </p:cViewPr>
  </p:notesTextViewPr>
  <p:sorterViewPr>
    <p:cViewPr>
      <p:scale>
        <a:sx n="167" d="100"/>
        <a:sy n="167" d="100"/>
      </p:scale>
      <p:origin x="0" y="0"/>
    </p:cViewPr>
  </p:sorterViewPr>
  <p:notesViewPr>
    <p:cSldViewPr>
      <p:cViewPr varScale="1">
        <p:scale>
          <a:sx n="89" d="100"/>
          <a:sy n="89" d="100"/>
        </p:scale>
        <p:origin x="4496" y="192"/>
      </p:cViewPr>
      <p:guideLst>
        <p:guide orient="horz" pos="3029"/>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F5204C52-147B-3E4E-8412-B768C74B7C2D}"/>
              </a:ext>
            </a:extLst>
          </p:cNvPr>
          <p:cNvSpPr>
            <a:spLocks noGrp="1" noChangeArrowheads="1"/>
          </p:cNvSpPr>
          <p:nvPr>
            <p:ph type="hdr" sz="quarter"/>
          </p:nvPr>
        </p:nvSpPr>
        <p:spPr bwMode="auto">
          <a:xfrm>
            <a:off x="0" y="0"/>
            <a:ext cx="2943225" cy="495300"/>
          </a:xfrm>
          <a:prstGeom prst="rect">
            <a:avLst/>
          </a:prstGeom>
          <a:noFill/>
          <a:ln w="12700">
            <a:noFill/>
            <a:miter lim="800000"/>
            <a:headEnd type="none" w="sm" len="sm"/>
            <a:tailEnd type="none" w="sm" len="sm"/>
          </a:ln>
          <a:effectLst/>
        </p:spPr>
        <p:txBody>
          <a:bodyPr vert="horz" wrap="square" lIns="92602" tIns="46301" rIns="92602" bIns="46301" numCol="1" anchor="t" anchorCtr="0" compatLnSpc="1">
            <a:prstTxWarp prst="textNoShape">
              <a:avLst/>
            </a:prstTxWarp>
          </a:bodyPr>
          <a:lstStyle>
            <a:lvl1pPr defTabSz="925513">
              <a:defRPr sz="1200">
                <a:latin typeface="Arial" charset="0"/>
                <a:ea typeface="ＭＳ Ｐゴシック" charset="0"/>
                <a:cs typeface="ＭＳ Ｐゴシック" charset="0"/>
              </a:defRPr>
            </a:lvl1pPr>
          </a:lstStyle>
          <a:p>
            <a:pPr>
              <a:defRPr/>
            </a:pPr>
            <a:r>
              <a:rPr lang="en-US"/>
              <a:t>Digital IC Design</a:t>
            </a:r>
          </a:p>
        </p:txBody>
      </p:sp>
      <p:sp>
        <p:nvSpPr>
          <p:cNvPr id="25603" name="Rectangle 3">
            <a:extLst>
              <a:ext uri="{FF2B5EF4-FFF2-40B4-BE49-F238E27FC236}">
                <a16:creationId xmlns:a16="http://schemas.microsoft.com/office/drawing/2014/main" id="{DECBB345-3AB3-5A4E-B718-FBA11B2F6855}"/>
              </a:ext>
            </a:extLst>
          </p:cNvPr>
          <p:cNvSpPr>
            <a:spLocks noGrp="1" noChangeArrowheads="1"/>
          </p:cNvSpPr>
          <p:nvPr>
            <p:ph type="dt" sz="quarter" idx="1"/>
          </p:nvPr>
        </p:nvSpPr>
        <p:spPr bwMode="auto">
          <a:xfrm>
            <a:off x="3851275" y="0"/>
            <a:ext cx="2943225" cy="495300"/>
          </a:xfrm>
          <a:prstGeom prst="rect">
            <a:avLst/>
          </a:prstGeom>
          <a:noFill/>
          <a:ln w="12700">
            <a:noFill/>
            <a:miter lim="800000"/>
            <a:headEnd type="none" w="sm" len="sm"/>
            <a:tailEnd type="none" w="sm" len="sm"/>
          </a:ln>
          <a:effectLst/>
        </p:spPr>
        <p:txBody>
          <a:bodyPr vert="horz" wrap="square" lIns="92602" tIns="46301" rIns="92602" bIns="46301" numCol="1" anchor="t" anchorCtr="0" compatLnSpc="1">
            <a:prstTxWarp prst="textNoShape">
              <a:avLst/>
            </a:prstTxWarp>
          </a:bodyPr>
          <a:lstStyle>
            <a:lvl1pPr algn="r" defTabSz="925513">
              <a:defRPr sz="1200">
                <a:latin typeface="Arial" charset="0"/>
                <a:ea typeface="ＭＳ Ｐゴシック" charset="0"/>
                <a:cs typeface="ＭＳ Ｐゴシック" charset="0"/>
              </a:defRPr>
            </a:lvl1pPr>
          </a:lstStyle>
          <a:p>
            <a:pPr>
              <a:defRPr/>
            </a:pPr>
            <a:endParaRPr lang="en-US"/>
          </a:p>
        </p:txBody>
      </p:sp>
      <p:sp>
        <p:nvSpPr>
          <p:cNvPr id="25604" name="Rectangle 4">
            <a:extLst>
              <a:ext uri="{FF2B5EF4-FFF2-40B4-BE49-F238E27FC236}">
                <a16:creationId xmlns:a16="http://schemas.microsoft.com/office/drawing/2014/main" id="{2AD8744D-759B-5A45-9E3E-5A3F233C0761}"/>
              </a:ext>
            </a:extLst>
          </p:cNvPr>
          <p:cNvSpPr>
            <a:spLocks noGrp="1" noChangeArrowheads="1"/>
          </p:cNvSpPr>
          <p:nvPr>
            <p:ph type="ftr" sz="quarter" idx="2"/>
          </p:nvPr>
        </p:nvSpPr>
        <p:spPr bwMode="auto">
          <a:xfrm>
            <a:off x="0" y="9410700"/>
            <a:ext cx="2943225" cy="495300"/>
          </a:xfrm>
          <a:prstGeom prst="rect">
            <a:avLst/>
          </a:prstGeom>
          <a:noFill/>
          <a:ln w="12700">
            <a:noFill/>
            <a:miter lim="800000"/>
            <a:headEnd type="none" w="sm" len="sm"/>
            <a:tailEnd type="none" w="sm" len="sm"/>
          </a:ln>
          <a:effectLst/>
        </p:spPr>
        <p:txBody>
          <a:bodyPr vert="horz" wrap="square" lIns="92602" tIns="46301" rIns="92602" bIns="46301" numCol="1" anchor="b" anchorCtr="0" compatLnSpc="1">
            <a:prstTxWarp prst="textNoShape">
              <a:avLst/>
            </a:prstTxWarp>
          </a:bodyPr>
          <a:lstStyle>
            <a:lvl1pPr defTabSz="925513">
              <a:defRPr sz="1200">
                <a:latin typeface="Arial" charset="0"/>
                <a:ea typeface="ＭＳ Ｐゴシック" charset="0"/>
                <a:cs typeface="ＭＳ Ｐゴシック" charset="0"/>
              </a:defRPr>
            </a:lvl1pPr>
          </a:lstStyle>
          <a:p>
            <a:pPr>
              <a:defRPr/>
            </a:pPr>
            <a:r>
              <a:rPr lang="en-US"/>
              <a:t>Lecture 1 - Introduction</a:t>
            </a:r>
          </a:p>
        </p:txBody>
      </p:sp>
      <p:sp>
        <p:nvSpPr>
          <p:cNvPr id="25605" name="Rectangle 5">
            <a:extLst>
              <a:ext uri="{FF2B5EF4-FFF2-40B4-BE49-F238E27FC236}">
                <a16:creationId xmlns:a16="http://schemas.microsoft.com/office/drawing/2014/main" id="{1E1DB03D-4244-D542-94BA-A3BDF2318E3E}"/>
              </a:ext>
            </a:extLst>
          </p:cNvPr>
          <p:cNvSpPr>
            <a:spLocks noGrp="1" noChangeArrowheads="1"/>
          </p:cNvSpPr>
          <p:nvPr>
            <p:ph type="sldNum" sz="quarter" idx="3"/>
          </p:nvPr>
        </p:nvSpPr>
        <p:spPr bwMode="auto">
          <a:xfrm>
            <a:off x="3851275" y="9410700"/>
            <a:ext cx="2943225" cy="495300"/>
          </a:xfrm>
          <a:prstGeom prst="rect">
            <a:avLst/>
          </a:prstGeom>
          <a:noFill/>
          <a:ln w="12700">
            <a:noFill/>
            <a:miter lim="800000"/>
            <a:headEnd type="none" w="sm" len="sm"/>
            <a:tailEnd type="none" w="sm" len="sm"/>
          </a:ln>
          <a:effectLst/>
        </p:spPr>
        <p:txBody>
          <a:bodyPr vert="horz" wrap="square" lIns="92602" tIns="46301" rIns="92602" bIns="46301" numCol="1" anchor="b" anchorCtr="0" compatLnSpc="1">
            <a:prstTxWarp prst="textNoShape">
              <a:avLst/>
            </a:prstTxWarp>
          </a:bodyPr>
          <a:lstStyle>
            <a:lvl1pPr algn="r" defTabSz="925513">
              <a:defRPr sz="1200">
                <a:latin typeface="Arial" charset="0"/>
                <a:ea typeface="ＭＳ Ｐゴシック" charset="-128"/>
              </a:defRPr>
            </a:lvl1pPr>
          </a:lstStyle>
          <a:p>
            <a:pPr>
              <a:defRPr/>
            </a:pPr>
            <a:fld id="{724001F1-A3BA-7B42-94D6-90BEE09BCF4B}"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DE9B6D03-E647-2047-BA9D-BAB9576AADC7}"/>
              </a:ext>
            </a:extLst>
          </p:cNvPr>
          <p:cNvSpPr>
            <a:spLocks noGrp="1" noChangeArrowheads="1"/>
          </p:cNvSpPr>
          <p:nvPr>
            <p:ph type="hdr" sz="quarter"/>
          </p:nvPr>
        </p:nvSpPr>
        <p:spPr bwMode="auto">
          <a:xfrm>
            <a:off x="0" y="0"/>
            <a:ext cx="2943225" cy="495300"/>
          </a:xfrm>
          <a:prstGeom prst="rect">
            <a:avLst/>
          </a:prstGeom>
          <a:noFill/>
          <a:ln w="12700">
            <a:noFill/>
            <a:miter lim="800000"/>
            <a:headEnd type="none" w="sm" len="sm"/>
            <a:tailEnd type="none" w="sm" len="sm"/>
          </a:ln>
          <a:effectLst/>
        </p:spPr>
        <p:txBody>
          <a:bodyPr vert="horz" wrap="square" lIns="92602" tIns="46301" rIns="92602" bIns="46301" numCol="1" anchor="t" anchorCtr="0" compatLnSpc="1">
            <a:prstTxWarp prst="textNoShape">
              <a:avLst/>
            </a:prstTxWarp>
          </a:bodyPr>
          <a:lstStyle>
            <a:lvl1pPr defTabSz="925513">
              <a:defRPr sz="1200">
                <a:latin typeface="Arial" charset="0"/>
                <a:ea typeface="ＭＳ Ｐゴシック" charset="0"/>
                <a:cs typeface="ＭＳ Ｐゴシック" charset="0"/>
              </a:defRPr>
            </a:lvl1pPr>
          </a:lstStyle>
          <a:p>
            <a:pPr>
              <a:defRPr/>
            </a:pPr>
            <a:endParaRPr lang="en-US"/>
          </a:p>
        </p:txBody>
      </p:sp>
      <p:sp>
        <p:nvSpPr>
          <p:cNvPr id="27651" name="Rectangle 3">
            <a:extLst>
              <a:ext uri="{FF2B5EF4-FFF2-40B4-BE49-F238E27FC236}">
                <a16:creationId xmlns:a16="http://schemas.microsoft.com/office/drawing/2014/main" id="{A9472B50-7FF4-5945-937A-5BD229E3B1F6}"/>
              </a:ext>
            </a:extLst>
          </p:cNvPr>
          <p:cNvSpPr>
            <a:spLocks noGrp="1" noChangeArrowheads="1"/>
          </p:cNvSpPr>
          <p:nvPr>
            <p:ph type="dt" idx="1"/>
          </p:nvPr>
        </p:nvSpPr>
        <p:spPr bwMode="auto">
          <a:xfrm>
            <a:off x="3851275" y="0"/>
            <a:ext cx="2943225" cy="495300"/>
          </a:xfrm>
          <a:prstGeom prst="rect">
            <a:avLst/>
          </a:prstGeom>
          <a:noFill/>
          <a:ln w="12700">
            <a:noFill/>
            <a:miter lim="800000"/>
            <a:headEnd type="none" w="sm" len="sm"/>
            <a:tailEnd type="none" w="sm" len="sm"/>
          </a:ln>
          <a:effectLst/>
        </p:spPr>
        <p:txBody>
          <a:bodyPr vert="horz" wrap="square" lIns="92602" tIns="46301" rIns="92602" bIns="46301" numCol="1" anchor="t" anchorCtr="0" compatLnSpc="1">
            <a:prstTxWarp prst="textNoShape">
              <a:avLst/>
            </a:prstTxWarp>
          </a:bodyPr>
          <a:lstStyle>
            <a:lvl1pPr algn="r" defTabSz="925513">
              <a:defRPr sz="1200">
                <a:latin typeface="Arial" charset="0"/>
                <a:ea typeface="ＭＳ Ｐゴシック" charset="0"/>
                <a:cs typeface="ＭＳ Ｐゴシック" charset="0"/>
              </a:defRPr>
            </a:lvl1pPr>
          </a:lstStyle>
          <a:p>
            <a:pPr>
              <a:defRPr/>
            </a:pPr>
            <a:endParaRPr lang="en-US"/>
          </a:p>
        </p:txBody>
      </p:sp>
      <p:sp>
        <p:nvSpPr>
          <p:cNvPr id="2052" name="Rectangle 4">
            <a:extLst>
              <a:ext uri="{FF2B5EF4-FFF2-40B4-BE49-F238E27FC236}">
                <a16:creationId xmlns:a16="http://schemas.microsoft.com/office/drawing/2014/main" id="{11786CDC-65F1-1940-B4A7-2FEF43A7592F}"/>
              </a:ext>
            </a:extLst>
          </p:cNvPr>
          <p:cNvSpPr>
            <a:spLocks noGrp="1" noRot="1" noChangeAspect="1" noChangeArrowheads="1" noTextEdit="1"/>
          </p:cNvSpPr>
          <p:nvPr>
            <p:ph type="sldImg" idx="2"/>
          </p:nvPr>
        </p:nvSpPr>
        <p:spPr bwMode="auto">
          <a:xfrm>
            <a:off x="715963" y="742950"/>
            <a:ext cx="5364162" cy="3714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a:extLst>
              <a:ext uri="{FF2B5EF4-FFF2-40B4-BE49-F238E27FC236}">
                <a16:creationId xmlns:a16="http://schemas.microsoft.com/office/drawing/2014/main" id="{65815D4C-6642-0746-8307-29C45C515B05}"/>
              </a:ext>
            </a:extLst>
          </p:cNvPr>
          <p:cNvSpPr>
            <a:spLocks noGrp="1" noChangeArrowheads="1"/>
          </p:cNvSpPr>
          <p:nvPr>
            <p:ph type="body" sz="quarter" idx="3"/>
          </p:nvPr>
        </p:nvSpPr>
        <p:spPr bwMode="auto">
          <a:xfrm>
            <a:off x="906463" y="4705350"/>
            <a:ext cx="4981575" cy="4457700"/>
          </a:xfrm>
          <a:prstGeom prst="rect">
            <a:avLst/>
          </a:prstGeom>
          <a:noFill/>
          <a:ln w="12700">
            <a:noFill/>
            <a:miter lim="800000"/>
            <a:headEnd type="none" w="sm" len="sm"/>
            <a:tailEnd type="none" w="sm" len="sm"/>
          </a:ln>
          <a:effectLst/>
        </p:spPr>
        <p:txBody>
          <a:bodyPr vert="horz" wrap="square" lIns="92602" tIns="46301" rIns="92602" bIns="46301"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7654" name="Rectangle 6">
            <a:extLst>
              <a:ext uri="{FF2B5EF4-FFF2-40B4-BE49-F238E27FC236}">
                <a16:creationId xmlns:a16="http://schemas.microsoft.com/office/drawing/2014/main" id="{BD3BEF8D-3521-D44E-9B0D-8473A7DC2D7E}"/>
              </a:ext>
            </a:extLst>
          </p:cNvPr>
          <p:cNvSpPr>
            <a:spLocks noGrp="1" noChangeArrowheads="1"/>
          </p:cNvSpPr>
          <p:nvPr>
            <p:ph type="ftr" sz="quarter" idx="4"/>
          </p:nvPr>
        </p:nvSpPr>
        <p:spPr bwMode="auto">
          <a:xfrm>
            <a:off x="0" y="9410700"/>
            <a:ext cx="2943225" cy="495300"/>
          </a:xfrm>
          <a:prstGeom prst="rect">
            <a:avLst/>
          </a:prstGeom>
          <a:noFill/>
          <a:ln w="12700">
            <a:noFill/>
            <a:miter lim="800000"/>
            <a:headEnd type="none" w="sm" len="sm"/>
            <a:tailEnd type="none" w="sm" len="sm"/>
          </a:ln>
          <a:effectLst/>
        </p:spPr>
        <p:txBody>
          <a:bodyPr vert="horz" wrap="square" lIns="92602" tIns="46301" rIns="92602" bIns="46301" numCol="1" anchor="b" anchorCtr="0" compatLnSpc="1">
            <a:prstTxWarp prst="textNoShape">
              <a:avLst/>
            </a:prstTxWarp>
          </a:bodyPr>
          <a:lstStyle>
            <a:lvl1pPr defTabSz="925513">
              <a:defRPr sz="1200">
                <a:latin typeface="Arial" charset="0"/>
                <a:ea typeface="ＭＳ Ｐゴシック" charset="0"/>
                <a:cs typeface="ＭＳ Ｐゴシック" charset="0"/>
              </a:defRPr>
            </a:lvl1pPr>
          </a:lstStyle>
          <a:p>
            <a:pPr>
              <a:defRPr/>
            </a:pPr>
            <a:endParaRPr lang="en-US"/>
          </a:p>
        </p:txBody>
      </p:sp>
      <p:sp>
        <p:nvSpPr>
          <p:cNvPr id="27655" name="Rectangle 7">
            <a:extLst>
              <a:ext uri="{FF2B5EF4-FFF2-40B4-BE49-F238E27FC236}">
                <a16:creationId xmlns:a16="http://schemas.microsoft.com/office/drawing/2014/main" id="{382E900D-6BDC-CA44-8244-97D35719E1E3}"/>
              </a:ext>
            </a:extLst>
          </p:cNvPr>
          <p:cNvSpPr>
            <a:spLocks noGrp="1" noChangeArrowheads="1"/>
          </p:cNvSpPr>
          <p:nvPr>
            <p:ph type="sldNum" sz="quarter" idx="5"/>
          </p:nvPr>
        </p:nvSpPr>
        <p:spPr bwMode="auto">
          <a:xfrm>
            <a:off x="3829050" y="9129713"/>
            <a:ext cx="2066925" cy="215900"/>
          </a:xfrm>
          <a:prstGeom prst="rect">
            <a:avLst/>
          </a:prstGeom>
          <a:noFill/>
          <a:ln w="12700">
            <a:noFill/>
            <a:miter lim="800000"/>
            <a:headEnd type="none" w="sm" len="sm"/>
            <a:tailEnd type="none" w="sm" len="sm"/>
          </a:ln>
          <a:effectLst/>
        </p:spPr>
        <p:txBody>
          <a:bodyPr vert="horz" wrap="square" lIns="92602" tIns="46301" rIns="92602" bIns="46301" numCol="1" anchor="b" anchorCtr="0" compatLnSpc="1">
            <a:prstTxWarp prst="textNoShape">
              <a:avLst/>
            </a:prstTxWarp>
          </a:bodyPr>
          <a:lstStyle>
            <a:lvl1pPr algn="r" defTabSz="925513">
              <a:defRPr sz="1000">
                <a:latin typeface="Arial" charset="0"/>
                <a:ea typeface="ＭＳ Ｐゴシック" charset="-128"/>
              </a:defRPr>
            </a:lvl1pPr>
          </a:lstStyle>
          <a:p>
            <a:pPr>
              <a:defRPr/>
            </a:pPr>
            <a:fld id="{BAFC0BB1-B43D-1F40-9FD0-FDBE8107F4C8}"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fpgasoftware.intel.com/18.0/?edition=lite&amp;platform=windows"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7">
            <a:extLst>
              <a:ext uri="{FF2B5EF4-FFF2-40B4-BE49-F238E27FC236}">
                <a16:creationId xmlns:a16="http://schemas.microsoft.com/office/drawing/2014/main" id="{479A5866-724C-F347-9CAE-B0D1E141A649}"/>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3D94F275-CD4C-AE4A-BA5B-7224D5BF6FE4}" type="slidenum">
              <a:rPr lang="en-US" altLang="en-US" sz="1200" smtClean="0"/>
              <a:pPr/>
              <a:t>1</a:t>
            </a:fld>
            <a:endParaRPr lang="en-US" altLang="en-US" sz="1200"/>
          </a:p>
        </p:txBody>
      </p:sp>
      <p:sp>
        <p:nvSpPr>
          <p:cNvPr id="5122" name="Rectangle 2">
            <a:extLst>
              <a:ext uri="{FF2B5EF4-FFF2-40B4-BE49-F238E27FC236}">
                <a16:creationId xmlns:a16="http://schemas.microsoft.com/office/drawing/2014/main" id="{95A0E7D8-653C-B84E-AE39-64438446587F}"/>
              </a:ext>
            </a:extLst>
          </p:cNvPr>
          <p:cNvSpPr>
            <a:spLocks noGrp="1" noRot="1" noChangeAspect="1" noChangeArrowheads="1" noTextEdit="1"/>
          </p:cNvSpPr>
          <p:nvPr>
            <p:ph type="sldImg"/>
          </p:nvPr>
        </p:nvSpPr>
        <p:spPr>
          <a:ln/>
        </p:spPr>
      </p:sp>
      <p:sp>
        <p:nvSpPr>
          <p:cNvPr id="5123" name="Rectangle 3">
            <a:extLst>
              <a:ext uri="{FF2B5EF4-FFF2-40B4-BE49-F238E27FC236}">
                <a16:creationId xmlns:a16="http://schemas.microsoft.com/office/drawing/2014/main" id="{8DE35896-A2D2-A045-B7C1-1902509D4456}"/>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dirty="0">
                <a:ea typeface="ＭＳ Ｐゴシック" panose="020B0600070205080204" pitchFamily="34" charset="-128"/>
              </a:rPr>
              <a:t>In this lecture, we discuss how digital electronics has evolved over the years, from discrete logic to highly integrated circuits.  For this module, the digital technology that we will be focusing on is called “Field Programmable Gate Arrays” or FPGAs.  This lecture will introduce you to the idea of such digital devices, and in particular, you will learn about the particular device that you will be using for the Laboratory sessions using the DE10-Lite board provided to you through the Lab-in-a-Box.</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1325CC72-D646-A844-B422-4D4FECE9BD89}"/>
              </a:ext>
            </a:extLst>
          </p:cNvPr>
          <p:cNvSpPr>
            <a:spLocks noGrp="1" noRot="1" noChangeAspect="1" noChangeArrowheads="1" noTextEdit="1"/>
          </p:cNvSpPr>
          <p:nvPr>
            <p:ph type="sldImg"/>
          </p:nvPr>
        </p:nvSpPr>
        <p:spPr>
          <a:xfrm>
            <a:off x="715963" y="776288"/>
            <a:ext cx="5365750" cy="3714750"/>
          </a:xfrm>
          <a:ln/>
        </p:spPr>
      </p:sp>
      <p:sp>
        <p:nvSpPr>
          <p:cNvPr id="17410" name="Rectangle 3">
            <a:extLst>
              <a:ext uri="{FF2B5EF4-FFF2-40B4-BE49-F238E27FC236}">
                <a16:creationId xmlns:a16="http://schemas.microsoft.com/office/drawing/2014/main" id="{F86B9AE6-C980-DB45-ADC7-FE07D02F246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a:spcBef>
                <a:spcPts val="600"/>
              </a:spcBef>
            </a:pPr>
            <a:r>
              <a:rPr lang="en-US" altLang="en-US" sz="1100" dirty="0">
                <a:ea typeface="ＭＳ Ｐゴシック" panose="020B0600070205080204" pitchFamily="34" charset="-128"/>
              </a:rPr>
              <a:t>In the first year, you learned about the different ways of describing or specifying a digital circuit.</a:t>
            </a:r>
          </a:p>
          <a:p>
            <a:pPr>
              <a:spcBef>
                <a:spcPts val="600"/>
              </a:spcBef>
              <a:buFontTx/>
              <a:buAutoNum type="arabicPeriod"/>
            </a:pPr>
            <a:r>
              <a:rPr lang="en-US" altLang="en-US" sz="1100" b="1" dirty="0">
                <a:ea typeface="ＭＳ Ｐゴシック" panose="020B0600070205080204" pitchFamily="34" charset="-128"/>
              </a:rPr>
              <a:t> Schematic diagrams with gates </a:t>
            </a:r>
            <a:r>
              <a:rPr lang="en-US" altLang="en-US" sz="1100" dirty="0">
                <a:ea typeface="ＭＳ Ｐゴシック" panose="020B0600070205080204" pitchFamily="34" charset="-128"/>
              </a:rPr>
              <a:t>– this method is the first thing you learned and it is easy to understand.  However, as will be seen in Lecture 3, this is not necessarily the best way to specify a large digital system.</a:t>
            </a:r>
          </a:p>
          <a:p>
            <a:pPr>
              <a:spcBef>
                <a:spcPts val="600"/>
              </a:spcBef>
              <a:buFontTx/>
              <a:buAutoNum type="arabicPeriod"/>
            </a:pPr>
            <a:r>
              <a:rPr lang="en-US" altLang="en-US" sz="1100" b="1" dirty="0">
                <a:ea typeface="ＭＳ Ｐゴシック" panose="020B0600070205080204" pitchFamily="34" charset="-128"/>
              </a:rPr>
              <a:t> Boolean equations </a:t>
            </a:r>
            <a:r>
              <a:rPr lang="en-US" altLang="en-US" sz="1100" dirty="0">
                <a:ea typeface="ＭＳ Ｐゴシック" panose="020B0600070205080204" pitchFamily="34" charset="-128"/>
              </a:rPr>
              <a:t>– this provides a formal way to express logical relationships between Boolean variables.  Useful when designing on paper, but less useful in practice.  In particular, we rarely use Boolean algebra to perform logic simplification in real-life!</a:t>
            </a:r>
          </a:p>
          <a:p>
            <a:pPr>
              <a:spcBef>
                <a:spcPts val="600"/>
              </a:spcBef>
              <a:buFontTx/>
              <a:buAutoNum type="arabicPeriod"/>
            </a:pPr>
            <a:r>
              <a:rPr lang="en-US" altLang="en-US" sz="1100" b="1" dirty="0">
                <a:ea typeface="ＭＳ Ｐゴシック" panose="020B0600070205080204" pitchFamily="34" charset="-128"/>
              </a:rPr>
              <a:t> Truth Tables </a:t>
            </a:r>
            <a:r>
              <a:rPr lang="en-US" altLang="en-US" sz="1100" dirty="0">
                <a:ea typeface="ＭＳ Ｐゴシック" panose="020B0600070205080204" pitchFamily="34" charset="-128"/>
              </a:rPr>
              <a:t>– this is a universal way to describe the behaviour of a circuit and we continue to use this in datasheets or even in actual designs.</a:t>
            </a:r>
          </a:p>
          <a:p>
            <a:pPr>
              <a:spcBef>
                <a:spcPts val="600"/>
              </a:spcBef>
              <a:buFontTx/>
              <a:buAutoNum type="arabicPeriod"/>
            </a:pPr>
            <a:r>
              <a:rPr lang="en-US" altLang="en-US" sz="1100" b="1" dirty="0">
                <a:ea typeface="ＭＳ Ｐゴシック" panose="020B0600070205080204" pitchFamily="34" charset="-128"/>
              </a:rPr>
              <a:t> Timing diagrams </a:t>
            </a:r>
            <a:r>
              <a:rPr lang="en-US" altLang="en-US" sz="1100" dirty="0">
                <a:ea typeface="ＭＳ Ｐゴシック" panose="020B0600070205080204" pitchFamily="34" charset="-128"/>
              </a:rPr>
              <a:t>– this is a useful way to explain behaviour of sequential circuits and is used in datasheets.  However, not that useful as a method to specify a circuit in a CAD system.</a:t>
            </a:r>
          </a:p>
          <a:p>
            <a:pPr>
              <a:spcBef>
                <a:spcPts val="600"/>
              </a:spcBef>
              <a:buFontTx/>
              <a:buAutoNum type="arabicPeriod"/>
            </a:pPr>
            <a:r>
              <a:rPr lang="en-US" altLang="en-US" sz="1100" b="1" dirty="0">
                <a:ea typeface="ＭＳ Ｐゴシック" panose="020B0600070205080204" pitchFamily="34" charset="-128"/>
              </a:rPr>
              <a:t> Hardware Description Languages (HDLs) </a:t>
            </a:r>
            <a:r>
              <a:rPr lang="en-US" altLang="en-US" sz="1100" dirty="0">
                <a:ea typeface="ＭＳ Ｐゴシック" panose="020B0600070205080204" pitchFamily="34" charset="-128"/>
              </a:rPr>
              <a:t>– you have already done a bit of this last year. HDL is the way that most digital designs are specified nowadays. For this course, we will be using Verilog HDL, which is one that is very closed to the C language. It is also used extensively for designing integrated circuits such as ASICs and other type of chips.  It is also popular in North America and in Asia. </a:t>
            </a:r>
          </a:p>
          <a:p>
            <a:pPr>
              <a:spcBef>
                <a:spcPts val="600"/>
              </a:spcBef>
            </a:pPr>
            <a:r>
              <a:rPr lang="en-US" altLang="en-US" sz="1100" dirty="0">
                <a:ea typeface="ＭＳ Ｐゴシック" panose="020B0600070205080204" pitchFamily="34" charset="-128"/>
              </a:rPr>
              <a:t>Another popular HDL is VHDL. I personally find VHDL too wordy (verbose).  Finally, there are now emerging higher level languages such as OpenCL, which is an </a:t>
            </a:r>
            <a:r>
              <a:rPr lang="en-US" altLang="en-US" sz="1100" dirty="0" err="1">
                <a:ea typeface="ＭＳ Ｐゴシック" panose="020B0600070205080204" pitchFamily="34" charset="-128"/>
              </a:rPr>
              <a:t>attemp</a:t>
            </a:r>
            <a:r>
              <a:rPr lang="en-US" altLang="en-US" sz="1100" dirty="0">
                <a:ea typeface="ＭＳ Ｐゴシック" panose="020B0600070205080204" pitchFamily="34" charset="-128"/>
              </a:rPr>
              <a:t> to make hardware design more like programming a computer.  This topic is left to later years.</a:t>
            </a:r>
            <a:endParaRPr lang="en-US" altLang="en-US" dirty="0">
              <a:ea typeface="ＭＳ Ｐゴシック" panose="020B0600070205080204" pitchFamily="34" charset="-128"/>
            </a:endParaRPr>
          </a:p>
          <a:p>
            <a:pPr>
              <a:buFontTx/>
              <a:buAutoNum type="arabicPeriod"/>
            </a:pPr>
            <a:endParaRPr lang="en-US" altLang="en-US" dirty="0">
              <a:ea typeface="ＭＳ Ｐゴシック" panose="020B0600070205080204" pitchFamily="34" charset="-128"/>
            </a:endParaRPr>
          </a:p>
        </p:txBody>
      </p:sp>
      <p:sp>
        <p:nvSpPr>
          <p:cNvPr id="17411" name="Slide Number Placeholder 1">
            <a:extLst>
              <a:ext uri="{FF2B5EF4-FFF2-40B4-BE49-F238E27FC236}">
                <a16:creationId xmlns:a16="http://schemas.microsoft.com/office/drawing/2014/main" id="{EE6B4FBD-9BB9-C542-999D-FB0DAE93ED28}"/>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C138223C-C6D9-5348-B723-F820AA89252C}" type="slidenum">
              <a:rPr lang="en-US" altLang="en-US" sz="1000" smtClean="0"/>
              <a:pPr/>
              <a:t>2</a:t>
            </a:fld>
            <a:endParaRPr lang="en-US" altLang="en-US" sz="1000"/>
          </a:p>
        </p:txBody>
      </p:sp>
    </p:spTree>
    <p:extLst>
      <p:ext uri="{BB962C8B-B14F-4D97-AF65-F5344CB8AC3E}">
        <p14:creationId xmlns:p14="http://schemas.microsoft.com/office/powerpoint/2010/main" val="30840650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AA5A4360-52CE-D349-845B-A271A3B3DF33}"/>
              </a:ext>
            </a:extLst>
          </p:cNvPr>
          <p:cNvSpPr>
            <a:spLocks noGrp="1" noRot="1" noChangeAspect="1" noChangeArrowheads="1" noTextEdit="1"/>
          </p:cNvSpPr>
          <p:nvPr>
            <p:ph type="sldImg"/>
          </p:nvPr>
        </p:nvSpPr>
        <p:spPr>
          <a:xfrm>
            <a:off x="714375" y="742950"/>
            <a:ext cx="5365750" cy="3714750"/>
          </a:xfrm>
          <a:ln/>
        </p:spPr>
      </p:sp>
      <p:sp>
        <p:nvSpPr>
          <p:cNvPr id="19458" name="Rectangle 3">
            <a:extLst>
              <a:ext uri="{FF2B5EF4-FFF2-40B4-BE49-F238E27FC236}">
                <a16:creationId xmlns:a16="http://schemas.microsoft.com/office/drawing/2014/main" id="{4213977C-C71E-6347-AEEC-AF646C0A88AC}"/>
              </a:ext>
            </a:extLst>
          </p:cNvPr>
          <p:cNvSpPr>
            <a:spLocks noGrp="1" noChangeArrowheads="1"/>
          </p:cNvSpPr>
          <p:nvPr>
            <p:ph type="body" idx="1"/>
          </p:nvPr>
        </p:nvSpPr>
        <p:spPr>
          <a:xfrm>
            <a:off x="733425" y="4600575"/>
            <a:ext cx="5346700" cy="44577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pPr>
              <a:spcBef>
                <a:spcPts val="400"/>
              </a:spcBef>
            </a:pPr>
            <a:r>
              <a:rPr lang="en-US" altLang="en-US" sz="1100" dirty="0">
                <a:ea typeface="ＭＳ Ｐゴシック" panose="020B0600070205080204" pitchFamily="34" charset="-128"/>
              </a:rPr>
              <a:t>You have also learned about the various building blocks for digital electronics. </a:t>
            </a:r>
          </a:p>
          <a:p>
            <a:pPr>
              <a:spcBef>
                <a:spcPts val="400"/>
              </a:spcBef>
              <a:buFontTx/>
              <a:buAutoNum type="arabicPeriod"/>
            </a:pPr>
            <a:r>
              <a:rPr lang="en-US" altLang="en-US" sz="1100" b="1" dirty="0">
                <a:ea typeface="ＭＳ Ｐゴシック" panose="020B0600070205080204" pitchFamily="34" charset="-128"/>
              </a:rPr>
              <a:t> Primitive gates </a:t>
            </a:r>
            <a:r>
              <a:rPr lang="en-US" altLang="en-US" sz="1100" dirty="0">
                <a:ea typeface="ＭＳ Ｐゴシック" panose="020B0600070205080204" pitchFamily="34" charset="-128"/>
              </a:rPr>
              <a:t>– We have the basic AND, OR, NAND, NOR, XOR and XNOR gates.</a:t>
            </a:r>
          </a:p>
          <a:p>
            <a:pPr>
              <a:spcBef>
                <a:spcPts val="400"/>
              </a:spcBef>
              <a:buFontTx/>
              <a:buAutoNum type="arabicPeriod"/>
            </a:pPr>
            <a:r>
              <a:rPr lang="en-US" altLang="en-US" sz="1100" b="1" dirty="0">
                <a:ea typeface="ＭＳ Ｐゴシック" panose="020B0600070205080204" pitchFamily="34" charset="-128"/>
              </a:rPr>
              <a:t> Multiplexers MUXs </a:t>
            </a:r>
            <a:r>
              <a:rPr lang="en-US" altLang="en-US" sz="1100" dirty="0">
                <a:ea typeface="ＭＳ Ｐゴシック" panose="020B0600070205080204" pitchFamily="34" charset="-128"/>
              </a:rPr>
              <a:t>– These are really useful component. Shown here is a 2-to-1 MUX with two data inputs and one select input.  The output is one or the other depending on the select input (</a:t>
            </a:r>
            <a:r>
              <a:rPr lang="en-US" altLang="en-US" sz="1100" dirty="0" err="1">
                <a:ea typeface="ＭＳ Ｐゴシック" panose="020B0600070205080204" pitchFamily="34" charset="-128"/>
              </a:rPr>
              <a:t>sel</a:t>
            </a:r>
            <a:r>
              <a:rPr lang="en-US" altLang="en-US" sz="1100" dirty="0">
                <a:ea typeface="ＭＳ Ｐゴシック" panose="020B0600070205080204" pitchFamily="34" charset="-128"/>
              </a:rPr>
              <a:t>).  We often put a number of these together to provide multiplexing function to a multi-bit data word (as shown here with two 3-bit numbers).</a:t>
            </a:r>
          </a:p>
          <a:p>
            <a:pPr>
              <a:spcBef>
                <a:spcPts val="400"/>
              </a:spcBef>
              <a:buFontTx/>
              <a:buAutoNum type="arabicPeriod"/>
            </a:pPr>
            <a:r>
              <a:rPr lang="en-US" altLang="en-US" sz="1100" b="1" dirty="0">
                <a:ea typeface="ＭＳ Ｐゴシック" panose="020B0600070205080204" pitchFamily="34" charset="-128"/>
              </a:rPr>
              <a:t> Arithmetic circuits </a:t>
            </a:r>
            <a:r>
              <a:rPr lang="en-US" altLang="en-US" sz="1100" dirty="0">
                <a:ea typeface="ＭＳ Ｐゴシック" panose="020B0600070205080204" pitchFamily="34" charset="-128"/>
              </a:rPr>
              <a:t>– Commonly found are adders and multipliers.  Subtractor can be built from an adder if we use 2’s complement representation of signed integers.</a:t>
            </a:r>
          </a:p>
          <a:p>
            <a:pPr>
              <a:spcBef>
                <a:spcPts val="400"/>
              </a:spcBef>
              <a:buFontTx/>
              <a:buAutoNum type="arabicPeriod"/>
            </a:pPr>
            <a:r>
              <a:rPr lang="en-US" altLang="en-US" sz="1100" b="1" dirty="0">
                <a:ea typeface="ＭＳ Ｐゴシック" panose="020B0600070205080204" pitchFamily="34" charset="-128"/>
              </a:rPr>
              <a:t> Encoders/Decoders </a:t>
            </a:r>
            <a:r>
              <a:rPr lang="en-US" altLang="en-US" sz="1100" dirty="0">
                <a:ea typeface="ＭＳ Ｐゴシック" panose="020B0600070205080204" pitchFamily="34" charset="-128"/>
              </a:rPr>
              <a:t>– These two are related.  </a:t>
            </a:r>
            <a:r>
              <a:rPr lang="en-US" altLang="en-US" sz="1100" b="1" dirty="0">
                <a:ea typeface="ＭＳ Ｐゴシック" panose="020B0600070205080204" pitchFamily="34" charset="-128"/>
              </a:rPr>
              <a:t>Encoding</a:t>
            </a:r>
            <a:r>
              <a:rPr lang="en-US" altLang="en-US" sz="1100" dirty="0">
                <a:ea typeface="ＭＳ Ｐゴシック" panose="020B0600070205080204" pitchFamily="34" charset="-128"/>
              </a:rPr>
              <a:t> is a logic module that reduces  (encodes) a large number of bits and produces fewer output bits.  </a:t>
            </a:r>
            <a:r>
              <a:rPr lang="en-US" altLang="en-US" sz="1100" b="1" dirty="0">
                <a:ea typeface="ＭＳ Ｐゴシック" panose="020B0600070205080204" pitchFamily="34" charset="-128"/>
              </a:rPr>
              <a:t>Decoders</a:t>
            </a:r>
            <a:r>
              <a:rPr lang="en-US" altLang="en-US" sz="1100" dirty="0">
                <a:ea typeface="ＭＳ Ｐゴシック" panose="020B0600070205080204" pitchFamily="34" charset="-128"/>
              </a:rPr>
              <a:t> are the opposite.  Shown here is a 7-segment display decoder, where 4 input bits are decoded into 7 logic signals to drive the seven segments of the display.  The </a:t>
            </a:r>
            <a:r>
              <a:rPr lang="en-US" altLang="en-US" sz="1100" b="1" dirty="0">
                <a:ea typeface="ＭＳ Ｐゴシック" panose="020B0600070205080204" pitchFamily="34" charset="-128"/>
              </a:rPr>
              <a:t>encoder</a:t>
            </a:r>
            <a:r>
              <a:rPr lang="en-US" altLang="en-US" sz="1100" dirty="0">
                <a:ea typeface="ＭＳ Ｐゴシック" panose="020B0600070205080204" pitchFamily="34" charset="-128"/>
              </a:rPr>
              <a:t> here is known as a </a:t>
            </a:r>
            <a:r>
              <a:rPr lang="en-US" altLang="en-US" sz="1100" b="1" dirty="0">
                <a:ea typeface="ＭＳ Ｐゴシック" panose="020B0600070205080204" pitchFamily="34" charset="-128"/>
              </a:rPr>
              <a:t>priority encoder</a:t>
            </a:r>
            <a:r>
              <a:rPr lang="en-US" altLang="en-US" sz="1100" dirty="0">
                <a:ea typeface="ＭＳ Ｐゴシック" panose="020B0600070205080204" pitchFamily="34" charset="-128"/>
              </a:rPr>
              <a:t>.  It produces a 3-bit output showing where the first ‘1’ is encounters from the most-significant bit D7 to the least significant bit D0.</a:t>
            </a:r>
          </a:p>
          <a:p>
            <a:pPr>
              <a:spcBef>
                <a:spcPts val="400"/>
              </a:spcBef>
              <a:buFontTx/>
              <a:buAutoNum type="arabicPeriod"/>
            </a:pPr>
            <a:r>
              <a:rPr lang="en-US" altLang="en-US" sz="1100" b="1" dirty="0">
                <a:ea typeface="ＭＳ Ｐゴシック" panose="020B0600070205080204" pitchFamily="34" charset="-128"/>
              </a:rPr>
              <a:t> Flipflops and Registers </a:t>
            </a:r>
            <a:r>
              <a:rPr lang="en-US" altLang="en-US" sz="1100" dirty="0">
                <a:ea typeface="ＭＳ Ｐゴシック" panose="020B0600070205080204" pitchFamily="34" charset="-128"/>
              </a:rPr>
              <a:t>– These are the building blocks for all sequential circuits. As will be seen later, we really only use one type of flipflop – the D-FF.</a:t>
            </a:r>
          </a:p>
          <a:p>
            <a:pPr>
              <a:spcBef>
                <a:spcPts val="400"/>
              </a:spcBef>
            </a:pPr>
            <a:r>
              <a:rPr lang="en-US" altLang="en-US" sz="1100" dirty="0">
                <a:ea typeface="ＭＳ Ｐゴシック" panose="020B0600070205080204" pitchFamily="34" charset="-128"/>
              </a:rPr>
              <a:t>These are all important components that all digital circuit designers need to be familiar with.  However, nowadays, we rarely design large digital systems at such low levels. Instead we generally try to express these building blocks in a more abstract manner in a hardware description language (as we will see in later lectures).</a:t>
            </a:r>
          </a:p>
          <a:p>
            <a:pPr>
              <a:spcBef>
                <a:spcPts val="400"/>
              </a:spcBef>
            </a:pPr>
            <a:r>
              <a:rPr lang="en-US" altLang="en-US" sz="1100" dirty="0">
                <a:ea typeface="ＭＳ Ｐゴシック" panose="020B0600070205080204" pitchFamily="34" charset="-128"/>
              </a:rPr>
              <a:t>In addition to these basic blocks, we also have memory devices and processor blocks. These are topics that we will cover towards the end of this module.</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19459" name="Slide Number Placeholder 1">
            <a:extLst>
              <a:ext uri="{FF2B5EF4-FFF2-40B4-BE49-F238E27FC236}">
                <a16:creationId xmlns:a16="http://schemas.microsoft.com/office/drawing/2014/main" id="{912017B7-A721-B147-A490-12F8191103D1}"/>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F73E22F5-3A20-E240-B958-0756EB7FE9AC}" type="slidenum">
              <a:rPr lang="en-US" altLang="en-US" sz="1000" smtClean="0"/>
              <a:pPr/>
              <a:t>3</a:t>
            </a:fld>
            <a:endParaRPr lang="en-US" altLang="en-US" sz="1000"/>
          </a:p>
        </p:txBody>
      </p:sp>
    </p:spTree>
    <p:extLst>
      <p:ext uri="{BB962C8B-B14F-4D97-AF65-F5344CB8AC3E}">
        <p14:creationId xmlns:p14="http://schemas.microsoft.com/office/powerpoint/2010/main" val="2461964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4A6E794C-8EB1-7948-84CC-11A1344A2754}"/>
              </a:ext>
            </a:extLst>
          </p:cNvPr>
          <p:cNvSpPr>
            <a:spLocks noGrp="1" noRot="1" noChangeAspect="1" noChangeArrowheads="1" noTextEdit="1"/>
          </p:cNvSpPr>
          <p:nvPr>
            <p:ph type="sldImg"/>
          </p:nvPr>
        </p:nvSpPr>
        <p:spPr>
          <a:xfrm>
            <a:off x="714375" y="742950"/>
            <a:ext cx="5365750" cy="3714750"/>
          </a:xfrm>
          <a:ln/>
        </p:spPr>
      </p:sp>
      <p:sp>
        <p:nvSpPr>
          <p:cNvPr id="21506" name="Rectangle 3">
            <a:extLst>
              <a:ext uri="{FF2B5EF4-FFF2-40B4-BE49-F238E27FC236}">
                <a16:creationId xmlns:a16="http://schemas.microsoft.com/office/drawing/2014/main" id="{C6656BCE-530B-1140-A783-A6D2DA35EC0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dirty="0">
                <a:ea typeface="ＭＳ Ｐゴシック" panose="020B0600070205080204" pitchFamily="34" charset="-128"/>
              </a:rPr>
              <a:t>All digital circuits exhibit propagation delays.  Here it shows the delay table for a “</a:t>
            </a:r>
            <a:r>
              <a:rPr lang="en-US" altLang="en-US" sz="1100" b="1" dirty="0">
                <a:ea typeface="ＭＳ Ｐゴシック" panose="020B0600070205080204" pitchFamily="34" charset="-128"/>
              </a:rPr>
              <a:t>discrete logic</a:t>
            </a:r>
            <a:r>
              <a:rPr lang="en-US" altLang="en-US" sz="1100" dirty="0">
                <a:ea typeface="ＭＳ Ｐゴシック" panose="020B0600070205080204" pitchFamily="34" charset="-128"/>
              </a:rPr>
              <a:t>” CMOS NAND gate.  The delay could be in the region of nanoseconds.  However, with the FPGA chips we use for this module, the internal “gate” propagation delay are in tens of picoseconds, which is much faster than discrete logic.  As can be seen later, the “gates” inside the FPGA are also much more complex than a simple NAND gate.  In fact, they are not gates at all!</a:t>
            </a:r>
          </a:p>
          <a:p>
            <a:endParaRPr lang="en-US" altLang="en-US" sz="1100" dirty="0">
              <a:ea typeface="ＭＳ Ｐゴシック" panose="020B0600070205080204" pitchFamily="34" charset="-128"/>
            </a:endParaRPr>
          </a:p>
          <a:p>
            <a:r>
              <a:rPr lang="en-US" altLang="en-US" sz="1100" dirty="0">
                <a:ea typeface="ＭＳ Ｐゴシック" panose="020B0600070205080204" pitchFamily="34" charset="-128"/>
              </a:rPr>
              <a:t>Also note that propagation delay depends on the “</a:t>
            </a:r>
            <a:r>
              <a:rPr lang="en-US" altLang="en-US" sz="1100" b="1" dirty="0">
                <a:ea typeface="ＭＳ Ｐゴシック" panose="020B0600070205080204" pitchFamily="34" charset="-128"/>
              </a:rPr>
              <a:t>cause</a:t>
            </a:r>
            <a:r>
              <a:rPr lang="en-US" altLang="en-US" sz="1100" dirty="0">
                <a:ea typeface="ＭＳ Ｐゴシック" panose="020B0600070205080204" pitchFamily="34" charset="-128"/>
              </a:rPr>
              <a:t>” (input rising or falling, and on the gradient of the edges) and the “</a:t>
            </a:r>
            <a:r>
              <a:rPr lang="en-US" altLang="en-US" sz="1100" b="1" dirty="0">
                <a:ea typeface="ＭＳ Ｐゴシック" panose="020B0600070205080204" pitchFamily="34" charset="-128"/>
              </a:rPr>
              <a:t>effect</a:t>
            </a:r>
            <a:r>
              <a:rPr lang="en-US" altLang="en-US" sz="1100" dirty="0">
                <a:ea typeface="ＭＳ Ｐゴシック" panose="020B0600070205080204" pitchFamily="34" charset="-128"/>
              </a:rPr>
              <a:t>” (output rising or falling).  Delay also depends on what are connected to the output (i.e. the loading).  As can be seen in the example here, the rising edge A to falling edge X delay is lower than that of A falling to X rising.</a:t>
            </a:r>
          </a:p>
          <a:p>
            <a:endParaRPr lang="en-US" altLang="en-US" sz="1100" dirty="0">
              <a:ea typeface="ＭＳ Ｐゴシック" panose="020B0600070205080204" pitchFamily="34" charset="-128"/>
            </a:endParaRPr>
          </a:p>
          <a:p>
            <a:r>
              <a:rPr lang="en-US" altLang="en-US" sz="1100" dirty="0">
                <a:ea typeface="ＭＳ Ｐゴシック" panose="020B0600070205080204" pitchFamily="34" charset="-128"/>
              </a:rPr>
              <a:t>Note that I use an arrow to indicate the cause (the blunt end) and the effect (the pointed end) in a timing diagram.</a:t>
            </a:r>
          </a:p>
        </p:txBody>
      </p:sp>
      <p:sp>
        <p:nvSpPr>
          <p:cNvPr id="21507" name="Slide Number Placeholder 1">
            <a:extLst>
              <a:ext uri="{FF2B5EF4-FFF2-40B4-BE49-F238E27FC236}">
                <a16:creationId xmlns:a16="http://schemas.microsoft.com/office/drawing/2014/main" id="{AE118FDE-EDAE-D942-BFD4-1F6AD5ABBD65}"/>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46AC31F5-43A0-BF47-94E7-E31E567C6C6B}" type="slidenum">
              <a:rPr lang="en-US" altLang="en-US" sz="1000" smtClean="0"/>
              <a:pPr/>
              <a:t>4</a:t>
            </a:fld>
            <a:endParaRPr lang="en-US" altLang="en-US" sz="1000"/>
          </a:p>
        </p:txBody>
      </p:sp>
    </p:spTree>
    <p:extLst>
      <p:ext uri="{BB962C8B-B14F-4D97-AF65-F5344CB8AC3E}">
        <p14:creationId xmlns:p14="http://schemas.microsoft.com/office/powerpoint/2010/main" val="25311184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852BFEE7-D41F-DD41-80A2-1A0D0F95B48E}"/>
              </a:ext>
            </a:extLst>
          </p:cNvPr>
          <p:cNvSpPr>
            <a:spLocks noGrp="1" noRot="1" noChangeAspect="1" noChangeArrowheads="1" noTextEdit="1"/>
          </p:cNvSpPr>
          <p:nvPr>
            <p:ph type="sldImg"/>
          </p:nvPr>
        </p:nvSpPr>
        <p:spPr>
          <a:xfrm>
            <a:off x="804863" y="849313"/>
            <a:ext cx="5365750" cy="3714750"/>
          </a:xfrm>
          <a:ln/>
        </p:spPr>
      </p:sp>
      <p:sp>
        <p:nvSpPr>
          <p:cNvPr id="23554" name="Rectangle 3">
            <a:extLst>
              <a:ext uri="{FF2B5EF4-FFF2-40B4-BE49-F238E27FC236}">
                <a16:creationId xmlns:a16="http://schemas.microsoft.com/office/drawing/2014/main" id="{8940DC7A-A619-D842-9643-A5AEE6CCFFC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You learned about various types of flipflops (FFs) in the first year.  In fact, all you need is the D-FF.  With a D-FF, you can construct circuits to behave like various types of flipflops: Toggle (T-FF), set-reset (SR-FF) or a JK-FF.</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Therefore in this course, we will ONLY use D-FF for everything.  This is in fact what happens in practical designs.</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We use the IEEE standards for the symbol here.  C mean clock input, the number 1 is a numerical label (as clock 1).  D is for data input, and 1D means this input is controlled by input 1.  Q is the flipflop output.</a:t>
            </a:r>
          </a:p>
          <a:p>
            <a:endParaRPr lang="en-US" altLang="en-US" sz="1100">
              <a:ea typeface="ＭＳ Ｐゴシック" panose="020B0600070205080204" pitchFamily="34" charset="-128"/>
            </a:endParaRPr>
          </a:p>
          <a:p>
            <a:endParaRPr lang="en-US" altLang="en-US" sz="1100">
              <a:ea typeface="ＭＳ Ｐゴシック" panose="020B0600070205080204" pitchFamily="34" charset="-128"/>
            </a:endParaRPr>
          </a:p>
          <a:p>
            <a:endParaRPr lang="en-US" altLang="en-US" sz="1100">
              <a:ea typeface="ＭＳ Ｐゴシック" panose="020B0600070205080204" pitchFamily="34" charset="-128"/>
            </a:endParaRPr>
          </a:p>
          <a:p>
            <a:endParaRPr lang="en-US" altLang="en-US" sz="1100">
              <a:ea typeface="ＭＳ Ｐゴシック" panose="020B0600070205080204" pitchFamily="34" charset="-128"/>
            </a:endParaRPr>
          </a:p>
        </p:txBody>
      </p:sp>
      <p:sp>
        <p:nvSpPr>
          <p:cNvPr id="23555" name="Slide Number Placeholder 1">
            <a:extLst>
              <a:ext uri="{FF2B5EF4-FFF2-40B4-BE49-F238E27FC236}">
                <a16:creationId xmlns:a16="http://schemas.microsoft.com/office/drawing/2014/main" id="{BD08AB3A-858B-4846-A2E7-0FB18A8DC450}"/>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3F737071-0D6C-6F43-A04E-79CBF146FD72}" type="slidenum">
              <a:rPr lang="en-US" altLang="en-US" sz="1000" smtClean="0"/>
              <a:pPr/>
              <a:t>5</a:t>
            </a:fld>
            <a:endParaRPr lang="en-US" altLang="en-US" sz="1000"/>
          </a:p>
        </p:txBody>
      </p:sp>
    </p:spTree>
    <p:extLst>
      <p:ext uri="{BB962C8B-B14F-4D97-AF65-F5344CB8AC3E}">
        <p14:creationId xmlns:p14="http://schemas.microsoft.com/office/powerpoint/2010/main" val="2362584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324FB029-A17B-DF4A-9851-BD1A932189DD}"/>
              </a:ext>
            </a:extLst>
          </p:cNvPr>
          <p:cNvSpPr>
            <a:spLocks noGrp="1" noRot="1" noChangeAspect="1" noChangeArrowheads="1" noTextEdit="1"/>
          </p:cNvSpPr>
          <p:nvPr>
            <p:ph type="sldImg"/>
          </p:nvPr>
        </p:nvSpPr>
        <p:spPr>
          <a:xfrm>
            <a:off x="714375" y="742950"/>
            <a:ext cx="5365750" cy="3714750"/>
          </a:xfrm>
          <a:ln/>
        </p:spPr>
      </p:sp>
      <p:sp>
        <p:nvSpPr>
          <p:cNvPr id="25602" name="Rectangle 3">
            <a:extLst>
              <a:ext uri="{FF2B5EF4-FFF2-40B4-BE49-F238E27FC236}">
                <a16:creationId xmlns:a16="http://schemas.microsoft.com/office/drawing/2014/main" id="{02B89327-763C-C049-8321-AA413F9DA18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Timing and delay parameters for flipflop is different from that with gates.  Shown here is a D-FF that responses to a rising edge on the clock signal.  A D-FF is like a camera, taking a “picture” from the scene (input is D).  The clock input C1 is like the trigger on the camera – when pressed it samples the input and take a picture.  The “cause” here is the rising edge of the CLOCK and the “effect” is the Q output sampling the D input, and keep the value until the next rising edge of the clock.</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The delay here is from CLOCK rising edge to Q output changing.  However, for the D-FF to work properly, there are two other timing parameters which are important: the </a:t>
            </a:r>
            <a:r>
              <a:rPr lang="en-US" altLang="en-US" sz="1100" b="1">
                <a:ea typeface="ＭＳ Ｐゴシック" panose="020B0600070205080204" pitchFamily="34" charset="-128"/>
              </a:rPr>
              <a:t>setup time </a:t>
            </a:r>
            <a:r>
              <a:rPr lang="en-US" altLang="en-US" sz="1100">
                <a:ea typeface="ＭＳ Ｐゴシック" panose="020B0600070205080204" pitchFamily="34" charset="-128"/>
              </a:rPr>
              <a:t>and the </a:t>
            </a:r>
            <a:r>
              <a:rPr lang="en-US" altLang="en-US" sz="1100" b="1">
                <a:ea typeface="ＭＳ Ｐゴシック" panose="020B0600070205080204" pitchFamily="34" charset="-128"/>
              </a:rPr>
              <a:t>hold time</a:t>
            </a:r>
            <a:r>
              <a:rPr lang="en-US" altLang="en-US" sz="1100">
                <a:ea typeface="ＭＳ Ｐゴシック" panose="020B0600070205080204" pitchFamily="34" charset="-128"/>
              </a:rPr>
              <a:t>.  I will be talking about these in a later lecture.</a:t>
            </a:r>
          </a:p>
          <a:p>
            <a:endParaRPr lang="en-US" altLang="en-US" sz="1100">
              <a:ea typeface="ＭＳ Ｐゴシック" panose="020B0600070205080204" pitchFamily="34" charset="-128"/>
            </a:endParaRPr>
          </a:p>
        </p:txBody>
      </p:sp>
      <p:sp>
        <p:nvSpPr>
          <p:cNvPr id="25603" name="Slide Number Placeholder 1">
            <a:extLst>
              <a:ext uri="{FF2B5EF4-FFF2-40B4-BE49-F238E27FC236}">
                <a16:creationId xmlns:a16="http://schemas.microsoft.com/office/drawing/2014/main" id="{943964F7-BE42-594B-AC4A-BC7811C94D80}"/>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31B6D1EE-C34F-A443-880A-87979ADABCE6}" type="slidenum">
              <a:rPr lang="en-US" altLang="en-US" sz="1000" smtClean="0"/>
              <a:pPr/>
              <a:t>6</a:t>
            </a:fld>
            <a:endParaRPr lang="en-US" altLang="en-US" sz="1000"/>
          </a:p>
        </p:txBody>
      </p:sp>
    </p:spTree>
    <p:extLst>
      <p:ext uri="{BB962C8B-B14F-4D97-AF65-F5344CB8AC3E}">
        <p14:creationId xmlns:p14="http://schemas.microsoft.com/office/powerpoint/2010/main" val="2243305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CF435655-4C7B-9E47-AD19-4EAF627588DF}"/>
              </a:ext>
            </a:extLst>
          </p:cNvPr>
          <p:cNvSpPr>
            <a:spLocks noGrp="1" noRot="1" noChangeAspect="1" noChangeArrowheads="1" noTextEdit="1"/>
          </p:cNvSpPr>
          <p:nvPr>
            <p:ph type="sldImg"/>
          </p:nvPr>
        </p:nvSpPr>
        <p:spPr>
          <a:xfrm>
            <a:off x="714375" y="742950"/>
            <a:ext cx="5365750" cy="3714750"/>
          </a:xfrm>
          <a:ln/>
        </p:spPr>
      </p:sp>
      <p:sp>
        <p:nvSpPr>
          <p:cNvPr id="27650" name="Rectangle 3">
            <a:extLst>
              <a:ext uri="{FF2B5EF4-FFF2-40B4-BE49-F238E27FC236}">
                <a16:creationId xmlns:a16="http://schemas.microsoft.com/office/drawing/2014/main" id="{82F8F3A5-5447-564F-B796-D44C26A0A5E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Here is an example of a D-FF used in a ripple counter.  </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Q0 value is first inverted (represented by the triangle) and then used as D input on the next clock cycle.  The flipflop is triggered on the FALLING edge of CLOCK.  Therefore the Q output “TOGGLES” on each active edge of the clock (i.e. falling edge).   Q0 is therefore changing at half the rate of CLOCK, hence this flipflop acts as a divide-by-2 circuit.  </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The Q0 signal is now used as clock input to the next D-FF.  Hence Q1 is toggling at half the frequency of Q0.   The circuit is effectively a binary counter. </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This is a simple finite state machine (FSM) because it has 8 states which cycles through in a sequence.  FSM will be covered in some later lectures in details and it is a very important topic in digital designs.</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We then use the Q0 output as the clock input the next stage etc.    Note that because the 2</a:t>
            </a:r>
            <a:r>
              <a:rPr lang="en-US" altLang="en-US" sz="1100" baseline="30000">
                <a:ea typeface="ＭＳ Ｐゴシック" panose="020B0600070205080204" pitchFamily="34" charset="-128"/>
              </a:rPr>
              <a:t>nd</a:t>
            </a:r>
            <a:r>
              <a:rPr lang="en-US" altLang="en-US" sz="1100">
                <a:ea typeface="ＭＳ Ｐゴシック" panose="020B0600070205080204" pitchFamily="34" charset="-128"/>
              </a:rPr>
              <a:t> stage only starts to work once the first stage is completed, the propagation of effects “ripples” through the circuit – hence we call this a “</a:t>
            </a:r>
            <a:r>
              <a:rPr lang="en-US" altLang="ja-JP" sz="1100">
                <a:ea typeface="ＭＳ Ｐゴシック" panose="020B0600070205080204" pitchFamily="34" charset="-128"/>
              </a:rPr>
              <a:t>ripple counter</a:t>
            </a:r>
            <a:r>
              <a:rPr lang="en-US" altLang="en-US" sz="1100">
                <a:ea typeface="ＭＳ Ｐゴシック" panose="020B0600070205080204" pitchFamily="34" charset="-128"/>
              </a:rPr>
              <a:t>”</a:t>
            </a:r>
            <a:r>
              <a:rPr lang="en-US" altLang="ja-JP" sz="1100">
                <a:ea typeface="ＭＳ Ｐゴシック" panose="020B0600070205080204" pitchFamily="34" charset="-128"/>
              </a:rPr>
              <a:t>.</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This counter is also known as an </a:t>
            </a:r>
            <a:r>
              <a:rPr lang="en-US" altLang="en-US" sz="1100" b="1">
                <a:ea typeface="ＭＳ Ｐゴシック" panose="020B0600070205080204" pitchFamily="34" charset="-128"/>
              </a:rPr>
              <a:t>asynchronous sequential circuit</a:t>
            </a:r>
            <a:r>
              <a:rPr lang="en-US" altLang="en-US" sz="1100">
                <a:ea typeface="ＭＳ Ｐゴシック" panose="020B0600070205080204" pitchFamily="34" charset="-128"/>
              </a:rPr>
              <a:t>.  It is “</a:t>
            </a:r>
            <a:r>
              <a:rPr lang="en-US" altLang="ja-JP" sz="1100" b="1">
                <a:ea typeface="ＭＳ Ｐゴシック" panose="020B0600070205080204" pitchFamily="34" charset="-128"/>
              </a:rPr>
              <a:t>asynchronous</a:t>
            </a:r>
            <a:r>
              <a:rPr lang="en-US" altLang="en-US" sz="1100">
                <a:ea typeface="ＭＳ Ｐゴシック" panose="020B0600070205080204" pitchFamily="34" charset="-128"/>
              </a:rPr>
              <a:t>”</a:t>
            </a:r>
            <a:r>
              <a:rPr lang="en-US" altLang="ja-JP" sz="1100">
                <a:ea typeface="ＭＳ Ｐゴシック" panose="020B0600070205080204" pitchFamily="34" charset="-128"/>
              </a:rPr>
              <a:t> because the output signals are NOT synchronised to a single clock signal (since there are many clock signals), and </a:t>
            </a:r>
            <a:r>
              <a:rPr lang="en-US" altLang="en-US" sz="1100">
                <a:ea typeface="ＭＳ Ｐゴシック" panose="020B0600070205080204" pitchFamily="34" charset="-128"/>
              </a:rPr>
              <a:t>“</a:t>
            </a:r>
            <a:r>
              <a:rPr lang="en-US" altLang="ja-JP" sz="1100" b="1">
                <a:ea typeface="ＭＳ Ｐゴシック" panose="020B0600070205080204" pitchFamily="34" charset="-128"/>
              </a:rPr>
              <a:t>sequential</a:t>
            </a:r>
            <a:r>
              <a:rPr lang="en-US" altLang="en-US" sz="1100">
                <a:ea typeface="ＭＳ Ｐゴシック" panose="020B0600070205080204" pitchFamily="34" charset="-128"/>
              </a:rPr>
              <a:t>”</a:t>
            </a:r>
            <a:r>
              <a:rPr lang="en-US" altLang="ja-JP" sz="1100">
                <a:ea typeface="ＭＳ Ｐゴシック" panose="020B0600070205080204" pitchFamily="34" charset="-128"/>
              </a:rPr>
              <a:t> because its current output value (or state) depends on previous output values in the sequence.</a:t>
            </a:r>
          </a:p>
          <a:p>
            <a:endParaRPr lang="en-US" altLang="en-US" sz="1100">
              <a:ea typeface="ＭＳ Ｐゴシック" panose="020B0600070205080204" pitchFamily="34" charset="-128"/>
            </a:endParaRPr>
          </a:p>
        </p:txBody>
      </p:sp>
      <p:sp>
        <p:nvSpPr>
          <p:cNvPr id="27651" name="Slide Number Placeholder 1">
            <a:extLst>
              <a:ext uri="{FF2B5EF4-FFF2-40B4-BE49-F238E27FC236}">
                <a16:creationId xmlns:a16="http://schemas.microsoft.com/office/drawing/2014/main" id="{218A4AA5-9B85-8A42-92DC-9EE69ACC23C0}"/>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AE5AF608-6070-AB4B-AB53-29699DC5206B}" type="slidenum">
              <a:rPr lang="en-US" altLang="en-US" sz="1000" smtClean="0"/>
              <a:pPr/>
              <a:t>7</a:t>
            </a:fld>
            <a:endParaRPr lang="en-US" altLang="en-US" sz="1000"/>
          </a:p>
        </p:txBody>
      </p:sp>
    </p:spTree>
    <p:extLst>
      <p:ext uri="{BB962C8B-B14F-4D97-AF65-F5344CB8AC3E}">
        <p14:creationId xmlns:p14="http://schemas.microsoft.com/office/powerpoint/2010/main" val="3932761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67700559-48F3-0E46-BC1A-4662D9D95BEB}"/>
              </a:ext>
            </a:extLst>
          </p:cNvPr>
          <p:cNvSpPr>
            <a:spLocks noGrp="1" noRot="1" noChangeAspect="1" noChangeArrowheads="1" noTextEdit="1"/>
          </p:cNvSpPr>
          <p:nvPr>
            <p:ph type="sldImg"/>
          </p:nvPr>
        </p:nvSpPr>
        <p:spPr>
          <a:xfrm>
            <a:off x="714375" y="742950"/>
            <a:ext cx="5365750" cy="3714750"/>
          </a:xfrm>
          <a:ln/>
        </p:spPr>
      </p:sp>
      <p:sp>
        <p:nvSpPr>
          <p:cNvPr id="29698" name="Rectangle 3">
            <a:extLst>
              <a:ext uri="{FF2B5EF4-FFF2-40B4-BE49-F238E27FC236}">
                <a16:creationId xmlns:a16="http://schemas.microsoft.com/office/drawing/2014/main" id="{CB579793-BA34-D648-8385-13636677C3B0}"/>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The ripple counter is potentially slow.  The delay between the active edge of the clock and the counter output giving the correct value is dependent on the number of flipflops in the circuit and therefore the size of the counter (i.e. how many stages) .  </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A far better approach is to use the flipflops TOGETHER as a group, and clock them using THE SAME CLOCK signal as shown here.  The Logic Block is a combinatorial circuit which computes the next D value D2:0 from the current Q value Q2:0.  (D has three bits D0, D1 and D2.  We use the notation D2:0 to represent this.)  The relationship between D and Q is simple:  D2:0 = Q2:0 + 1.  </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Since the three output bits Q2:0 change within a fraction of a nanosecond of each other, this circuit is:  1) faster than the ripple counter; 2) the “delay” is constant instead of dependent on the size of the counter.</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This circuit is known as a</a:t>
            </a:r>
            <a:r>
              <a:rPr lang="en-US" altLang="en-US" sz="1100" b="1">
                <a:ea typeface="ＭＳ Ｐゴシック" panose="020B0600070205080204" pitchFamily="34" charset="-128"/>
              </a:rPr>
              <a:t> synchronous sequential circuit </a:t>
            </a:r>
            <a:r>
              <a:rPr lang="en-US" altLang="en-US" sz="1100">
                <a:ea typeface="ＭＳ Ｐゴシック" panose="020B0600070205080204" pitchFamily="34" charset="-128"/>
              </a:rPr>
              <a:t>because its function is synchronous to a single clock signal.  If you regard the Q2:0 output value as a state value, it follows a finite number of states in a defined sequence.  Therefore it is also a form of </a:t>
            </a:r>
            <a:r>
              <a:rPr lang="en-US" altLang="en-US" sz="1100" b="1">
                <a:ea typeface="ＭＳ Ｐゴシック" panose="020B0600070205080204" pitchFamily="34" charset="-128"/>
              </a:rPr>
              <a:t>Finite State Machine</a:t>
            </a:r>
            <a:r>
              <a:rPr lang="en-US" altLang="en-US" sz="1100">
                <a:ea typeface="ＭＳ Ｐゴシック" panose="020B0600070205080204" pitchFamily="34" charset="-128"/>
              </a:rPr>
              <a:t>.</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Note the notation with the arrows.</a:t>
            </a:r>
          </a:p>
        </p:txBody>
      </p:sp>
      <p:sp>
        <p:nvSpPr>
          <p:cNvPr id="29699" name="Slide Number Placeholder 1">
            <a:extLst>
              <a:ext uri="{FF2B5EF4-FFF2-40B4-BE49-F238E27FC236}">
                <a16:creationId xmlns:a16="http://schemas.microsoft.com/office/drawing/2014/main" id="{3B91AEE3-7A3A-6741-9CA5-7DC0330ED515}"/>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CDBC74D4-065F-E24F-8B40-3526B2709E63}" type="slidenum">
              <a:rPr lang="en-US" altLang="en-US" sz="1000" smtClean="0"/>
              <a:pPr/>
              <a:t>8</a:t>
            </a:fld>
            <a:endParaRPr lang="en-US" altLang="en-US" sz="1000"/>
          </a:p>
        </p:txBody>
      </p:sp>
    </p:spTree>
    <p:extLst>
      <p:ext uri="{BB962C8B-B14F-4D97-AF65-F5344CB8AC3E}">
        <p14:creationId xmlns:p14="http://schemas.microsoft.com/office/powerpoint/2010/main" val="1593058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7">
            <a:extLst>
              <a:ext uri="{FF2B5EF4-FFF2-40B4-BE49-F238E27FC236}">
                <a16:creationId xmlns:a16="http://schemas.microsoft.com/office/drawing/2014/main" id="{B8770971-C0CF-E549-8991-E5025AD3BEB0}"/>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7D40DDFE-1E77-F84D-8576-A2F428D1C0BD}" type="slidenum">
              <a:rPr lang="en-US" altLang="en-US" sz="1200" smtClean="0"/>
              <a:pPr/>
              <a:t>9</a:t>
            </a:fld>
            <a:endParaRPr lang="en-US" altLang="en-US" sz="1200"/>
          </a:p>
        </p:txBody>
      </p:sp>
      <p:sp>
        <p:nvSpPr>
          <p:cNvPr id="7170" name="Rectangle 2">
            <a:extLst>
              <a:ext uri="{FF2B5EF4-FFF2-40B4-BE49-F238E27FC236}">
                <a16:creationId xmlns:a16="http://schemas.microsoft.com/office/drawing/2014/main" id="{336589E9-FDF4-7F48-A6FC-8FB46F48B35B}"/>
              </a:ext>
            </a:extLst>
          </p:cNvPr>
          <p:cNvSpPr>
            <a:spLocks noGrp="1" noRot="1" noChangeAspect="1" noChangeArrowheads="1" noTextEdit="1"/>
          </p:cNvSpPr>
          <p:nvPr>
            <p:ph type="sldImg"/>
          </p:nvPr>
        </p:nvSpPr>
        <p:spPr>
          <a:xfrm>
            <a:off x="714375" y="742950"/>
            <a:ext cx="5365750" cy="3714750"/>
          </a:xfrm>
          <a:ln/>
        </p:spPr>
      </p:sp>
      <p:sp>
        <p:nvSpPr>
          <p:cNvPr id="7171" name="Rectangle 3">
            <a:extLst>
              <a:ext uri="{FF2B5EF4-FFF2-40B4-BE49-F238E27FC236}">
                <a16:creationId xmlns:a16="http://schemas.microsoft.com/office/drawing/2014/main" id="{1661C307-654A-B640-AAD5-586D87EFCEF6}"/>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Last year you learned about implementing digital circuits using gates such as the one shown here.  You can still buy this chip with FOUR NAND gates in one package and this is known as </a:t>
            </a:r>
            <a:r>
              <a:rPr lang="en-US" altLang="en-US" sz="1100" b="1">
                <a:ea typeface="ＭＳ Ｐゴシック" panose="020B0600070205080204" pitchFamily="34" charset="-128"/>
              </a:rPr>
              <a:t>discrete logic</a:t>
            </a:r>
            <a:r>
              <a:rPr lang="en-US" altLang="en-US" sz="1100">
                <a:ea typeface="ＭＳ Ｐゴシック" panose="020B0600070205080204" pitchFamily="34" charset="-128"/>
              </a:rPr>
              <a:t>.  We generally </a:t>
            </a:r>
            <a:r>
              <a:rPr lang="en-US" altLang="en-US" sz="1100" b="1">
                <a:ea typeface="ＭＳ Ｐゴシック" panose="020B0600070205080204" pitchFamily="34" charset="-128"/>
              </a:rPr>
              <a:t>do not </a:t>
            </a:r>
            <a:r>
              <a:rPr lang="en-US" altLang="en-US" sz="1100">
                <a:ea typeface="ＭＳ Ｐゴシック" panose="020B0600070205080204" pitchFamily="34" charset="-128"/>
              </a:rPr>
              <a:t>use these any more.  It is slow, expensive, consumes lots of energy and very hard to use.</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Nevertheless, it is good to learn about NAND and NOR gates because, using De Morgan’s theorem, you could in theory design and implement an Intel i7 microprocessor using use two input NAND or NOR gates alone.  NAND or NOR gates therefore could be regarded as the building block of all digital circuits.  Similarly, you could in theory build a car using only basic Lego blocks.  Unfortunately such a car would not be very good.</a:t>
            </a:r>
          </a:p>
          <a:p>
            <a:endParaRPr lang="en-US" altLang="en-US" sz="1100">
              <a:ea typeface="ＭＳ Ｐゴシック" panose="020B0600070205080204" pitchFamily="34" charset="-128"/>
            </a:endParaRPr>
          </a:p>
          <a:p>
            <a:endParaRPr lang="en-US" altLang="en-US" sz="110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7">
            <a:extLst>
              <a:ext uri="{FF2B5EF4-FFF2-40B4-BE49-F238E27FC236}">
                <a16:creationId xmlns:a16="http://schemas.microsoft.com/office/drawing/2014/main" id="{DCB0EA83-09BC-F54F-9D52-A807CE421D92}"/>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BB194FA8-BFE8-4342-AC1E-FC7DD7B25FCB}" type="slidenum">
              <a:rPr lang="en-US" altLang="en-US" sz="1200" smtClean="0"/>
              <a:pPr/>
              <a:t>10</a:t>
            </a:fld>
            <a:endParaRPr lang="en-US" altLang="en-US" sz="1200"/>
          </a:p>
        </p:txBody>
      </p:sp>
      <p:sp>
        <p:nvSpPr>
          <p:cNvPr id="9218" name="Rectangle 2">
            <a:extLst>
              <a:ext uri="{FF2B5EF4-FFF2-40B4-BE49-F238E27FC236}">
                <a16:creationId xmlns:a16="http://schemas.microsoft.com/office/drawing/2014/main" id="{D04E760C-E802-BD42-969E-8484C0F6D1FF}"/>
              </a:ext>
            </a:extLst>
          </p:cNvPr>
          <p:cNvSpPr>
            <a:spLocks noGrp="1" noRot="1" noChangeAspect="1" noChangeArrowheads="1" noTextEdit="1"/>
          </p:cNvSpPr>
          <p:nvPr>
            <p:ph type="sldImg"/>
          </p:nvPr>
        </p:nvSpPr>
        <p:spPr>
          <a:xfrm>
            <a:off x="714375" y="742950"/>
            <a:ext cx="5365750" cy="3714750"/>
          </a:xfrm>
          <a:ln/>
        </p:spPr>
      </p:sp>
      <p:sp>
        <p:nvSpPr>
          <p:cNvPr id="9219" name="Rectangle 3">
            <a:extLst>
              <a:ext uri="{FF2B5EF4-FFF2-40B4-BE49-F238E27FC236}">
                <a16:creationId xmlns:a16="http://schemas.microsoft.com/office/drawing/2014/main" id="{027130AF-6060-8443-B94B-19838765A6B4}"/>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In early days of integrated circuits, designers started using rows of basic gates (shown as the dark stuff here arranged in rows).  These are either completely customised (full-custom) or it is made with standard rows of gates but leaving the gates unconnected.  For a specific design, the gates are connect through metal lines in the wiring channels.  Therefore the customisation is only in the wiring metal layers and not the layers with transistors.  This is known as “</a:t>
            </a:r>
            <a:r>
              <a:rPr lang="en-US" altLang="en-US" sz="1100" b="1">
                <a:ea typeface="ＭＳ Ｐゴシック" panose="020B0600070205080204" pitchFamily="34" charset="-128"/>
              </a:rPr>
              <a:t>semi-custom</a:t>
            </a:r>
            <a:r>
              <a:rPr lang="en-US" altLang="en-US" sz="1100">
                <a:ea typeface="ＭＳ Ｐゴシック" panose="020B0600070205080204" pitchFamily="34" charset="-128"/>
              </a:rPr>
              <a:t>” application-specific integrated circuits (ASICs).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7">
            <a:extLst>
              <a:ext uri="{FF2B5EF4-FFF2-40B4-BE49-F238E27FC236}">
                <a16:creationId xmlns:a16="http://schemas.microsoft.com/office/drawing/2014/main" id="{147EB520-FCDB-A046-A69D-86F6D54C0573}"/>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95E41A16-CE49-E74D-A2B9-0F6AE93716ED}" type="slidenum">
              <a:rPr lang="en-US" altLang="en-US" sz="1200" smtClean="0"/>
              <a:pPr/>
              <a:t>11</a:t>
            </a:fld>
            <a:endParaRPr lang="en-US" altLang="en-US" sz="1200"/>
          </a:p>
        </p:txBody>
      </p:sp>
      <p:sp>
        <p:nvSpPr>
          <p:cNvPr id="11266" name="Rectangle 2">
            <a:extLst>
              <a:ext uri="{FF2B5EF4-FFF2-40B4-BE49-F238E27FC236}">
                <a16:creationId xmlns:a16="http://schemas.microsoft.com/office/drawing/2014/main" id="{3AC22BB2-04DA-D64A-ADB1-956D5C7CBCC5}"/>
              </a:ext>
            </a:extLst>
          </p:cNvPr>
          <p:cNvSpPr>
            <a:spLocks noGrp="1" noRot="1" noChangeAspect="1" noChangeArrowheads="1" noTextEdit="1"/>
          </p:cNvSpPr>
          <p:nvPr>
            <p:ph type="sldImg"/>
          </p:nvPr>
        </p:nvSpPr>
        <p:spPr>
          <a:xfrm>
            <a:off x="714375" y="742950"/>
            <a:ext cx="5365750" cy="3714750"/>
          </a:xfrm>
          <a:ln/>
        </p:spPr>
      </p:sp>
      <p:sp>
        <p:nvSpPr>
          <p:cNvPr id="11267" name="Rectangle 3">
            <a:extLst>
              <a:ext uri="{FF2B5EF4-FFF2-40B4-BE49-F238E27FC236}">
                <a16:creationId xmlns:a16="http://schemas.microsoft.com/office/drawing/2014/main" id="{7A1FA61D-BAAE-EC4F-9018-D6E8E4A4009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Of course you can also customise everything – each transistor and each wiring connected in a full-custom manner. Here is the layout of Intel i7 microprocessor (with 4 cores).  Designing such a circuit is very expensive, highly risky, and once designed, it cannot be changed easily.</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Most applications in electronic industry cannot afford to embark on such a design.  This drives the rise of the Field Programmable Gate Array.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a:extLst>
              <a:ext uri="{FF2B5EF4-FFF2-40B4-BE49-F238E27FC236}">
                <a16:creationId xmlns:a16="http://schemas.microsoft.com/office/drawing/2014/main" id="{50FAAC51-BD2C-D046-9853-78E9829FB885}"/>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4E4160C9-5531-CF42-9207-C30F7EAE450D}" type="slidenum">
              <a:rPr lang="en-US" altLang="en-US" sz="1200" smtClean="0"/>
              <a:pPr/>
              <a:t>12</a:t>
            </a:fld>
            <a:endParaRPr lang="en-US" altLang="en-US" sz="1200"/>
          </a:p>
        </p:txBody>
      </p:sp>
      <p:sp>
        <p:nvSpPr>
          <p:cNvPr id="13314" name="Rectangle 2">
            <a:extLst>
              <a:ext uri="{FF2B5EF4-FFF2-40B4-BE49-F238E27FC236}">
                <a16:creationId xmlns:a16="http://schemas.microsoft.com/office/drawing/2014/main" id="{BDC9E737-49FB-1444-81E4-59F250212DB3}"/>
              </a:ext>
            </a:extLst>
          </p:cNvPr>
          <p:cNvSpPr>
            <a:spLocks noGrp="1" noRot="1" noChangeAspect="1" noChangeArrowheads="1" noTextEdit="1"/>
          </p:cNvSpPr>
          <p:nvPr>
            <p:ph type="sldImg"/>
          </p:nvPr>
        </p:nvSpPr>
        <p:spPr>
          <a:xfrm>
            <a:off x="714375" y="742950"/>
            <a:ext cx="5365750" cy="3714750"/>
          </a:xfrm>
          <a:ln/>
        </p:spPr>
      </p:sp>
      <p:sp>
        <p:nvSpPr>
          <p:cNvPr id="13315" name="Rectangle 3">
            <a:extLst>
              <a:ext uri="{FF2B5EF4-FFF2-40B4-BE49-F238E27FC236}">
                <a16:creationId xmlns:a16="http://schemas.microsoft.com/office/drawing/2014/main" id="{2E0DCAD9-291A-8440-9C72-A1791126D8E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So what is an FPGA?  You came across the idea of Programmable Logic Device in the first year, where the user can program what the logic gate does (be it a NAND or NOR or some form of SUM-of-PRODUCT implementation) or an adder, you as a user, can “program” the chip to perform that logic function.  Now we can add another layer of user programmability – you can program how these logic gates are connected together!  In that way, we have a general programmable logic chip.  Unlike the microprocessor where the program is just the instruction to fix digital hardware, here you can program the hardware itself!</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The first FPGA was introduced by Xilinx in 1985.  It has arrays of logic blocks which are programmable.  It is surrounded by PROGRAMMABLE ROUTING RESOURCES, which allows the user to define the interconnections between the logic blocks.  It also has lots of very flexible input and output circuits (programmable for TTL, CMOS and other interface standards).</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Nowadays, there are two major players in the FPGA domain: Xilinx and Altera (now part of Intel).  These two company dominate 90% of the FPGA market with roughly equal share.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a:extLst>
              <a:ext uri="{FF2B5EF4-FFF2-40B4-BE49-F238E27FC236}">
                <a16:creationId xmlns:a16="http://schemas.microsoft.com/office/drawing/2014/main" id="{7B29CD10-E85A-1542-B509-3EC1300263DA}"/>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56DD3381-9614-E047-821D-39A4E3A8BBF8}" type="slidenum">
              <a:rPr lang="en-US" altLang="en-US" sz="1200" smtClean="0"/>
              <a:pPr/>
              <a:t>13</a:t>
            </a:fld>
            <a:endParaRPr lang="en-US" altLang="en-US" sz="1200"/>
          </a:p>
        </p:txBody>
      </p:sp>
      <p:sp>
        <p:nvSpPr>
          <p:cNvPr id="15362" name="Rectangle 2">
            <a:extLst>
              <a:ext uri="{FF2B5EF4-FFF2-40B4-BE49-F238E27FC236}">
                <a16:creationId xmlns:a16="http://schemas.microsoft.com/office/drawing/2014/main" id="{00D8F351-C1D4-CC4A-88DC-AE00930F89AB}"/>
              </a:ext>
            </a:extLst>
          </p:cNvPr>
          <p:cNvSpPr>
            <a:spLocks noGrp="1" noRot="1" noChangeAspect="1" noChangeArrowheads="1" noTextEdit="1"/>
          </p:cNvSpPr>
          <p:nvPr>
            <p:ph type="sldImg"/>
          </p:nvPr>
        </p:nvSpPr>
        <p:spPr>
          <a:xfrm>
            <a:off x="714375" y="742950"/>
            <a:ext cx="5365750" cy="3714750"/>
          </a:xfrm>
          <a:ln/>
        </p:spPr>
      </p:sp>
      <p:sp>
        <p:nvSpPr>
          <p:cNvPr id="15363" name="Rectangle 3">
            <a:extLst>
              <a:ext uri="{FF2B5EF4-FFF2-40B4-BE49-F238E27FC236}">
                <a16:creationId xmlns:a16="http://schemas.microsoft.com/office/drawing/2014/main" id="{31D717A6-45A2-5D42-96C3-F65C2198BD3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Let us look inside an FPGA. Consider the logic block shown in blue in the last slide  (Altera calls their logic block a </a:t>
            </a:r>
            <a:r>
              <a:rPr lang="en-US" altLang="en-US" sz="1100" b="1">
                <a:ea typeface="ＭＳ Ｐゴシック" panose="020B0600070205080204" pitchFamily="34" charset="-128"/>
              </a:rPr>
              <a:t>Logic Element </a:t>
            </a:r>
            <a:r>
              <a:rPr lang="en-US" altLang="en-US" sz="1100">
                <a:ea typeface="ＭＳ Ｐゴシック" panose="020B0600070205080204" pitchFamily="34" charset="-128"/>
              </a:rPr>
              <a:t>(LE)).  Typically an LE consists of a 4-input Look-up Table (LUT) and a D-flipflop.  Let us for now NOT to worry about how the 4-LUT is implemented internally.  Just treat this as a 4-input combinatorial circuit which produces one output signal as shown here.  The IMPORTANT characteristic is that the 4-LUT can be user defined (or programmable) to implement ANY 4-input Boolean function.</a:t>
            </a:r>
          </a:p>
          <a:p>
            <a:r>
              <a:rPr lang="en-US" altLang="en-US" sz="1100">
                <a:ea typeface="ＭＳ Ｐゴシック" panose="020B0600070205080204" pitchFamily="34" charset="-128"/>
              </a:rPr>
              <a:t>As we will see later, the lookup table is actually implemented with a bunch of multiplexers.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a:extLst>
              <a:ext uri="{FF2B5EF4-FFF2-40B4-BE49-F238E27FC236}">
                <a16:creationId xmlns:a16="http://schemas.microsoft.com/office/drawing/2014/main" id="{BA17DB93-6E4D-A245-92A3-0E7414642A64}"/>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0DC76EF1-DE38-964E-B20C-1E0142B684A1}" type="slidenum">
              <a:rPr lang="en-US" altLang="en-US" sz="1200" smtClean="0"/>
              <a:pPr/>
              <a:t>14</a:t>
            </a:fld>
            <a:endParaRPr lang="en-US" altLang="en-US" sz="1200"/>
          </a:p>
        </p:txBody>
      </p:sp>
      <p:sp>
        <p:nvSpPr>
          <p:cNvPr id="17410" name="Rectangle 2">
            <a:extLst>
              <a:ext uri="{FF2B5EF4-FFF2-40B4-BE49-F238E27FC236}">
                <a16:creationId xmlns:a16="http://schemas.microsoft.com/office/drawing/2014/main" id="{22D803A1-1B09-AC4C-B666-28495F9D0B9A}"/>
              </a:ext>
            </a:extLst>
          </p:cNvPr>
          <p:cNvSpPr>
            <a:spLocks noGrp="1" noRot="1" noChangeAspect="1" noChangeArrowheads="1" noTextEdit="1"/>
          </p:cNvSpPr>
          <p:nvPr>
            <p:ph type="sldImg"/>
          </p:nvPr>
        </p:nvSpPr>
        <p:spPr>
          <a:xfrm>
            <a:off x="714375" y="742950"/>
            <a:ext cx="5365750" cy="3714750"/>
          </a:xfrm>
          <a:ln/>
        </p:spPr>
      </p:sp>
      <p:sp>
        <p:nvSpPr>
          <p:cNvPr id="17411" name="Rectangle 3">
            <a:extLst>
              <a:ext uri="{FF2B5EF4-FFF2-40B4-BE49-F238E27FC236}">
                <a16:creationId xmlns:a16="http://schemas.microsoft.com/office/drawing/2014/main" id="{6B5F5B52-A2E4-1B41-9D47-DD6FE78D34B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The Logic Elements are surrounded by lots of routing wires and interconnection switches. Typically a signal wire to the Logic Block or Logic Element can be connected to any of these wiring channels through a programmable connection (essentially a digital switch). Xilinx FPGAs also have dedicated switch blocks shown here.  Horizontal and vertical wires can be connected through such a switch block with programmable switches (for now, don’t worry how that’s done).  </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FPGAs have huge amount of these programmable resources and switches. Typically a very small percentage of these are being connected (i.e. ON) for a given application.</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The main advantage and attraction of FPGA comes from the programmable interconnect – more so than the programmable logic.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a:extLst>
              <a:ext uri="{FF2B5EF4-FFF2-40B4-BE49-F238E27FC236}">
                <a16:creationId xmlns:a16="http://schemas.microsoft.com/office/drawing/2014/main" id="{713211A1-DCDF-1E45-8149-3E5A03FDD39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0D963598-5D0D-8C4E-B157-EB4471FD974E}" type="slidenum">
              <a:rPr lang="en-US" altLang="en-US" sz="1200" smtClean="0"/>
              <a:pPr/>
              <a:t>15</a:t>
            </a:fld>
            <a:endParaRPr lang="en-US" altLang="en-US" sz="1200"/>
          </a:p>
        </p:txBody>
      </p:sp>
      <p:sp>
        <p:nvSpPr>
          <p:cNvPr id="19458" name="Rectangle 2">
            <a:extLst>
              <a:ext uri="{FF2B5EF4-FFF2-40B4-BE49-F238E27FC236}">
                <a16:creationId xmlns:a16="http://schemas.microsoft.com/office/drawing/2014/main" id="{37C696E4-9466-824E-83D8-3A10761DCBC3}"/>
              </a:ext>
            </a:extLst>
          </p:cNvPr>
          <p:cNvSpPr>
            <a:spLocks noGrp="1" noRot="1" noChangeAspect="1" noChangeArrowheads="1" noTextEdit="1"/>
          </p:cNvSpPr>
          <p:nvPr>
            <p:ph type="sldImg"/>
          </p:nvPr>
        </p:nvSpPr>
        <p:spPr>
          <a:xfrm>
            <a:off x="719138" y="742950"/>
            <a:ext cx="5360987" cy="3713163"/>
          </a:xfrm>
          <a:ln/>
        </p:spPr>
      </p:sp>
      <p:sp>
        <p:nvSpPr>
          <p:cNvPr id="19459" name="Rectangle 3">
            <a:extLst>
              <a:ext uri="{FF2B5EF4-FFF2-40B4-BE49-F238E27FC236}">
                <a16:creationId xmlns:a16="http://schemas.microsoft.com/office/drawing/2014/main" id="{B8A1E0EB-0DAB-9A42-9C9C-BAA57EC02810}"/>
              </a:ext>
            </a:extLst>
          </p:cNvPr>
          <p:cNvSpPr>
            <a:spLocks noGrp="1" noChangeArrowheads="1"/>
          </p:cNvSpPr>
          <p:nvPr>
            <p:ph type="body" idx="1"/>
          </p:nvPr>
        </p:nvSpPr>
        <p:spPr>
          <a:xfrm>
            <a:off x="681038" y="4546600"/>
            <a:ext cx="5435600" cy="4459288"/>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Programming an FPGA is called “</a:t>
            </a:r>
            <a:r>
              <a:rPr lang="en-US" altLang="ja-JP" sz="1100" b="1">
                <a:ea typeface="ＭＳ Ｐゴシック" panose="020B0600070205080204" pitchFamily="34" charset="-128"/>
              </a:rPr>
              <a:t>configuration</a:t>
            </a:r>
            <a:r>
              <a:rPr lang="en-US" altLang="en-US" sz="1100">
                <a:ea typeface="ＭＳ Ｐゴシック" panose="020B0600070205080204" pitchFamily="34" charset="-128"/>
              </a:rPr>
              <a:t>”</a:t>
            </a:r>
            <a:r>
              <a:rPr lang="en-US" altLang="ja-JP" sz="1100">
                <a:ea typeface="ＭＳ Ｐゴシック" panose="020B0600070205080204" pitchFamily="34" charset="-128"/>
              </a:rPr>
              <a:t>. In programming a computer or microprocessor, we send to the computer instruction codes as </a:t>
            </a:r>
            <a:r>
              <a:rPr lang="en-US" altLang="en-US" sz="1100">
                <a:ea typeface="ＭＳ Ｐゴシック" panose="020B0600070205080204" pitchFamily="34" charset="-128"/>
              </a:rPr>
              <a:t>‘</a:t>
            </a:r>
            <a:r>
              <a:rPr lang="en-US" altLang="ja-JP" sz="1100">
                <a:ea typeface="ＭＳ Ｐゴシック" panose="020B0600070205080204" pitchFamily="34" charset="-128"/>
              </a:rPr>
              <a:t>1</a:t>
            </a:r>
            <a:r>
              <a:rPr lang="en-US" altLang="en-US" sz="1100">
                <a:ea typeface="ＭＳ Ｐゴシック" panose="020B0600070205080204" pitchFamily="34" charset="-128"/>
              </a:rPr>
              <a:t>’</a:t>
            </a:r>
            <a:r>
              <a:rPr lang="en-US" altLang="ja-JP" sz="1100">
                <a:ea typeface="ＭＳ Ｐゴシック" panose="020B0600070205080204" pitchFamily="34" charset="-128"/>
              </a:rPr>
              <a:t>s and </a:t>
            </a:r>
            <a:r>
              <a:rPr lang="en-US" altLang="en-US" sz="1100">
                <a:ea typeface="ＭＳ Ｐゴシック" panose="020B0600070205080204" pitchFamily="34" charset="-128"/>
              </a:rPr>
              <a:t>‘</a:t>
            </a:r>
            <a:r>
              <a:rPr lang="en-US" altLang="ja-JP" sz="1100">
                <a:ea typeface="ＭＳ Ｐゴシック" panose="020B0600070205080204" pitchFamily="34" charset="-128"/>
              </a:rPr>
              <a:t>0</a:t>
            </a:r>
            <a:r>
              <a:rPr lang="en-US" altLang="en-US" sz="1100">
                <a:ea typeface="ＭＳ Ｐゴシック" panose="020B0600070205080204" pitchFamily="34" charset="-128"/>
              </a:rPr>
              <a:t>’</a:t>
            </a:r>
            <a:r>
              <a:rPr lang="en-US" altLang="ja-JP" sz="1100">
                <a:ea typeface="ＭＳ Ｐゴシック" panose="020B0600070205080204" pitchFamily="34" charset="-128"/>
              </a:rPr>
              <a:t>s.  These are interpreted (or decoded) by the computer which will follow the instruction to perform tasks.  The microprocessor needs to be fed these program codes continuously for it to function.</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In FPGAs, you only need to </a:t>
            </a:r>
            <a:r>
              <a:rPr lang="en-US" altLang="en-US" sz="1100" b="1">
                <a:ea typeface="ＭＳ Ｐゴシック" panose="020B0600070205080204" pitchFamily="34" charset="-128"/>
              </a:rPr>
              <a:t>configure</a:t>
            </a:r>
            <a:r>
              <a:rPr lang="en-US" altLang="en-US" sz="1100">
                <a:ea typeface="ＭＳ Ｐゴシック" panose="020B0600070205080204" pitchFamily="34" charset="-128"/>
              </a:rPr>
              <a:t> the chip ONCE on power-up.  You download to the chip a </a:t>
            </a:r>
            <a:r>
              <a:rPr lang="en-US" altLang="en-US" sz="1100" b="1">
                <a:ea typeface="ＭＳ Ｐゴシック" panose="020B0600070205080204" pitchFamily="34" charset="-128"/>
              </a:rPr>
              <a:t>BITSTREAM</a:t>
            </a:r>
            <a:r>
              <a:rPr lang="en-US" altLang="en-US" sz="1100">
                <a:ea typeface="ＭＳ Ｐゴシック" panose="020B0600070205080204" pitchFamily="34" charset="-128"/>
              </a:rPr>
              <a:t> (also bits in ‘1’s and ‘0’</a:t>
            </a:r>
            <a:r>
              <a:rPr lang="en-US" altLang="ja-JP" sz="1100">
                <a:ea typeface="ＭＳ Ｐゴシック" panose="020B0600070205080204" pitchFamily="34" charset="-128"/>
              </a:rPr>
              <a:t>s), which determines the logic functions performed by the Logic Elements, and the interconnecting switches in order to connect the different LEs together to make up your circuit. Once the bitstream is received, the FPGA no longer needs  to read the 1</a:t>
            </a:r>
            <a:r>
              <a:rPr lang="en-US" altLang="en-US" sz="1100">
                <a:ea typeface="ＭＳ Ｐゴシック" panose="020B0600070205080204" pitchFamily="34" charset="-128"/>
              </a:rPr>
              <a:t>’</a:t>
            </a:r>
            <a:r>
              <a:rPr lang="en-US" altLang="ja-JP" sz="1100">
                <a:ea typeface="ＭＳ Ｐゴシック" panose="020B0600070205080204" pitchFamily="34" charset="-128"/>
              </a:rPr>
              <a:t>s and 0</a:t>
            </a:r>
            <a:r>
              <a:rPr lang="en-US" altLang="en-US" sz="1100">
                <a:ea typeface="ＭＳ Ｐゴシック" panose="020B0600070205080204" pitchFamily="34" charset="-128"/>
              </a:rPr>
              <a:t>’</a:t>
            </a:r>
            <a:r>
              <a:rPr lang="en-US" altLang="ja-JP" sz="1100">
                <a:ea typeface="ＭＳ Ｐゴシック" panose="020B0600070205080204" pitchFamily="34" charset="-128"/>
              </a:rPr>
              <a:t>s again, very unlike a microprocessor which has to continually decoding the machine instructions.  That</a:t>
            </a:r>
            <a:r>
              <a:rPr lang="en-US" altLang="en-US" sz="1100">
                <a:ea typeface="ＭＳ Ｐゴシック" panose="020B0600070205080204" pitchFamily="34" charset="-128"/>
              </a:rPr>
              <a:t>’</a:t>
            </a:r>
            <a:r>
              <a:rPr lang="en-US" altLang="ja-JP" sz="1100">
                <a:ea typeface="ＭＳ Ｐゴシック" panose="020B0600070205080204" pitchFamily="34" charset="-128"/>
              </a:rPr>
              <a:t>s why we say that we </a:t>
            </a:r>
            <a:r>
              <a:rPr lang="en-US" altLang="ja-JP" sz="1100" b="1">
                <a:ea typeface="ＭＳ Ｐゴシック" panose="020B0600070205080204" pitchFamily="34" charset="-128"/>
              </a:rPr>
              <a:t>configure</a:t>
            </a:r>
            <a:r>
              <a:rPr lang="en-US" altLang="ja-JP" sz="1100">
                <a:ea typeface="ＭＳ Ｐゴシック" panose="020B0600070205080204" pitchFamily="34" charset="-128"/>
              </a:rPr>
              <a:t> an FPGA (instead of programming an FPGA, although the two words are used interchangeably).</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What happens when you configure an FPGA?  Let us consider the 4-input LUTs circuit.  This is typically implement using a tree of four layers of 2-input to 1-output multiplexers.  The entire circuit is behaving like a 16-to-1 multiplexer using the 4 inputs ABCD as the control of the MUX tree.  For example, if ABCD = 0000, then the top-most input of the MUX is routed to Y output.</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In this way, ABCD forms the input columns of a truth table.  For 4-inputs, the truth table has 16 entries.  The output Y for each of the truth table entry corresponds to the input of the MUX. Configuration involves fixing the inputs to the 16-to-1 MUX by storing ‘1’ or ‘0’ in the registers R.  Changing the 16 values stored, you can change to truth-table to anything you want.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0E0E5758-3CEF-4F4E-B200-DCF488D347EB}"/>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99B39ADC-A62D-C643-BC5D-17CD63E5297F}" type="slidenum">
              <a:rPr lang="en-US" altLang="en-US" sz="1200" smtClean="0"/>
              <a:pPr/>
              <a:t>16</a:t>
            </a:fld>
            <a:endParaRPr lang="en-US" altLang="en-US" sz="1200"/>
          </a:p>
        </p:txBody>
      </p:sp>
      <p:sp>
        <p:nvSpPr>
          <p:cNvPr id="21506" name="Rectangle 2">
            <a:extLst>
              <a:ext uri="{FF2B5EF4-FFF2-40B4-BE49-F238E27FC236}">
                <a16:creationId xmlns:a16="http://schemas.microsoft.com/office/drawing/2014/main" id="{C521A50F-E1EA-A542-B6B6-2E45679976C2}"/>
              </a:ext>
            </a:extLst>
          </p:cNvPr>
          <p:cNvSpPr>
            <a:spLocks noGrp="1" noRot="1" noChangeAspect="1" noChangeArrowheads="1" noTextEdit="1"/>
          </p:cNvSpPr>
          <p:nvPr>
            <p:ph type="sldImg"/>
          </p:nvPr>
        </p:nvSpPr>
        <p:spPr>
          <a:xfrm>
            <a:off x="719138" y="742950"/>
            <a:ext cx="5360987" cy="3713163"/>
          </a:xfrm>
          <a:ln/>
        </p:spPr>
      </p:sp>
      <p:sp>
        <p:nvSpPr>
          <p:cNvPr id="21507" name="Rectangle 3">
            <a:extLst>
              <a:ext uri="{FF2B5EF4-FFF2-40B4-BE49-F238E27FC236}">
                <a16:creationId xmlns:a16="http://schemas.microsoft.com/office/drawing/2014/main" id="{852B2F3D-6A26-404A-8A72-683A91874C73}"/>
              </a:ext>
            </a:extLst>
          </p:cNvPr>
          <p:cNvSpPr>
            <a:spLocks noGrp="1" noChangeArrowheads="1"/>
          </p:cNvSpPr>
          <p:nvPr>
            <p:ph type="body" idx="1"/>
          </p:nvPr>
        </p:nvSpPr>
        <p:spPr>
          <a:xfrm>
            <a:off x="679450" y="4703763"/>
            <a:ext cx="5435600" cy="445928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To configure the programmable routing, let us look at how the routing circuit works.  Take Xilinx SWITCH BLOCK circuit (green blocks in slide 7).  This block controls the connections between four horizontal channels and four vertical channels.  The diamond shaped block is a potential interconnect site.  Inside the switch block circuit, there are 6 transistor switches which are initially all OFF (or open circuit).  </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The gate input of EACH switch is controlled by the output of a 1-bit register (e.g. a 1-bit D-FF).  If the register stores a ‘1’, the routing transistor will have its gate driven high. Since the transistor is an nMOS transistor, it will become conducting.  In this way, configuring the routing resources simply means that the correct ‘1’s and ‘0’s are stored in the registers that control these routing transistors.</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As you would expect, typically an FPGA would have hundreds of thousands of these routing switches, most of these are OFF.  Once programmed, the interconnections are made. The bold lines in the diagram above (after programming) shows the programmed connections.</a:t>
            </a:r>
          </a:p>
          <a:p>
            <a:endParaRPr lang="en-US" altLang="en-US" sz="1100">
              <a:ea typeface="ＭＳ Ｐゴシック" panose="020B0600070205080204" pitchFamily="34" charset="-128"/>
            </a:endParaRPr>
          </a:p>
          <a:p>
            <a:r>
              <a:rPr lang="en-US" altLang="en-US" sz="1000">
                <a:ea typeface="ＭＳ Ｐゴシック" panose="020B0600070205080204" pitchFamily="34" charset="-128"/>
              </a:rPr>
              <a:t>Bitsteam information used for configuration purpose are usually stored on a flash memory chip, which is download to the FPGA during power-up – similar to “booting up a computer”.   Once this is done, the FPGA is progammed to perform a specific user function (e.g. your design in the VERI experiment).</a:t>
            </a:r>
          </a:p>
          <a:p>
            <a:endParaRPr lang="en-US" altLang="en-US" sz="1000">
              <a:ea typeface="ＭＳ Ｐゴシック" panose="020B0600070205080204" pitchFamily="34" charset="-128"/>
            </a:endParaRPr>
          </a:p>
          <a:p>
            <a:r>
              <a:rPr lang="en-US" altLang="en-US" sz="1000">
                <a:ea typeface="ＭＳ Ｐゴシック" panose="020B0600070205080204" pitchFamily="34" charset="-128"/>
              </a:rPr>
              <a:t>Alternatively you can send the bitstream to the FPGA via a computer connection to the chip.  On the DE1-SOC board, it does both.  Powerup DE1 will configure the Cyclone V FPGA chip to a “waiting” mode, which makes the DE1 board talk to the computer via the USB port while flashing the lights ON and OFF.  You then send to the board a bitstream of your design via the USB port.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9E86C6DA-8452-4243-985B-9645A564AF9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37211753-4A76-0A41-A63F-5EDDF3CF8F4E}" type="slidenum">
              <a:rPr lang="en-US" altLang="en-US" sz="1200" smtClean="0"/>
              <a:pPr/>
              <a:t>17</a:t>
            </a:fld>
            <a:endParaRPr lang="en-US" altLang="en-US" sz="1200"/>
          </a:p>
        </p:txBody>
      </p:sp>
      <p:sp>
        <p:nvSpPr>
          <p:cNvPr id="23554" name="Rectangle 2">
            <a:extLst>
              <a:ext uri="{FF2B5EF4-FFF2-40B4-BE49-F238E27FC236}">
                <a16:creationId xmlns:a16="http://schemas.microsoft.com/office/drawing/2014/main" id="{487B2F22-BC3C-254C-A404-BD451C2F458F}"/>
              </a:ext>
            </a:extLst>
          </p:cNvPr>
          <p:cNvSpPr>
            <a:spLocks noGrp="1" noRot="1" noChangeAspect="1" noChangeArrowheads="1" noTextEdit="1"/>
          </p:cNvSpPr>
          <p:nvPr>
            <p:ph type="sldImg"/>
          </p:nvPr>
        </p:nvSpPr>
        <p:spPr>
          <a:xfrm>
            <a:off x="714375" y="742950"/>
            <a:ext cx="5365750" cy="3714750"/>
          </a:xfrm>
          <a:ln/>
        </p:spPr>
      </p:sp>
      <p:sp>
        <p:nvSpPr>
          <p:cNvPr id="23555" name="Rectangle 3">
            <a:extLst>
              <a:ext uri="{FF2B5EF4-FFF2-40B4-BE49-F238E27FC236}">
                <a16:creationId xmlns:a16="http://schemas.microsoft.com/office/drawing/2014/main" id="{E22E22BD-80D9-1A4E-B32B-2C08E69E3882}"/>
              </a:ext>
            </a:extLst>
          </p:cNvPr>
          <p:cNvSpPr>
            <a:spLocks noGrp="1" noChangeArrowheads="1"/>
          </p:cNvSpPr>
          <p:nvPr>
            <p:ph type="body" idx="1"/>
          </p:nvPr>
        </p:nvSpPr>
        <p:spPr>
          <a:xfrm>
            <a:off x="804962" y="4664967"/>
            <a:ext cx="5184576" cy="457269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pPr>
              <a:spcAft>
                <a:spcPts val="400"/>
              </a:spcAft>
            </a:pPr>
            <a:r>
              <a:rPr lang="en-US" altLang="en-US" dirty="0">
                <a:ea typeface="ＭＳ Ｐゴシック" panose="020B0600070205080204" pitchFamily="34" charset="-128"/>
              </a:rPr>
              <a:t>Let us now look at the FPGA that you will use for this course.  The Intel/Altera MAX 10 FPGA uses the basic 4-input LUT architecture as discussed earlier. These are called Logic Elements or LEs (equivalent to Xilinx’s Configurable Logic Blocks or CLBs). </a:t>
            </a:r>
          </a:p>
          <a:p>
            <a:pPr>
              <a:spcAft>
                <a:spcPts val="400"/>
              </a:spcAft>
            </a:pPr>
            <a:r>
              <a:rPr lang="en-US" altLang="en-US" dirty="0">
                <a:ea typeface="ＭＳ Ｐゴシック" panose="020B0600070205080204" pitchFamily="34" charset="-128"/>
              </a:rPr>
              <a:t>The MAX 10 FPGA family devices can have 10k to 50k LEs in one chip.  These are shown as light blue in the diagram.  They are organized in groups called Logic Array Blocks (LABs) – see later.</a:t>
            </a:r>
          </a:p>
          <a:p>
            <a:pPr>
              <a:spcAft>
                <a:spcPts val="400"/>
              </a:spcAft>
            </a:pPr>
            <a:r>
              <a:rPr lang="en-US" altLang="en-US" dirty="0">
                <a:ea typeface="ＭＳ Ｐゴシック" panose="020B0600070205080204" pitchFamily="34" charset="-128"/>
              </a:rPr>
              <a:t>There are also blocks of memory (shown in purple) and multipliers (in brown).  Note that the internal structure follows the traditional array style with rows and columns.  Each column has the SAME type of circuit (i.e. all LEs or all multipliers).</a:t>
            </a:r>
          </a:p>
          <a:p>
            <a:pPr>
              <a:spcAft>
                <a:spcPts val="400"/>
              </a:spcAft>
            </a:pPr>
            <a:r>
              <a:rPr lang="en-US" altLang="en-US" dirty="0">
                <a:ea typeface="ＭＳ Ｐゴシック" panose="020B0600070205080204" pitchFamily="34" charset="-128"/>
              </a:rPr>
              <a:t>On the edge are lots of programmable I/</a:t>
            </a:r>
            <a:r>
              <a:rPr lang="en-US" altLang="en-US" dirty="0" err="1">
                <a:ea typeface="ＭＳ Ｐゴシック" panose="020B0600070205080204" pitchFamily="34" charset="-128"/>
              </a:rPr>
              <a:t>Os</a:t>
            </a:r>
            <a:r>
              <a:rPr lang="en-US" altLang="en-US" dirty="0">
                <a:ea typeface="ＭＳ Ｐゴシック" panose="020B0600070205080204" pitchFamily="34" charset="-128"/>
              </a:rPr>
              <a:t>. These can be configured for different logic standards, as input or output, have different current drive strengths and slew rates.</a:t>
            </a:r>
          </a:p>
          <a:p>
            <a:pPr>
              <a:spcAft>
                <a:spcPts val="400"/>
              </a:spcAft>
            </a:pPr>
            <a:r>
              <a:rPr lang="en-US" altLang="en-US" dirty="0">
                <a:ea typeface="ＭＳ Ｐゴシック" panose="020B0600070205080204" pitchFamily="34" charset="-128"/>
              </a:rPr>
              <a:t>There are multiple phase-locked loops (PLLs) used for generating internal clock signals.</a:t>
            </a:r>
          </a:p>
          <a:p>
            <a:pPr>
              <a:spcAft>
                <a:spcPts val="400"/>
              </a:spcAft>
            </a:pPr>
            <a:r>
              <a:rPr lang="en-US" altLang="en-US" dirty="0">
                <a:ea typeface="ＭＳ Ｐゴシック" panose="020B0600070205080204" pitchFamily="34" charset="-128"/>
              </a:rPr>
              <a:t>There is a analogue-to-digital converter block for interfacing to analogue signals. </a:t>
            </a:r>
          </a:p>
          <a:p>
            <a:pPr>
              <a:spcAft>
                <a:spcPts val="400"/>
              </a:spcAft>
            </a:pPr>
            <a:r>
              <a:rPr lang="en-US" altLang="en-US" dirty="0">
                <a:ea typeface="ＭＳ Ｐゴシック" panose="020B0600070205080204" pitchFamily="34" charset="-128"/>
              </a:rPr>
              <a:t>The internal flash memory blocks are used to store program codes for soft 32-bit processors called </a:t>
            </a:r>
            <a:r>
              <a:rPr lang="en-US" altLang="en-US" dirty="0" err="1">
                <a:ea typeface="ＭＳ Ｐゴシック" panose="020B0600070205080204" pitchFamily="34" charset="-128"/>
              </a:rPr>
              <a:t>Nios</a:t>
            </a:r>
            <a:r>
              <a:rPr lang="en-US" altLang="en-US" dirty="0">
                <a:ea typeface="ＭＳ Ｐゴシック" panose="020B0600070205080204" pitchFamily="34" charset="-128"/>
              </a:rPr>
              <a:t> II. Unlike some other FPGAs with inbuilt ARM process, which is a hard block, MAX 10’s  </a:t>
            </a:r>
            <a:r>
              <a:rPr lang="en-US" altLang="en-US" dirty="0" err="1">
                <a:ea typeface="ＭＳ Ｐゴシック" panose="020B0600070205080204" pitchFamily="34" charset="-128"/>
              </a:rPr>
              <a:t>Nios</a:t>
            </a:r>
            <a:r>
              <a:rPr lang="en-US" altLang="en-US" dirty="0">
                <a:ea typeface="ＭＳ Ｐゴシック" panose="020B0600070205080204" pitchFamily="34" charset="-128"/>
              </a:rPr>
              <a:t> II processor is implemented with LEs.  If it is not needed, the configurable logic can be used for other purposes. </a:t>
            </a:r>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2895243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9E86C6DA-8452-4243-985B-9645A564AF9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37211753-4A76-0A41-A63F-5EDDF3CF8F4E}" type="slidenum">
              <a:rPr lang="en-US" altLang="en-US" sz="1200" smtClean="0"/>
              <a:pPr/>
              <a:t>18</a:t>
            </a:fld>
            <a:endParaRPr lang="en-US" altLang="en-US" sz="1200"/>
          </a:p>
        </p:txBody>
      </p:sp>
      <p:sp>
        <p:nvSpPr>
          <p:cNvPr id="23554" name="Rectangle 2">
            <a:extLst>
              <a:ext uri="{FF2B5EF4-FFF2-40B4-BE49-F238E27FC236}">
                <a16:creationId xmlns:a16="http://schemas.microsoft.com/office/drawing/2014/main" id="{487B2F22-BC3C-254C-A404-BD451C2F458F}"/>
              </a:ext>
            </a:extLst>
          </p:cNvPr>
          <p:cNvSpPr>
            <a:spLocks noGrp="1" noRot="1" noChangeAspect="1" noChangeArrowheads="1" noTextEdit="1"/>
          </p:cNvSpPr>
          <p:nvPr>
            <p:ph type="sldImg"/>
          </p:nvPr>
        </p:nvSpPr>
        <p:spPr>
          <a:xfrm>
            <a:off x="714375" y="742950"/>
            <a:ext cx="5365750" cy="3714750"/>
          </a:xfrm>
          <a:ln/>
        </p:spPr>
      </p:sp>
      <p:sp>
        <p:nvSpPr>
          <p:cNvPr id="23555" name="Rectangle 3">
            <a:extLst>
              <a:ext uri="{FF2B5EF4-FFF2-40B4-BE49-F238E27FC236}">
                <a16:creationId xmlns:a16="http://schemas.microsoft.com/office/drawing/2014/main" id="{E22E22BD-80D9-1A4E-B32B-2C08E69E388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dirty="0">
                <a:ea typeface="ＭＳ Ｐゴシック" panose="020B0600070205080204" pitchFamily="34" charset="-128"/>
              </a:rPr>
              <a:t>MAX 10’s configurable logic consists of the traditional 4-input LUT, followed by a D-type flip-flop (or register Reg). </a:t>
            </a:r>
          </a:p>
          <a:p>
            <a:endParaRPr lang="en-US" altLang="en-US" dirty="0">
              <a:ea typeface="ＭＳ Ｐゴシック" panose="020B0600070205080204" pitchFamily="34" charset="-128"/>
            </a:endParaRPr>
          </a:p>
          <a:p>
            <a:r>
              <a:rPr lang="en-US" altLang="en-US" dirty="0" err="1">
                <a:ea typeface="ＭＳ Ｐゴシック" panose="020B0600070205080204" pitchFamily="34" charset="-128"/>
              </a:rPr>
              <a:t>Neighbouring</a:t>
            </a:r>
            <a:r>
              <a:rPr lang="en-US" altLang="en-US" dirty="0">
                <a:ea typeface="ＭＳ Ｐゴシック" panose="020B0600070205080204" pitchFamily="34" charset="-128"/>
              </a:rPr>
              <a:t> LUTs have are connected via a carry chain path.  This allows multiple LUTs to be cascade together to form a fast ripple-carry adder.</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Similarly, </a:t>
            </a:r>
            <a:r>
              <a:rPr lang="en-US" altLang="en-US" dirty="0" err="1">
                <a:ea typeface="ＭＳ Ｐゴシック" panose="020B0600070205080204" pitchFamily="34" charset="-128"/>
              </a:rPr>
              <a:t>neighbouring</a:t>
            </a:r>
            <a:r>
              <a:rPr lang="en-US" altLang="en-US" dirty="0">
                <a:ea typeface="ＭＳ Ｐゴシック" panose="020B0600070205080204" pitchFamily="34" charset="-128"/>
              </a:rPr>
              <a:t> Registers can also be chained together as shift registers.</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The FPGA device we are using on DE10-Lite board is the largest in the family with 50,000 LEs.  To put this in perspective, we can implement 1,562 32-bit binary adders  or over 70 32-bit soft processors (</a:t>
            </a:r>
            <a:r>
              <a:rPr lang="en-US" altLang="en-US" dirty="0" err="1">
                <a:ea typeface="ＭＳ Ｐゴシック" panose="020B0600070205080204" pitchFamily="34" charset="-128"/>
              </a:rPr>
              <a:t>Nios</a:t>
            </a:r>
            <a:r>
              <a:rPr lang="en-US" altLang="en-US" dirty="0">
                <a:ea typeface="ＭＳ Ｐゴシック" panose="020B0600070205080204" pitchFamily="34" charset="-128"/>
              </a:rPr>
              <a:t> II) with our board! </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3033C566-8F65-5D4B-9887-098F23222075}"/>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4DE8881C-A55E-5E4F-8E3B-DEF5F16994B2}" type="slidenum">
              <a:rPr lang="en-US" altLang="en-US" sz="1200" smtClean="0"/>
              <a:pPr/>
              <a:t>19</a:t>
            </a:fld>
            <a:endParaRPr lang="en-US" altLang="en-US" sz="1200"/>
          </a:p>
        </p:txBody>
      </p:sp>
      <p:sp>
        <p:nvSpPr>
          <p:cNvPr id="25602" name="Rectangle 2">
            <a:extLst>
              <a:ext uri="{FF2B5EF4-FFF2-40B4-BE49-F238E27FC236}">
                <a16:creationId xmlns:a16="http://schemas.microsoft.com/office/drawing/2014/main" id="{CE9102C6-4A69-AF48-9184-EE976761B6EA}"/>
              </a:ext>
            </a:extLst>
          </p:cNvPr>
          <p:cNvSpPr>
            <a:spLocks noGrp="1" noRot="1" noChangeAspect="1" noChangeArrowheads="1" noTextEdit="1"/>
          </p:cNvSpPr>
          <p:nvPr>
            <p:ph type="sldImg"/>
          </p:nvPr>
        </p:nvSpPr>
        <p:spPr>
          <a:xfrm>
            <a:off x="714375" y="742950"/>
            <a:ext cx="5365750" cy="3714750"/>
          </a:xfrm>
          <a:ln/>
        </p:spPr>
      </p:sp>
      <p:sp>
        <p:nvSpPr>
          <p:cNvPr id="25603" name="Rectangle 3">
            <a:extLst>
              <a:ext uri="{FF2B5EF4-FFF2-40B4-BE49-F238E27FC236}">
                <a16:creationId xmlns:a16="http://schemas.microsoft.com/office/drawing/2014/main" id="{6E0722D2-022D-C04A-92CA-483C774E1F3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dirty="0">
                <a:ea typeface="ＭＳ Ｐゴシック" panose="020B0600070205080204" pitchFamily="34" charset="-128"/>
              </a:rPr>
              <a:t>The Logic Elements are group into blocks of 16.  Each block is known as Logic Array Block.</a:t>
            </a:r>
          </a:p>
          <a:p>
            <a:endParaRPr lang="en-US" altLang="en-US" sz="1100" dirty="0">
              <a:ea typeface="ＭＳ Ｐゴシック" panose="020B0600070205080204" pitchFamily="34" charset="-128"/>
            </a:endParaRPr>
          </a:p>
          <a:p>
            <a:r>
              <a:rPr lang="en-US" altLang="en-US" sz="1100" dirty="0">
                <a:ea typeface="ＭＳ Ｐゴシック" panose="020B0600070205080204" pitchFamily="34" charset="-128"/>
              </a:rPr>
              <a:t>The reason for this approach (which is different from Xilinx’s switchboxes) is that most applications demand multiple bits working together. For example to implement a 16-bit counter, one would need 16 LEs.  Most of the interconnections are local to these 16 LUTs and registers.  </a:t>
            </a:r>
            <a:r>
              <a:rPr lang="en-US" altLang="en-US" sz="1100" dirty="0" err="1">
                <a:ea typeface="ＭＳ Ｐゴシック" panose="020B0600070205080204" pitchFamily="34" charset="-128"/>
              </a:rPr>
              <a:t>Organising</a:t>
            </a:r>
            <a:r>
              <a:rPr lang="en-US" altLang="en-US" sz="1100" dirty="0">
                <a:ea typeface="ＭＳ Ｐゴシック" panose="020B0600070205080204" pitchFamily="34" charset="-128"/>
              </a:rPr>
              <a:t> LEs in blocks of 16 with fast local connect is cheaper on routing resources and is faster in performance.</a:t>
            </a:r>
          </a:p>
          <a:p>
            <a:endParaRPr lang="en-US" altLang="en-US" sz="1100" dirty="0">
              <a:ea typeface="ＭＳ Ｐゴシック" panose="020B0600070205080204" pitchFamily="34" charset="-128"/>
            </a:endParaRPr>
          </a:p>
          <a:p>
            <a:r>
              <a:rPr lang="en-US" altLang="en-US" sz="1100" dirty="0">
                <a:ea typeface="ＭＳ Ｐゴシック" panose="020B0600070205080204" pitchFamily="34" charset="-128"/>
              </a:rPr>
              <a:t>As shown here, the LABs are also connected to their </a:t>
            </a:r>
            <a:r>
              <a:rPr lang="en-US" altLang="en-US" sz="1100" dirty="0" err="1">
                <a:ea typeface="ＭＳ Ｐゴシック" panose="020B0600070205080204" pitchFamily="34" charset="-128"/>
              </a:rPr>
              <a:t>neighbours</a:t>
            </a:r>
            <a:r>
              <a:rPr lang="en-US" altLang="en-US" sz="1100" dirty="0">
                <a:ea typeface="ＭＳ Ｐゴシック" panose="020B0600070205080204" pitchFamily="34" charset="-128"/>
              </a:rPr>
              <a:t> in columns.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7571BB90-AD6D-6D4F-8EF9-AC1CDD21ACB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85827254-EB6E-A14B-BAF6-F8D6F80F1024}" type="slidenum">
              <a:rPr lang="en-US" altLang="en-US" sz="1200" smtClean="0"/>
              <a:pPr/>
              <a:t>20</a:t>
            </a:fld>
            <a:endParaRPr lang="en-US" altLang="en-US" sz="1200"/>
          </a:p>
        </p:txBody>
      </p:sp>
      <p:sp>
        <p:nvSpPr>
          <p:cNvPr id="27650" name="Rectangle 2">
            <a:extLst>
              <a:ext uri="{FF2B5EF4-FFF2-40B4-BE49-F238E27FC236}">
                <a16:creationId xmlns:a16="http://schemas.microsoft.com/office/drawing/2014/main" id="{F142498C-6E21-364B-A8C0-9C9A348B053B}"/>
              </a:ext>
            </a:extLst>
          </p:cNvPr>
          <p:cNvSpPr>
            <a:spLocks noGrp="1" noRot="1" noChangeAspect="1" noChangeArrowheads="1" noTextEdit="1"/>
          </p:cNvSpPr>
          <p:nvPr>
            <p:ph type="sldImg"/>
          </p:nvPr>
        </p:nvSpPr>
        <p:spPr>
          <a:xfrm>
            <a:off x="714375" y="742950"/>
            <a:ext cx="5365750" cy="3714750"/>
          </a:xfrm>
          <a:ln/>
        </p:spPr>
      </p:sp>
      <p:sp>
        <p:nvSpPr>
          <p:cNvPr id="27651" name="Rectangle 3">
            <a:extLst>
              <a:ext uri="{FF2B5EF4-FFF2-40B4-BE49-F238E27FC236}">
                <a16:creationId xmlns:a16="http://schemas.microsoft.com/office/drawing/2014/main" id="{7274CA7A-D8FC-1E4E-AE4E-C88F49EB58DA}"/>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dirty="0">
                <a:ea typeface="ＭＳ Ｐゴシック" panose="020B0600070205080204" pitchFamily="34" charset="-128"/>
              </a:rPr>
              <a:t>For this course, you will be designing circuits using the free version of the design suite known as Quartus Prime Lite from Intel/Altera. </a:t>
            </a:r>
          </a:p>
          <a:p>
            <a:endParaRPr lang="en-US" altLang="en-US" sz="1100" dirty="0">
              <a:ea typeface="ＭＳ Ｐゴシック" panose="020B0600070205080204" pitchFamily="34" charset="-128"/>
            </a:endParaRPr>
          </a:p>
          <a:p>
            <a:r>
              <a:rPr lang="en-US" altLang="en-US" sz="1100" dirty="0">
                <a:ea typeface="ＭＳ Ｐゴシック" panose="020B0600070205080204" pitchFamily="34" charset="-128"/>
              </a:rPr>
              <a:t>This very powerful design tool contains everything you need to design a complex digital system ON YOUR OWN COMPUTER!  You can download your copy from here:  </a:t>
            </a:r>
            <a:r>
              <a:rPr lang="en-US" sz="1050" u="sng" dirty="0">
                <a:hlinkClick r:id="rId3"/>
              </a:rPr>
              <a:t>https://fpgasoftware.intel.com/18.0/?edition=lite&amp;platform=windows</a:t>
            </a:r>
            <a:r>
              <a:rPr lang="en-GB" sz="1000" dirty="0"/>
              <a:t> </a:t>
            </a:r>
          </a:p>
          <a:p>
            <a:endParaRPr lang="en-GB" altLang="en-US" sz="1000" dirty="0">
              <a:ea typeface="ＭＳ Ｐゴシック" panose="020B0600070205080204" pitchFamily="34" charset="-128"/>
            </a:endParaRPr>
          </a:p>
          <a:p>
            <a:r>
              <a:rPr lang="en-US" altLang="en-US" sz="1100" dirty="0">
                <a:ea typeface="ＭＳ Ｐゴシック" panose="020B0600070205080204" pitchFamily="34" charset="-128"/>
              </a:rPr>
              <a:t>However, the software is only available for MS Windows or Linux operating system.  If you are using a Mac, you would need to run a Virtual Machine applications (such as Virtual Box).  A pre-configured Virtual Machine image is available for you to download and run under VirtualBox, which has Quartus pre-installed.</a:t>
            </a:r>
          </a:p>
          <a:p>
            <a:endParaRPr lang="en-US" altLang="en-US" sz="1100" dirty="0">
              <a:ea typeface="ＭＳ Ｐゴシック" panose="020B0600070205080204" pitchFamily="34" charset="-128"/>
            </a:endParaRPr>
          </a:p>
          <a:p>
            <a:r>
              <a:rPr lang="en-US" altLang="en-US" sz="1100" dirty="0">
                <a:ea typeface="ＭＳ Ｐゴシック" panose="020B0600070205080204" pitchFamily="34" charset="-128"/>
              </a:rPr>
              <a:t>Beware that the software is very large – you need to have around 20 GB of free disk space.  The minimum required RAM is 4GB, but 8GB is recommended.</a:t>
            </a:r>
          </a:p>
          <a:p>
            <a:endParaRPr lang="en-US" altLang="en-US" sz="1100" dirty="0">
              <a:ea typeface="ＭＳ Ｐゴシック" panose="020B0600070205080204" pitchFamily="34" charset="-128"/>
            </a:endParaRPr>
          </a:p>
          <a:p>
            <a:r>
              <a:rPr lang="en-US" altLang="en-US" sz="1100" dirty="0">
                <a:ea typeface="ＭＳ Ｐゴシック" panose="020B0600070205080204" pitchFamily="34" charset="-128"/>
              </a:rPr>
              <a:t>Lab 3 provides full instructions on what you need to do have Quartus environment installed and set up.</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927EE3D2-2873-A04B-97EC-06EB7E835A7A}"/>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3C5ED6D0-0DCE-A34F-ACE8-A1F9C6E0B200}" type="slidenum">
              <a:rPr lang="en-US" altLang="en-US" sz="1200" smtClean="0"/>
              <a:pPr/>
              <a:t>21</a:t>
            </a:fld>
            <a:endParaRPr lang="en-US" altLang="en-US" sz="1200"/>
          </a:p>
        </p:txBody>
      </p:sp>
      <p:sp>
        <p:nvSpPr>
          <p:cNvPr id="29698" name="Rectangle 2">
            <a:extLst>
              <a:ext uri="{FF2B5EF4-FFF2-40B4-BE49-F238E27FC236}">
                <a16:creationId xmlns:a16="http://schemas.microsoft.com/office/drawing/2014/main" id="{8166BF0A-A17D-5148-8EE9-44B306711F1B}"/>
              </a:ext>
            </a:extLst>
          </p:cNvPr>
          <p:cNvSpPr>
            <a:spLocks noGrp="1" noRot="1" noChangeAspect="1" noChangeArrowheads="1" noTextEdit="1"/>
          </p:cNvSpPr>
          <p:nvPr>
            <p:ph type="sldImg"/>
          </p:nvPr>
        </p:nvSpPr>
        <p:spPr>
          <a:xfrm>
            <a:off x="714375" y="742950"/>
            <a:ext cx="5365750" cy="3714750"/>
          </a:xfrm>
          <a:ln/>
        </p:spPr>
      </p:sp>
      <p:sp>
        <p:nvSpPr>
          <p:cNvPr id="29699" name="Rectangle 3">
            <a:extLst>
              <a:ext uri="{FF2B5EF4-FFF2-40B4-BE49-F238E27FC236}">
                <a16:creationId xmlns:a16="http://schemas.microsoft.com/office/drawing/2014/main" id="{1AB253DB-F476-584C-8D1D-DDD07E4C4EC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dirty="0">
                <a:ea typeface="ＭＳ Ｐゴシック" panose="020B0600070205080204" pitchFamily="34" charset="-128"/>
              </a:rPr>
              <a:t>This slide shows you the functional blocks of the </a:t>
            </a:r>
            <a:r>
              <a:rPr lang="en-US" altLang="en-US" dirty="0" err="1">
                <a:ea typeface="ＭＳ Ｐゴシック" panose="020B0600070205080204" pitchFamily="34" charset="-128"/>
              </a:rPr>
              <a:t>Terasic</a:t>
            </a:r>
            <a:r>
              <a:rPr lang="en-US" altLang="en-US" dirty="0">
                <a:ea typeface="ＭＳ Ｐゴシック" panose="020B0600070205080204" pitchFamily="34" charset="-128"/>
              </a:rPr>
              <a:t> DE10-Lite FPGA board that you are using for this module. </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This has everything you need test basic designs involving switches, 7-segment displays and even a VGA output.  We will be using this board for the remaining Lab Session for this module.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3190" y="2130428"/>
            <a:ext cx="8419624" cy="1470025"/>
          </a:xfrm>
        </p:spPr>
        <p:txBody>
          <a:bodyPr/>
          <a:lstStyle/>
          <a:p>
            <a:r>
              <a:rPr lang="en-GB"/>
              <a:t>Click to edit Master title style</a:t>
            </a:r>
            <a:endParaRPr lang="en-US"/>
          </a:p>
        </p:txBody>
      </p:sp>
      <p:sp>
        <p:nvSpPr>
          <p:cNvPr id="3" name="Subtitle 2"/>
          <p:cNvSpPr>
            <a:spLocks noGrp="1"/>
          </p:cNvSpPr>
          <p:nvPr>
            <p:ph type="subTitle" idx="1"/>
          </p:nvPr>
        </p:nvSpPr>
        <p:spPr>
          <a:xfrm>
            <a:off x="1486378" y="3886200"/>
            <a:ext cx="6933247"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a:t>Click to edit Master subtitle style</a:t>
            </a:r>
            <a:endParaRPr lang="en-US"/>
          </a:p>
        </p:txBody>
      </p:sp>
    </p:spTree>
    <p:extLst>
      <p:ext uri="{BB962C8B-B14F-4D97-AF65-F5344CB8AC3E}">
        <p14:creationId xmlns:p14="http://schemas.microsoft.com/office/powerpoint/2010/main" val="579238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157510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889" y="4406903"/>
            <a:ext cx="8419624"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82889" y="2906713"/>
            <a:ext cx="8419624"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a:t>Click to edit Master text styles</a:t>
            </a:r>
          </a:p>
        </p:txBody>
      </p:sp>
    </p:spTree>
    <p:extLst>
      <p:ext uri="{BB962C8B-B14F-4D97-AF65-F5344CB8AC3E}">
        <p14:creationId xmlns:p14="http://schemas.microsoft.com/office/powerpoint/2010/main" val="4221582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578037" y="1295400"/>
            <a:ext cx="4298741"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5029225" y="1295400"/>
            <a:ext cx="429874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970427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461" y="274638"/>
            <a:ext cx="8915082" cy="1143000"/>
          </a:xfrm>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95460" y="1535113"/>
            <a:ext cx="437655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95460" y="2174875"/>
            <a:ext cx="437655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5032403" y="1535113"/>
            <a:ext cx="437814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32403" y="2174875"/>
            <a:ext cx="437814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8009243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674485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22594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459" y="273050"/>
            <a:ext cx="3258594"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873154" y="273053"/>
            <a:ext cx="553738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95459" y="1435103"/>
            <a:ext cx="325859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Tree>
    <p:extLst>
      <p:ext uri="{BB962C8B-B14F-4D97-AF65-F5344CB8AC3E}">
        <p14:creationId xmlns:p14="http://schemas.microsoft.com/office/powerpoint/2010/main" val="4288738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137" y="4800600"/>
            <a:ext cx="594233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942137" y="612775"/>
            <a:ext cx="594233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942137" y="5367338"/>
            <a:ext cx="594233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Tree>
    <p:extLst>
      <p:ext uri="{BB962C8B-B14F-4D97-AF65-F5344CB8AC3E}">
        <p14:creationId xmlns:p14="http://schemas.microsoft.com/office/powerpoint/2010/main" val="1615604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03146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20634" y="76200"/>
            <a:ext cx="2207332" cy="6248400"/>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95460" y="76200"/>
            <a:ext cx="6472725" cy="62484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4404118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5460" y="76200"/>
            <a:ext cx="8006741" cy="8382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578037" y="1295400"/>
            <a:ext cx="4298741" cy="5029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5029225" y="1295400"/>
            <a:ext cx="4298740" cy="5029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2173624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95459" y="76200"/>
            <a:ext cx="8006741" cy="838200"/>
          </a:xfrm>
        </p:spPr>
        <p:txBody>
          <a:bodyPr/>
          <a:lstStyle/>
          <a:p>
            <a:r>
              <a:rPr lang="en-GB"/>
              <a:t>Click to edit Master title style</a:t>
            </a:r>
            <a:endParaRPr lang="en-US"/>
          </a:p>
        </p:txBody>
      </p:sp>
      <p:sp>
        <p:nvSpPr>
          <p:cNvPr id="3" name="ClipArt Placeholder 2"/>
          <p:cNvSpPr>
            <a:spLocks noGrp="1"/>
          </p:cNvSpPr>
          <p:nvPr>
            <p:ph type="clipArt" sz="half" idx="1"/>
          </p:nvPr>
        </p:nvSpPr>
        <p:spPr>
          <a:xfrm>
            <a:off x="578036" y="1295400"/>
            <a:ext cx="4298741" cy="5029200"/>
          </a:xfrm>
        </p:spPr>
        <p:txBody>
          <a:bodyPr/>
          <a:lstStyle/>
          <a:p>
            <a:pPr lvl="0"/>
            <a:endParaRPr lang="en-US" noProof="0"/>
          </a:p>
        </p:txBody>
      </p:sp>
      <p:sp>
        <p:nvSpPr>
          <p:cNvPr id="4" name="Text Placeholder 3"/>
          <p:cNvSpPr>
            <a:spLocks noGrp="1"/>
          </p:cNvSpPr>
          <p:nvPr>
            <p:ph type="body" sz="half" idx="2"/>
          </p:nvPr>
        </p:nvSpPr>
        <p:spPr>
          <a:xfrm>
            <a:off x="5029225" y="1295400"/>
            <a:ext cx="4298740" cy="5029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223619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2BAF7A3-FA9B-5843-92F2-29522BBFC4A0}"/>
              </a:ext>
            </a:extLst>
          </p:cNvPr>
          <p:cNvSpPr>
            <a:spLocks noGrp="1" noChangeArrowheads="1"/>
          </p:cNvSpPr>
          <p:nvPr>
            <p:ph type="title"/>
          </p:nvPr>
        </p:nvSpPr>
        <p:spPr bwMode="auto">
          <a:xfrm>
            <a:off x="495300" y="76200"/>
            <a:ext cx="800735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E739318E-F099-FB45-9B77-7FC169B34409}"/>
              </a:ext>
            </a:extLst>
          </p:cNvPr>
          <p:cNvSpPr>
            <a:spLocks noGrp="1" noChangeArrowheads="1"/>
          </p:cNvSpPr>
          <p:nvPr>
            <p:ph type="body" idx="1"/>
          </p:nvPr>
        </p:nvSpPr>
        <p:spPr bwMode="auto">
          <a:xfrm>
            <a:off x="577850" y="1052513"/>
            <a:ext cx="8750300" cy="527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5">
            <a:extLst>
              <a:ext uri="{FF2B5EF4-FFF2-40B4-BE49-F238E27FC236}">
                <a16:creationId xmlns:a16="http://schemas.microsoft.com/office/drawing/2014/main" id="{92AD441D-F110-2A42-B11E-2B3BE4D8D099}"/>
              </a:ext>
            </a:extLst>
          </p:cNvPr>
          <p:cNvSpPr>
            <a:spLocks noChangeArrowheads="1"/>
          </p:cNvSpPr>
          <p:nvPr/>
        </p:nvSpPr>
        <p:spPr bwMode="auto">
          <a:xfrm>
            <a:off x="7546975" y="6507163"/>
            <a:ext cx="211137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spAutoFit/>
          </a:bodyPr>
          <a:lstStyle>
            <a:lvl1pPr>
              <a:defRPr sz="3200">
                <a:solidFill>
                  <a:schemeClr val="tx1"/>
                </a:solidFill>
                <a:latin typeface="Arial" charset="0"/>
                <a:ea typeface="ＭＳ Ｐゴシック" charset="-128"/>
              </a:defRPr>
            </a:lvl1pPr>
            <a:lvl2pPr marL="742950" indent="-285750">
              <a:defRPr sz="3200">
                <a:solidFill>
                  <a:schemeClr val="tx1"/>
                </a:solidFill>
                <a:latin typeface="Arial" charset="0"/>
                <a:ea typeface="ＭＳ Ｐゴシック" charset="-128"/>
              </a:defRPr>
            </a:lvl2pPr>
            <a:lvl3pPr marL="1143000" indent="-228600">
              <a:defRPr sz="3200">
                <a:solidFill>
                  <a:schemeClr val="tx1"/>
                </a:solidFill>
                <a:latin typeface="Arial" charset="0"/>
                <a:ea typeface="ＭＳ Ｐゴシック" charset="-128"/>
              </a:defRPr>
            </a:lvl3pPr>
            <a:lvl4pPr marL="1600200" indent="-228600">
              <a:defRPr sz="3200">
                <a:solidFill>
                  <a:schemeClr val="tx1"/>
                </a:solidFill>
                <a:latin typeface="Arial" charset="0"/>
                <a:ea typeface="ＭＳ Ｐゴシック" charset="-128"/>
              </a:defRPr>
            </a:lvl4pPr>
            <a:lvl5pPr marL="2057400" indent="-228600">
              <a:defRPr sz="3200">
                <a:solidFill>
                  <a:schemeClr val="tx1"/>
                </a:solidFill>
                <a:latin typeface="Arial" charset="0"/>
                <a:ea typeface="ＭＳ Ｐゴシック" charset="-128"/>
              </a:defRPr>
            </a:lvl5pPr>
            <a:lvl6pPr marL="2514600" indent="-228600" eaLnBrk="0" fontAlgn="base" hangingPunct="0">
              <a:spcBef>
                <a:spcPct val="0"/>
              </a:spcBef>
              <a:spcAft>
                <a:spcPct val="0"/>
              </a:spcAft>
              <a:defRPr sz="3200">
                <a:solidFill>
                  <a:schemeClr val="tx1"/>
                </a:solidFill>
                <a:latin typeface="Arial" charset="0"/>
                <a:ea typeface="ＭＳ Ｐゴシック" charset="-128"/>
              </a:defRPr>
            </a:lvl6pPr>
            <a:lvl7pPr marL="2971800" indent="-228600" eaLnBrk="0" fontAlgn="base" hangingPunct="0">
              <a:spcBef>
                <a:spcPct val="0"/>
              </a:spcBef>
              <a:spcAft>
                <a:spcPct val="0"/>
              </a:spcAft>
              <a:defRPr sz="3200">
                <a:solidFill>
                  <a:schemeClr val="tx1"/>
                </a:solidFill>
                <a:latin typeface="Arial" charset="0"/>
                <a:ea typeface="ＭＳ Ｐゴシック" charset="-128"/>
              </a:defRPr>
            </a:lvl7pPr>
            <a:lvl8pPr marL="3429000" indent="-228600" eaLnBrk="0" fontAlgn="base" hangingPunct="0">
              <a:spcBef>
                <a:spcPct val="0"/>
              </a:spcBef>
              <a:spcAft>
                <a:spcPct val="0"/>
              </a:spcAft>
              <a:defRPr sz="3200">
                <a:solidFill>
                  <a:schemeClr val="tx1"/>
                </a:solidFill>
                <a:latin typeface="Arial" charset="0"/>
                <a:ea typeface="ＭＳ Ｐゴシック" charset="-128"/>
              </a:defRPr>
            </a:lvl8pPr>
            <a:lvl9pPr marL="3886200" indent="-228600" eaLnBrk="0" fontAlgn="base" hangingPunct="0">
              <a:spcBef>
                <a:spcPct val="0"/>
              </a:spcBef>
              <a:spcAft>
                <a:spcPct val="0"/>
              </a:spcAft>
              <a:defRPr sz="3200">
                <a:solidFill>
                  <a:schemeClr val="tx1"/>
                </a:solidFill>
                <a:latin typeface="Arial" charset="0"/>
                <a:ea typeface="ＭＳ Ｐゴシック" charset="-128"/>
              </a:defRPr>
            </a:lvl9pPr>
          </a:lstStyle>
          <a:p>
            <a:pPr algn="r">
              <a:defRPr/>
            </a:pPr>
            <a:r>
              <a:rPr lang="en-US" altLang="x-none" sz="1100" dirty="0"/>
              <a:t>Lecture 5 Slide </a:t>
            </a:r>
            <a:fld id="{EFB660D9-8271-5843-B008-217A32FE5931}" type="slidenum">
              <a:rPr lang="en-US" altLang="x-none" sz="1100" smtClean="0"/>
              <a:pPr algn="r">
                <a:defRPr/>
              </a:pPr>
              <a:t>‹#›</a:t>
            </a:fld>
            <a:endParaRPr lang="en-US" altLang="x-none" sz="1100" dirty="0"/>
          </a:p>
        </p:txBody>
      </p:sp>
      <p:sp>
        <p:nvSpPr>
          <p:cNvPr id="3080" name="Text Box 8">
            <a:extLst>
              <a:ext uri="{FF2B5EF4-FFF2-40B4-BE49-F238E27FC236}">
                <a16:creationId xmlns:a16="http://schemas.microsoft.com/office/drawing/2014/main" id="{CEEAAF4A-565F-6F44-9D48-6E0665FA37E2}"/>
              </a:ext>
            </a:extLst>
          </p:cNvPr>
          <p:cNvSpPr txBox="1">
            <a:spLocks noChangeArrowheads="1"/>
          </p:cNvSpPr>
          <p:nvPr/>
        </p:nvSpPr>
        <p:spPr bwMode="auto">
          <a:xfrm>
            <a:off x="285319" y="6489700"/>
            <a:ext cx="1369286" cy="261610"/>
          </a:xfrm>
          <a:prstGeom prst="rect">
            <a:avLst/>
          </a:prstGeom>
          <a:noFill/>
          <a:ln w="12700">
            <a:noFill/>
            <a:miter lim="800000"/>
            <a:headEnd type="none" w="sm" len="sm"/>
            <a:tailEnd type="none" w="sm" len="sm"/>
          </a:ln>
          <a:effectLst/>
        </p:spPr>
        <p:txBody>
          <a:bodyPr wrap="none">
            <a:spAutoFit/>
          </a:bodyPr>
          <a:lstStyle>
            <a:lvl1pPr>
              <a:defRPr sz="3200">
                <a:solidFill>
                  <a:schemeClr val="tx1"/>
                </a:solidFill>
                <a:latin typeface="Arial" charset="0"/>
                <a:ea typeface="ＭＳ Ｐゴシック" charset="0"/>
                <a:cs typeface="ＭＳ Ｐゴシック" charset="0"/>
              </a:defRPr>
            </a:lvl1pPr>
            <a:lvl2pPr marL="37931725" indent="-37474525">
              <a:defRPr sz="3200">
                <a:solidFill>
                  <a:schemeClr val="tx1"/>
                </a:solidFill>
                <a:latin typeface="Arial" charset="0"/>
                <a:ea typeface="ＭＳ Ｐゴシック" charset="0"/>
              </a:defRPr>
            </a:lvl2pPr>
            <a:lvl3pPr>
              <a:defRPr sz="3200">
                <a:solidFill>
                  <a:schemeClr val="tx1"/>
                </a:solidFill>
                <a:latin typeface="Arial" charset="0"/>
                <a:ea typeface="ＭＳ Ｐゴシック" charset="0"/>
              </a:defRPr>
            </a:lvl3pPr>
            <a:lvl4pPr>
              <a:defRPr sz="3200">
                <a:solidFill>
                  <a:schemeClr val="tx1"/>
                </a:solidFill>
                <a:latin typeface="Arial" charset="0"/>
                <a:ea typeface="ＭＳ Ｐゴシック" charset="0"/>
              </a:defRPr>
            </a:lvl4pPr>
            <a:lvl5pPr>
              <a:defRPr sz="3200">
                <a:solidFill>
                  <a:schemeClr val="tx1"/>
                </a:solidFill>
                <a:latin typeface="Arial" charset="0"/>
                <a:ea typeface="ＭＳ Ｐゴシック" charset="0"/>
              </a:defRPr>
            </a:lvl5pPr>
            <a:lvl6pPr marL="457200" eaLnBrk="0" fontAlgn="base" hangingPunct="0">
              <a:spcBef>
                <a:spcPct val="0"/>
              </a:spcBef>
              <a:spcAft>
                <a:spcPct val="0"/>
              </a:spcAft>
              <a:defRPr sz="3200">
                <a:solidFill>
                  <a:schemeClr val="tx1"/>
                </a:solidFill>
                <a:latin typeface="Arial" charset="0"/>
                <a:ea typeface="ＭＳ Ｐゴシック" charset="0"/>
              </a:defRPr>
            </a:lvl6pPr>
            <a:lvl7pPr marL="914400" eaLnBrk="0" fontAlgn="base" hangingPunct="0">
              <a:spcBef>
                <a:spcPct val="0"/>
              </a:spcBef>
              <a:spcAft>
                <a:spcPct val="0"/>
              </a:spcAft>
              <a:defRPr sz="3200">
                <a:solidFill>
                  <a:schemeClr val="tx1"/>
                </a:solidFill>
                <a:latin typeface="Arial" charset="0"/>
                <a:ea typeface="ＭＳ Ｐゴシック" charset="0"/>
              </a:defRPr>
            </a:lvl7pPr>
            <a:lvl8pPr marL="1371600" eaLnBrk="0" fontAlgn="base" hangingPunct="0">
              <a:spcBef>
                <a:spcPct val="0"/>
              </a:spcBef>
              <a:spcAft>
                <a:spcPct val="0"/>
              </a:spcAft>
              <a:defRPr sz="3200">
                <a:solidFill>
                  <a:schemeClr val="tx1"/>
                </a:solidFill>
                <a:latin typeface="Arial" charset="0"/>
                <a:ea typeface="ＭＳ Ｐゴシック" charset="0"/>
              </a:defRPr>
            </a:lvl8pPr>
            <a:lvl9pPr marL="1828800" eaLnBrk="0" fontAlgn="base" hangingPunct="0">
              <a:spcBef>
                <a:spcPct val="0"/>
              </a:spcBef>
              <a:spcAft>
                <a:spcPct val="0"/>
              </a:spcAft>
              <a:defRPr sz="3200">
                <a:solidFill>
                  <a:schemeClr val="tx1"/>
                </a:solidFill>
                <a:latin typeface="Arial" charset="0"/>
                <a:ea typeface="ＭＳ Ｐゴシック" charset="0"/>
              </a:defRPr>
            </a:lvl9pPr>
          </a:lstStyle>
          <a:p>
            <a:pPr algn="ctr">
              <a:defRPr/>
            </a:pPr>
            <a:r>
              <a:rPr lang="en-US" sz="1100" dirty="0"/>
              <a:t>PYKC  1 Nov 2021</a:t>
            </a:r>
          </a:p>
        </p:txBody>
      </p:sp>
      <p:sp>
        <p:nvSpPr>
          <p:cNvPr id="1030" name="Rectangle 10">
            <a:extLst>
              <a:ext uri="{FF2B5EF4-FFF2-40B4-BE49-F238E27FC236}">
                <a16:creationId xmlns:a16="http://schemas.microsoft.com/office/drawing/2014/main" id="{753DD377-69C6-BF4E-9358-0FB6070C3F1C}"/>
              </a:ext>
            </a:extLst>
          </p:cNvPr>
          <p:cNvSpPr>
            <a:spLocks noChangeArrowheads="1"/>
          </p:cNvSpPr>
          <p:nvPr/>
        </p:nvSpPr>
        <p:spPr bwMode="auto">
          <a:xfrm>
            <a:off x="4040188" y="6519863"/>
            <a:ext cx="179087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200">
                <a:solidFill>
                  <a:schemeClr val="tx1"/>
                </a:solidFill>
                <a:latin typeface="Arial" charset="0"/>
                <a:ea typeface="ＭＳ Ｐゴシック" charset="-128"/>
              </a:defRPr>
            </a:lvl1pPr>
            <a:lvl2pPr marL="742950" indent="-285750">
              <a:defRPr sz="3200">
                <a:solidFill>
                  <a:schemeClr val="tx1"/>
                </a:solidFill>
                <a:latin typeface="Arial" charset="0"/>
                <a:ea typeface="ＭＳ Ｐゴシック" charset="-128"/>
              </a:defRPr>
            </a:lvl2pPr>
            <a:lvl3pPr marL="1143000" indent="-228600">
              <a:defRPr sz="3200">
                <a:solidFill>
                  <a:schemeClr val="tx1"/>
                </a:solidFill>
                <a:latin typeface="Arial" charset="0"/>
                <a:ea typeface="ＭＳ Ｐゴシック" charset="-128"/>
              </a:defRPr>
            </a:lvl3pPr>
            <a:lvl4pPr marL="1600200" indent="-228600">
              <a:defRPr sz="3200">
                <a:solidFill>
                  <a:schemeClr val="tx1"/>
                </a:solidFill>
                <a:latin typeface="Arial" charset="0"/>
                <a:ea typeface="ＭＳ Ｐゴシック" charset="-128"/>
              </a:defRPr>
            </a:lvl4pPr>
            <a:lvl5pPr marL="2057400" indent="-228600">
              <a:defRPr sz="3200">
                <a:solidFill>
                  <a:schemeClr val="tx1"/>
                </a:solidFill>
                <a:latin typeface="Arial" charset="0"/>
                <a:ea typeface="ＭＳ Ｐゴシック" charset="-128"/>
              </a:defRPr>
            </a:lvl5pPr>
            <a:lvl6pPr marL="2514600" indent="-228600" eaLnBrk="0" fontAlgn="base" hangingPunct="0">
              <a:spcBef>
                <a:spcPct val="0"/>
              </a:spcBef>
              <a:spcAft>
                <a:spcPct val="0"/>
              </a:spcAft>
              <a:defRPr sz="3200">
                <a:solidFill>
                  <a:schemeClr val="tx1"/>
                </a:solidFill>
                <a:latin typeface="Arial" charset="0"/>
                <a:ea typeface="ＭＳ Ｐゴシック" charset="-128"/>
              </a:defRPr>
            </a:lvl6pPr>
            <a:lvl7pPr marL="2971800" indent="-228600" eaLnBrk="0" fontAlgn="base" hangingPunct="0">
              <a:spcBef>
                <a:spcPct val="0"/>
              </a:spcBef>
              <a:spcAft>
                <a:spcPct val="0"/>
              </a:spcAft>
              <a:defRPr sz="3200">
                <a:solidFill>
                  <a:schemeClr val="tx1"/>
                </a:solidFill>
                <a:latin typeface="Arial" charset="0"/>
                <a:ea typeface="ＭＳ Ｐゴシック" charset="-128"/>
              </a:defRPr>
            </a:lvl7pPr>
            <a:lvl8pPr marL="3429000" indent="-228600" eaLnBrk="0" fontAlgn="base" hangingPunct="0">
              <a:spcBef>
                <a:spcPct val="0"/>
              </a:spcBef>
              <a:spcAft>
                <a:spcPct val="0"/>
              </a:spcAft>
              <a:defRPr sz="3200">
                <a:solidFill>
                  <a:schemeClr val="tx1"/>
                </a:solidFill>
                <a:latin typeface="Arial" charset="0"/>
                <a:ea typeface="ＭＳ Ｐゴシック" charset="-128"/>
              </a:defRPr>
            </a:lvl8pPr>
            <a:lvl9pPr marL="3886200" indent="-228600" eaLnBrk="0" fontAlgn="base" hangingPunct="0">
              <a:spcBef>
                <a:spcPct val="0"/>
              </a:spcBef>
              <a:spcAft>
                <a:spcPct val="0"/>
              </a:spcAft>
              <a:defRPr sz="3200">
                <a:solidFill>
                  <a:schemeClr val="tx1"/>
                </a:solidFill>
                <a:latin typeface="Arial" charset="0"/>
                <a:ea typeface="ＭＳ Ｐゴシック" charset="-128"/>
              </a:defRPr>
            </a:lvl9pPr>
          </a:lstStyle>
          <a:p>
            <a:pPr>
              <a:defRPr/>
            </a:pPr>
            <a:r>
              <a:rPr lang="en-US" altLang="x-none" sz="1100" dirty="0"/>
              <a:t>EE2 – Circuits &amp; Systems</a:t>
            </a:r>
          </a:p>
        </p:txBody>
      </p:sp>
      <p:sp>
        <p:nvSpPr>
          <p:cNvPr id="1031" name="Rectangle 11">
            <a:extLst>
              <a:ext uri="{FF2B5EF4-FFF2-40B4-BE49-F238E27FC236}">
                <a16:creationId xmlns:a16="http://schemas.microsoft.com/office/drawing/2014/main" id="{9888FC28-B6F5-6F46-B294-7279FD028A17}"/>
              </a:ext>
            </a:extLst>
          </p:cNvPr>
          <p:cNvSpPr>
            <a:spLocks noChangeArrowheads="1"/>
          </p:cNvSpPr>
          <p:nvPr/>
        </p:nvSpPr>
        <p:spPr bwMode="auto">
          <a:xfrm>
            <a:off x="381000" y="904875"/>
            <a:ext cx="9136063" cy="76200"/>
          </a:xfrm>
          <a:prstGeom prst="rect">
            <a:avLst/>
          </a:prstGeom>
          <a:gradFill rotWithShape="0">
            <a:gsLst>
              <a:gs pos="0">
                <a:srgbClr val="591E00"/>
              </a:gs>
              <a:gs pos="100000">
                <a:srgbClr val="993300"/>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3200">
                <a:solidFill>
                  <a:schemeClr val="tx1"/>
                </a:solidFill>
                <a:latin typeface="Arial" charset="0"/>
                <a:ea typeface="ＭＳ Ｐゴシック" charset="-128"/>
              </a:defRPr>
            </a:lvl1pPr>
            <a:lvl2pPr marL="742950" indent="-285750">
              <a:defRPr sz="3200">
                <a:solidFill>
                  <a:schemeClr val="tx1"/>
                </a:solidFill>
                <a:latin typeface="Arial" charset="0"/>
                <a:ea typeface="ＭＳ Ｐゴシック" charset="-128"/>
              </a:defRPr>
            </a:lvl2pPr>
            <a:lvl3pPr marL="1143000" indent="-228600">
              <a:defRPr sz="3200">
                <a:solidFill>
                  <a:schemeClr val="tx1"/>
                </a:solidFill>
                <a:latin typeface="Arial" charset="0"/>
                <a:ea typeface="ＭＳ Ｐゴシック" charset="-128"/>
              </a:defRPr>
            </a:lvl3pPr>
            <a:lvl4pPr marL="1600200" indent="-228600">
              <a:defRPr sz="3200">
                <a:solidFill>
                  <a:schemeClr val="tx1"/>
                </a:solidFill>
                <a:latin typeface="Arial" charset="0"/>
                <a:ea typeface="ＭＳ Ｐゴシック" charset="-128"/>
              </a:defRPr>
            </a:lvl4pPr>
            <a:lvl5pPr marL="2057400" indent="-228600">
              <a:defRPr sz="3200">
                <a:solidFill>
                  <a:schemeClr val="tx1"/>
                </a:solidFill>
                <a:latin typeface="Arial" charset="0"/>
                <a:ea typeface="ＭＳ Ｐゴシック" charset="-128"/>
              </a:defRPr>
            </a:lvl5pPr>
            <a:lvl6pPr marL="2514600" indent="-228600" eaLnBrk="0" fontAlgn="base" hangingPunct="0">
              <a:spcBef>
                <a:spcPct val="0"/>
              </a:spcBef>
              <a:spcAft>
                <a:spcPct val="0"/>
              </a:spcAft>
              <a:defRPr sz="3200">
                <a:solidFill>
                  <a:schemeClr val="tx1"/>
                </a:solidFill>
                <a:latin typeface="Arial" charset="0"/>
                <a:ea typeface="ＭＳ Ｐゴシック" charset="-128"/>
              </a:defRPr>
            </a:lvl6pPr>
            <a:lvl7pPr marL="2971800" indent="-228600" eaLnBrk="0" fontAlgn="base" hangingPunct="0">
              <a:spcBef>
                <a:spcPct val="0"/>
              </a:spcBef>
              <a:spcAft>
                <a:spcPct val="0"/>
              </a:spcAft>
              <a:defRPr sz="3200">
                <a:solidFill>
                  <a:schemeClr val="tx1"/>
                </a:solidFill>
                <a:latin typeface="Arial" charset="0"/>
                <a:ea typeface="ＭＳ Ｐゴシック" charset="-128"/>
              </a:defRPr>
            </a:lvl7pPr>
            <a:lvl8pPr marL="3429000" indent="-228600" eaLnBrk="0" fontAlgn="base" hangingPunct="0">
              <a:spcBef>
                <a:spcPct val="0"/>
              </a:spcBef>
              <a:spcAft>
                <a:spcPct val="0"/>
              </a:spcAft>
              <a:defRPr sz="3200">
                <a:solidFill>
                  <a:schemeClr val="tx1"/>
                </a:solidFill>
                <a:latin typeface="Arial" charset="0"/>
                <a:ea typeface="ＭＳ Ｐゴシック" charset="-128"/>
              </a:defRPr>
            </a:lvl8pPr>
            <a:lvl9pPr marL="3886200" indent="-228600" eaLnBrk="0" fontAlgn="base" hangingPunct="0">
              <a:spcBef>
                <a:spcPct val="0"/>
              </a:spcBef>
              <a:spcAft>
                <a:spcPct val="0"/>
              </a:spcAft>
              <a:defRPr sz="3200">
                <a:solidFill>
                  <a:schemeClr val="tx1"/>
                </a:solidFill>
                <a:latin typeface="Arial" charset="0"/>
                <a:ea typeface="ＭＳ Ｐゴシック" charset="-128"/>
              </a:defRPr>
            </a:lvl9pPr>
          </a:lstStyle>
          <a:p>
            <a:pPr>
              <a:defRPr/>
            </a:pPr>
            <a:endParaRPr lang="x-none" altLang="x-none"/>
          </a:p>
        </p:txBody>
      </p:sp>
      <p:sp>
        <p:nvSpPr>
          <p:cNvPr id="1032" name="Line 12">
            <a:extLst>
              <a:ext uri="{FF2B5EF4-FFF2-40B4-BE49-F238E27FC236}">
                <a16:creationId xmlns:a16="http://schemas.microsoft.com/office/drawing/2014/main" id="{3E3B7ED7-D130-B942-8F81-03E0905BACD8}"/>
              </a:ext>
            </a:extLst>
          </p:cNvPr>
          <p:cNvSpPr>
            <a:spLocks noChangeShapeType="1"/>
          </p:cNvSpPr>
          <p:nvPr/>
        </p:nvSpPr>
        <p:spPr bwMode="auto">
          <a:xfrm>
            <a:off x="381000" y="6477000"/>
            <a:ext cx="9147175" cy="0"/>
          </a:xfrm>
          <a:prstGeom prst="line">
            <a:avLst/>
          </a:prstGeom>
          <a:noFill/>
          <a:ln w="38100">
            <a:solidFill>
              <a:srgbClr val="842C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lvl1pPr algn="ctr" rtl="0" eaLnBrk="0" fontAlgn="base" hangingPunct="0">
        <a:spcBef>
          <a:spcPct val="0"/>
        </a:spcBef>
        <a:spcAft>
          <a:spcPct val="0"/>
        </a:spcAft>
        <a:defRPr sz="2800" b="1">
          <a:solidFill>
            <a:schemeClr val="accent2"/>
          </a:solidFill>
          <a:latin typeface="+mj-lt"/>
          <a:ea typeface="ＭＳ Ｐゴシック" charset="0"/>
          <a:cs typeface="ＭＳ Ｐゴシック" charset="0"/>
        </a:defRPr>
      </a:lvl1pPr>
      <a:lvl2pPr algn="ctr" rtl="0" eaLnBrk="0" fontAlgn="base" hangingPunct="0">
        <a:spcBef>
          <a:spcPct val="0"/>
        </a:spcBef>
        <a:spcAft>
          <a:spcPct val="0"/>
        </a:spcAft>
        <a:defRPr sz="2800" b="1">
          <a:solidFill>
            <a:schemeClr val="accent2"/>
          </a:solidFill>
          <a:latin typeface="Arial" charset="0"/>
          <a:ea typeface="ＭＳ Ｐゴシック" charset="0"/>
          <a:cs typeface="ＭＳ Ｐゴシック" charset="0"/>
        </a:defRPr>
      </a:lvl2pPr>
      <a:lvl3pPr algn="ctr" rtl="0" eaLnBrk="0" fontAlgn="base" hangingPunct="0">
        <a:spcBef>
          <a:spcPct val="0"/>
        </a:spcBef>
        <a:spcAft>
          <a:spcPct val="0"/>
        </a:spcAft>
        <a:defRPr sz="2800" b="1">
          <a:solidFill>
            <a:schemeClr val="accent2"/>
          </a:solidFill>
          <a:latin typeface="Arial" charset="0"/>
          <a:ea typeface="ＭＳ Ｐゴシック" charset="0"/>
          <a:cs typeface="ＭＳ Ｐゴシック" charset="0"/>
        </a:defRPr>
      </a:lvl3pPr>
      <a:lvl4pPr algn="ctr" rtl="0" eaLnBrk="0" fontAlgn="base" hangingPunct="0">
        <a:spcBef>
          <a:spcPct val="0"/>
        </a:spcBef>
        <a:spcAft>
          <a:spcPct val="0"/>
        </a:spcAft>
        <a:defRPr sz="2800" b="1">
          <a:solidFill>
            <a:schemeClr val="accent2"/>
          </a:solidFill>
          <a:latin typeface="Arial" charset="0"/>
          <a:ea typeface="ＭＳ Ｐゴシック" charset="0"/>
          <a:cs typeface="ＭＳ Ｐゴシック" charset="0"/>
        </a:defRPr>
      </a:lvl4pPr>
      <a:lvl5pPr algn="ctr" rtl="0" eaLnBrk="0" fontAlgn="base" hangingPunct="0">
        <a:spcBef>
          <a:spcPct val="0"/>
        </a:spcBef>
        <a:spcAft>
          <a:spcPct val="0"/>
        </a:spcAft>
        <a:defRPr sz="2800" b="1">
          <a:solidFill>
            <a:schemeClr val="accent2"/>
          </a:solidFill>
          <a:latin typeface="Arial" charset="0"/>
          <a:ea typeface="ＭＳ Ｐゴシック" charset="0"/>
          <a:cs typeface="ＭＳ Ｐゴシック" charset="0"/>
        </a:defRPr>
      </a:lvl5pPr>
      <a:lvl6pPr marL="457200" algn="ctr" rtl="0" eaLnBrk="0" fontAlgn="base" hangingPunct="0">
        <a:spcBef>
          <a:spcPct val="0"/>
        </a:spcBef>
        <a:spcAft>
          <a:spcPct val="0"/>
        </a:spcAft>
        <a:defRPr sz="2800" b="1">
          <a:solidFill>
            <a:schemeClr val="accent2"/>
          </a:solidFill>
          <a:latin typeface="Arial" charset="0"/>
        </a:defRPr>
      </a:lvl6pPr>
      <a:lvl7pPr marL="914400" algn="ctr" rtl="0" eaLnBrk="0" fontAlgn="base" hangingPunct="0">
        <a:spcBef>
          <a:spcPct val="0"/>
        </a:spcBef>
        <a:spcAft>
          <a:spcPct val="0"/>
        </a:spcAft>
        <a:defRPr sz="2800" b="1">
          <a:solidFill>
            <a:schemeClr val="accent2"/>
          </a:solidFill>
          <a:latin typeface="Arial" charset="0"/>
        </a:defRPr>
      </a:lvl7pPr>
      <a:lvl8pPr marL="1371600" algn="ctr" rtl="0" eaLnBrk="0" fontAlgn="base" hangingPunct="0">
        <a:spcBef>
          <a:spcPct val="0"/>
        </a:spcBef>
        <a:spcAft>
          <a:spcPct val="0"/>
        </a:spcAft>
        <a:defRPr sz="2800" b="1">
          <a:solidFill>
            <a:schemeClr val="accent2"/>
          </a:solidFill>
          <a:latin typeface="Arial" charset="0"/>
        </a:defRPr>
      </a:lvl8pPr>
      <a:lvl9pPr marL="1828800" algn="ctr" rtl="0" eaLnBrk="0" fontAlgn="base" hangingPunct="0">
        <a:spcBef>
          <a:spcPct val="0"/>
        </a:spcBef>
        <a:spcAft>
          <a:spcPct val="0"/>
        </a:spcAft>
        <a:defRPr sz="2800" b="1">
          <a:solidFill>
            <a:schemeClr val="accent2"/>
          </a:solidFill>
          <a:latin typeface="Arial" charset="0"/>
        </a:defRPr>
      </a:lvl9pPr>
    </p:titleStyle>
    <p:bodyStyle>
      <a:lvl1pPr marL="342900" indent="-342900" algn="l" rtl="0" eaLnBrk="0" fontAlgn="base" hangingPunct="0">
        <a:spcBef>
          <a:spcPct val="20000"/>
        </a:spcBef>
        <a:spcAft>
          <a:spcPct val="0"/>
        </a:spcAft>
        <a:buClr>
          <a:srgbClr val="842C00"/>
        </a:buClr>
        <a:buSzPct val="75000"/>
        <a:buFont typeface="Monotype Sorts" pitchFamily="2" charset="2"/>
        <a:buChar char="u"/>
        <a:defRPr sz="20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lr>
          <a:srgbClr val="842C00"/>
        </a:buClr>
        <a:buSzPct val="100000"/>
        <a:buFont typeface="Symbol" pitchFamily="2" charset="2"/>
        <a:buChar char="·"/>
        <a:defRPr>
          <a:solidFill>
            <a:schemeClr val="tx1"/>
          </a:solidFill>
          <a:latin typeface="+mn-lt"/>
          <a:ea typeface="ＭＳ Ｐゴシック" charset="-128"/>
        </a:defRPr>
      </a:lvl2pPr>
      <a:lvl3pPr marL="1143000" indent="-228600" algn="l" rtl="0" eaLnBrk="0" fontAlgn="base" hangingPunct="0">
        <a:spcBef>
          <a:spcPct val="20000"/>
        </a:spcBef>
        <a:spcAft>
          <a:spcPct val="0"/>
        </a:spcAft>
        <a:buClr>
          <a:srgbClr val="842C00"/>
        </a:buClr>
        <a:buSzPct val="100000"/>
        <a:buFont typeface="Monotype Sorts" pitchFamily="2" charset="2"/>
        <a:buChar char="ä"/>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65000"/>
        <a:buFont typeface="Monotype Sorts" pitchFamily="2" charset="2"/>
        <a:buChar char="u"/>
        <a:defRPr sz="14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5pPr>
      <a:lvl6pPr marL="25146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6pPr>
      <a:lvl7pPr marL="29718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7pPr>
      <a:lvl8pPr marL="34290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8pPr>
      <a:lvl9pPr marL="38862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fpgasoftware.intel.com/18.0/?edition=lite&amp;platform=windows"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7" name="Picture 7">
            <a:extLst>
              <a:ext uri="{FF2B5EF4-FFF2-40B4-BE49-F238E27FC236}">
                <a16:creationId xmlns:a16="http://schemas.microsoft.com/office/drawing/2014/main" id="{3F9B9DC0-1041-0E47-A0D8-BB89F65835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931" t="12744" b="12642"/>
          <a:stretch>
            <a:fillRect/>
          </a:stretch>
        </p:blipFill>
        <p:spPr bwMode="auto">
          <a:xfrm>
            <a:off x="344488" y="115888"/>
            <a:ext cx="2233612"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1026">
            <a:extLst>
              <a:ext uri="{FF2B5EF4-FFF2-40B4-BE49-F238E27FC236}">
                <a16:creationId xmlns:a16="http://schemas.microsoft.com/office/drawing/2014/main" id="{0EAD3E9E-F0ED-1F45-A5EE-7322A035A876}"/>
              </a:ext>
            </a:extLst>
          </p:cNvPr>
          <p:cNvSpPr>
            <a:spLocks noGrp="1" noChangeArrowheads="1"/>
          </p:cNvSpPr>
          <p:nvPr>
            <p:ph type="title"/>
          </p:nvPr>
        </p:nvSpPr>
        <p:spPr>
          <a:xfrm>
            <a:off x="1069975" y="1684338"/>
            <a:ext cx="7623175" cy="2062162"/>
          </a:xfrm>
        </p:spPr>
        <p:txBody>
          <a:bodyPr/>
          <a:lstStyle/>
          <a:p>
            <a:r>
              <a:rPr lang="en-US" altLang="en-US" dirty="0">
                <a:latin typeface="Verdana" panose="020B0604030504040204" pitchFamily="34" charset="0"/>
                <a:ea typeface="ＭＳ Ｐゴシック" panose="020B0600070205080204" pitchFamily="34" charset="-128"/>
              </a:rPr>
              <a:t>Lecture 5</a:t>
            </a:r>
            <a:br>
              <a:rPr lang="en-US" altLang="en-US" dirty="0">
                <a:latin typeface="Verdana" panose="020B0604030504040204" pitchFamily="34" charset="0"/>
                <a:ea typeface="ＭＳ Ｐゴシック" panose="020B0600070205080204" pitchFamily="34" charset="-128"/>
              </a:rPr>
            </a:br>
            <a:br>
              <a:rPr lang="en-US" altLang="en-US" dirty="0">
                <a:latin typeface="Verdana" panose="020B0604030504040204" pitchFamily="34" charset="0"/>
                <a:ea typeface="ＭＳ Ｐゴシック" panose="020B0600070205080204" pitchFamily="34" charset="-128"/>
              </a:rPr>
            </a:br>
            <a:r>
              <a:rPr lang="en-US" altLang="en-US" dirty="0">
                <a:latin typeface="Verdana" panose="020B0604030504040204" pitchFamily="34" charset="0"/>
                <a:ea typeface="ＭＳ Ｐゴシック" panose="020B0600070205080204" pitchFamily="34" charset="-128"/>
              </a:rPr>
              <a:t>Digital Design with FPGA</a:t>
            </a:r>
          </a:p>
        </p:txBody>
      </p:sp>
      <p:sp>
        <p:nvSpPr>
          <p:cNvPr id="4099" name="Rectangle 1030">
            <a:extLst>
              <a:ext uri="{FF2B5EF4-FFF2-40B4-BE49-F238E27FC236}">
                <a16:creationId xmlns:a16="http://schemas.microsoft.com/office/drawing/2014/main" id="{00391FAA-EC10-1146-BC7C-DC7257E366BB}"/>
              </a:ext>
            </a:extLst>
          </p:cNvPr>
          <p:cNvSpPr>
            <a:spLocks noChangeArrowheads="1"/>
          </p:cNvSpPr>
          <p:nvPr/>
        </p:nvSpPr>
        <p:spPr bwMode="auto">
          <a:xfrm>
            <a:off x="1497013" y="4149725"/>
            <a:ext cx="6769100" cy="103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endParaRPr lang="en-US" altLang="en-US" sz="1800" dirty="0">
              <a:solidFill>
                <a:schemeClr val="accent2"/>
              </a:solidFill>
            </a:endParaRPr>
          </a:p>
          <a:p>
            <a:pPr algn="ctr">
              <a:spcBef>
                <a:spcPct val="0"/>
              </a:spcBef>
              <a:buClrTx/>
              <a:buSzTx/>
              <a:buFontTx/>
              <a:buNone/>
            </a:pPr>
            <a:r>
              <a:rPr lang="en-US" altLang="en-US" sz="1800" dirty="0">
                <a:solidFill>
                  <a:schemeClr val="accent2"/>
                </a:solidFill>
              </a:rPr>
              <a:t>Peter Cheung</a:t>
            </a:r>
            <a:br>
              <a:rPr lang="en-US" altLang="en-US" sz="1800" dirty="0">
                <a:solidFill>
                  <a:schemeClr val="accent2"/>
                </a:solidFill>
              </a:rPr>
            </a:br>
            <a:r>
              <a:rPr lang="en-US" altLang="en-US" sz="1800" dirty="0">
                <a:solidFill>
                  <a:schemeClr val="accent2"/>
                </a:solidFill>
              </a:rPr>
              <a:t>Imperial College London</a:t>
            </a:r>
            <a:br>
              <a:rPr lang="en-US" altLang="en-US" sz="1800" dirty="0">
                <a:solidFill>
                  <a:schemeClr val="accent2"/>
                </a:solidFill>
              </a:rPr>
            </a:br>
            <a:endParaRPr lang="en-US" altLang="en-US" sz="2800" dirty="0">
              <a:solidFill>
                <a:schemeClr val="accent2"/>
              </a:solidFill>
            </a:endParaRPr>
          </a:p>
        </p:txBody>
      </p:sp>
      <p:sp>
        <p:nvSpPr>
          <p:cNvPr id="4100" name="Rectangle 1031">
            <a:extLst>
              <a:ext uri="{FF2B5EF4-FFF2-40B4-BE49-F238E27FC236}">
                <a16:creationId xmlns:a16="http://schemas.microsoft.com/office/drawing/2014/main" id="{09596CC6-1544-CA45-A384-FEE64EBF90FA}"/>
              </a:ext>
            </a:extLst>
          </p:cNvPr>
          <p:cNvSpPr>
            <a:spLocks noChangeArrowheads="1"/>
          </p:cNvSpPr>
          <p:nvPr/>
        </p:nvSpPr>
        <p:spPr bwMode="auto">
          <a:xfrm>
            <a:off x="271463" y="5589588"/>
            <a:ext cx="9220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1800" dirty="0">
                <a:solidFill>
                  <a:schemeClr val="accent2"/>
                </a:solidFill>
              </a:rPr>
              <a:t>Course webpage: </a:t>
            </a:r>
            <a:r>
              <a:rPr lang="en-US" altLang="en-US" sz="1800" dirty="0" err="1">
                <a:solidFill>
                  <a:schemeClr val="accent2"/>
                </a:solidFill>
              </a:rPr>
              <a:t>www.ee.ic.ac.uk</a:t>
            </a:r>
            <a:r>
              <a:rPr lang="en-US" altLang="en-US" sz="1800" dirty="0">
                <a:solidFill>
                  <a:schemeClr val="accent2"/>
                </a:solidFill>
              </a:rPr>
              <a:t>/</a:t>
            </a:r>
            <a:r>
              <a:rPr lang="en-US" altLang="en-US" sz="1800" dirty="0" err="1">
                <a:solidFill>
                  <a:schemeClr val="accent2"/>
                </a:solidFill>
              </a:rPr>
              <a:t>pcheung</a:t>
            </a:r>
            <a:r>
              <a:rPr lang="en-US" altLang="en-US" sz="1800" dirty="0">
                <a:solidFill>
                  <a:schemeClr val="accent2"/>
                </a:solidFill>
              </a:rPr>
              <a:t>/teaching/EE2_CAS/</a:t>
            </a:r>
            <a:br>
              <a:rPr lang="en-US" altLang="en-US" sz="1800" dirty="0">
                <a:solidFill>
                  <a:schemeClr val="accent2"/>
                </a:solidFill>
              </a:rPr>
            </a:br>
            <a:r>
              <a:rPr lang="en-US" altLang="en-US" sz="1800" dirty="0">
                <a:solidFill>
                  <a:schemeClr val="accent2"/>
                </a:solidFill>
              </a:rPr>
              <a:t>E-mail: </a:t>
            </a:r>
            <a:r>
              <a:rPr lang="en-US" altLang="en-US" sz="1800" dirty="0" err="1">
                <a:solidFill>
                  <a:schemeClr val="accent2"/>
                </a:solidFill>
              </a:rPr>
              <a:t>p.cheung@imperial.ac.uk</a:t>
            </a:r>
            <a:endParaRPr lang="en-US" altLang="en-US" sz="1800" dirty="0">
              <a:solidFill>
                <a:schemeClr val="accent2"/>
              </a:solidFill>
            </a:endParaRPr>
          </a:p>
        </p:txBody>
      </p:sp>
      <p:sp>
        <p:nvSpPr>
          <p:cNvPr id="4102" name="TextBox 1">
            <a:extLst>
              <a:ext uri="{FF2B5EF4-FFF2-40B4-BE49-F238E27FC236}">
                <a16:creationId xmlns:a16="http://schemas.microsoft.com/office/drawing/2014/main" id="{E1BD71EE-8C75-EC4F-85EE-77DD1408EF3B}"/>
              </a:ext>
            </a:extLst>
          </p:cNvPr>
          <p:cNvSpPr txBox="1">
            <a:spLocks noChangeArrowheads="1"/>
          </p:cNvSpPr>
          <p:nvPr/>
        </p:nvSpPr>
        <p:spPr bwMode="auto">
          <a:xfrm>
            <a:off x="8255000" y="5715000"/>
            <a:ext cx="1841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lang="en-US" altLang="en-US" sz="3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6385" name="Picture 3">
            <a:extLst>
              <a:ext uri="{FF2B5EF4-FFF2-40B4-BE49-F238E27FC236}">
                <a16:creationId xmlns:a16="http://schemas.microsoft.com/office/drawing/2014/main" id="{20E43853-BA36-5B4D-8318-73090321835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4488" y="1700213"/>
            <a:ext cx="2963862" cy="247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6" name="Rectangle 2">
            <a:extLst>
              <a:ext uri="{FF2B5EF4-FFF2-40B4-BE49-F238E27FC236}">
                <a16:creationId xmlns:a16="http://schemas.microsoft.com/office/drawing/2014/main" id="{174CE087-0D85-2B47-BED0-B507CD67E80A}"/>
              </a:ext>
            </a:extLst>
          </p:cNvPr>
          <p:cNvSpPr>
            <a:spLocks noGrp="1" noChangeArrowheads="1"/>
          </p:cNvSpPr>
          <p:nvPr>
            <p:ph type="title"/>
          </p:nvPr>
        </p:nvSpPr>
        <p:spPr>
          <a:xfrm>
            <a:off x="774700" y="115888"/>
            <a:ext cx="8420100" cy="603250"/>
          </a:xfrm>
          <a:noFill/>
        </p:spPr>
        <p:txBody>
          <a:bodyPr/>
          <a:lstStyle/>
          <a:p>
            <a:r>
              <a:rPr lang="en-GB" altLang="en-US">
                <a:ea typeface="ＭＳ Ｐゴシック" panose="020B0600070205080204" pitchFamily="34" charset="-128"/>
              </a:rPr>
              <a:t>How to describe/specify digital circuits?</a:t>
            </a:r>
          </a:p>
        </p:txBody>
      </p:sp>
      <p:sp>
        <p:nvSpPr>
          <p:cNvPr id="16387" name="TextBox 2">
            <a:extLst>
              <a:ext uri="{FF2B5EF4-FFF2-40B4-BE49-F238E27FC236}">
                <a16:creationId xmlns:a16="http://schemas.microsoft.com/office/drawing/2014/main" id="{42CE98D3-4670-844D-A142-276F81D65BBC}"/>
              </a:ext>
            </a:extLst>
          </p:cNvPr>
          <p:cNvSpPr txBox="1">
            <a:spLocks noChangeArrowheads="1"/>
          </p:cNvSpPr>
          <p:nvPr/>
        </p:nvSpPr>
        <p:spPr bwMode="auto">
          <a:xfrm>
            <a:off x="1857375" y="1052513"/>
            <a:ext cx="1511300" cy="4619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1200" dirty="0">
                <a:solidFill>
                  <a:srgbClr val="FFFFFF"/>
                </a:solidFill>
              </a:rPr>
              <a:t>Schematic diagram &amp; gates</a:t>
            </a:r>
          </a:p>
        </p:txBody>
      </p:sp>
      <p:pic>
        <p:nvPicPr>
          <p:cNvPr id="16388" name="Picture 3">
            <a:extLst>
              <a:ext uri="{FF2B5EF4-FFF2-40B4-BE49-F238E27FC236}">
                <a16:creationId xmlns:a16="http://schemas.microsoft.com/office/drawing/2014/main" id="{79FD016E-C44D-6149-B67B-1167EDFD596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376738" y="2708275"/>
            <a:ext cx="1798637" cy="299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TextBox 5">
            <a:extLst>
              <a:ext uri="{FF2B5EF4-FFF2-40B4-BE49-F238E27FC236}">
                <a16:creationId xmlns:a16="http://schemas.microsoft.com/office/drawing/2014/main" id="{1E633CF2-59B0-3941-91D5-CEB9D6F74A1A}"/>
              </a:ext>
            </a:extLst>
          </p:cNvPr>
          <p:cNvSpPr txBox="1">
            <a:spLocks noChangeArrowheads="1"/>
          </p:cNvSpPr>
          <p:nvPr/>
        </p:nvSpPr>
        <p:spPr bwMode="auto">
          <a:xfrm>
            <a:off x="4592638" y="2349500"/>
            <a:ext cx="1512887" cy="276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1200">
                <a:solidFill>
                  <a:srgbClr val="FFFFFF"/>
                </a:solidFill>
              </a:rPr>
              <a:t>Truth table</a:t>
            </a:r>
          </a:p>
        </p:txBody>
      </p:sp>
      <p:pic>
        <p:nvPicPr>
          <p:cNvPr id="16390" name="Picture 4">
            <a:extLst>
              <a:ext uri="{FF2B5EF4-FFF2-40B4-BE49-F238E27FC236}">
                <a16:creationId xmlns:a16="http://schemas.microsoft.com/office/drawing/2014/main" id="{9AD434B3-4EE3-C949-87A6-35A500DB8E9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0163" y="4764088"/>
            <a:ext cx="4248150"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1" name="Picture 2">
            <a:extLst>
              <a:ext uri="{FF2B5EF4-FFF2-40B4-BE49-F238E27FC236}">
                <a16:creationId xmlns:a16="http://schemas.microsoft.com/office/drawing/2014/main" id="{FB3493E1-0F9E-8F42-806E-605E20DECD15}"/>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089400" y="1700213"/>
            <a:ext cx="53355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2" name="TextBox 8">
            <a:extLst>
              <a:ext uri="{FF2B5EF4-FFF2-40B4-BE49-F238E27FC236}">
                <a16:creationId xmlns:a16="http://schemas.microsoft.com/office/drawing/2014/main" id="{FFBBBA9A-0360-0645-ACA3-5C8984349F1F}"/>
              </a:ext>
            </a:extLst>
          </p:cNvPr>
          <p:cNvSpPr txBox="1">
            <a:spLocks noChangeArrowheads="1"/>
          </p:cNvSpPr>
          <p:nvPr/>
        </p:nvSpPr>
        <p:spPr bwMode="auto">
          <a:xfrm>
            <a:off x="5816600" y="1196975"/>
            <a:ext cx="1512888" cy="276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1200">
                <a:solidFill>
                  <a:srgbClr val="FFFFFF"/>
                </a:solidFill>
              </a:rPr>
              <a:t>Boolean equation</a:t>
            </a:r>
          </a:p>
        </p:txBody>
      </p:sp>
      <p:pic>
        <p:nvPicPr>
          <p:cNvPr id="16393" name="Picture 4">
            <a:extLst>
              <a:ext uri="{FF2B5EF4-FFF2-40B4-BE49-F238E27FC236}">
                <a16:creationId xmlns:a16="http://schemas.microsoft.com/office/drawing/2014/main" id="{D42317FF-D886-6042-BE5F-E028E27515CE}"/>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608763" y="3500438"/>
            <a:ext cx="3121025" cy="266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4" name="TextBox 12">
            <a:extLst>
              <a:ext uri="{FF2B5EF4-FFF2-40B4-BE49-F238E27FC236}">
                <a16:creationId xmlns:a16="http://schemas.microsoft.com/office/drawing/2014/main" id="{D12745E8-0F2D-FB46-B4C1-547D250C2921}"/>
              </a:ext>
            </a:extLst>
          </p:cNvPr>
          <p:cNvSpPr txBox="1">
            <a:spLocks noChangeArrowheads="1"/>
          </p:cNvSpPr>
          <p:nvPr/>
        </p:nvSpPr>
        <p:spPr bwMode="auto">
          <a:xfrm>
            <a:off x="7040563" y="2924175"/>
            <a:ext cx="2449512" cy="4619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1200">
                <a:solidFill>
                  <a:srgbClr val="FFFFFF"/>
                </a:solidFill>
              </a:rPr>
              <a:t>Hardware Description Language (HDL)</a:t>
            </a:r>
          </a:p>
        </p:txBody>
      </p:sp>
      <p:sp>
        <p:nvSpPr>
          <p:cNvPr id="16395" name="TextBox 13">
            <a:extLst>
              <a:ext uri="{FF2B5EF4-FFF2-40B4-BE49-F238E27FC236}">
                <a16:creationId xmlns:a16="http://schemas.microsoft.com/office/drawing/2014/main" id="{F75D80D0-EE4E-9843-A1A1-290E16C222C1}"/>
              </a:ext>
            </a:extLst>
          </p:cNvPr>
          <p:cNvSpPr txBox="1">
            <a:spLocks noChangeArrowheads="1"/>
          </p:cNvSpPr>
          <p:nvPr/>
        </p:nvSpPr>
        <p:spPr bwMode="auto">
          <a:xfrm>
            <a:off x="1568450" y="4365625"/>
            <a:ext cx="1512888" cy="276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1200">
                <a:solidFill>
                  <a:srgbClr val="FFFFFF"/>
                </a:solidFill>
              </a:rPr>
              <a:t>Timing Diagram</a:t>
            </a:r>
          </a:p>
        </p:txBody>
      </p:sp>
    </p:spTree>
    <p:extLst>
      <p:ext uri="{BB962C8B-B14F-4D97-AF65-F5344CB8AC3E}">
        <p14:creationId xmlns:p14="http://schemas.microsoft.com/office/powerpoint/2010/main" val="440256162"/>
      </p:ext>
    </p:extLst>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6392"/>
                                        </p:tgtEl>
                                        <p:attrNameLst>
                                          <p:attrName>style.visibility</p:attrName>
                                        </p:attrNameLst>
                                      </p:cBhvr>
                                      <p:to>
                                        <p:strVal val="visible"/>
                                      </p:to>
                                    </p:set>
                                    <p:animEffect transition="in" filter="checkerboard(across)">
                                      <p:cBhvr>
                                        <p:cTn id="7" dur="500"/>
                                        <p:tgtEl>
                                          <p:spTgt spid="16392"/>
                                        </p:tgtEl>
                                      </p:cBhvr>
                                    </p:animEffect>
                                  </p:childTnLst>
                                </p:cTn>
                              </p:par>
                              <p:par>
                                <p:cTn id="8" presetID="5" presetClass="entr" presetSubtype="10" fill="hold" nodeType="withEffect">
                                  <p:stCondLst>
                                    <p:cond delay="0"/>
                                  </p:stCondLst>
                                  <p:childTnLst>
                                    <p:set>
                                      <p:cBhvr>
                                        <p:cTn id="9" dur="1" fill="hold">
                                          <p:stCondLst>
                                            <p:cond delay="0"/>
                                          </p:stCondLst>
                                        </p:cTn>
                                        <p:tgtEl>
                                          <p:spTgt spid="16391"/>
                                        </p:tgtEl>
                                        <p:attrNameLst>
                                          <p:attrName>style.visibility</p:attrName>
                                        </p:attrNameLst>
                                      </p:cBhvr>
                                      <p:to>
                                        <p:strVal val="visible"/>
                                      </p:to>
                                    </p:set>
                                    <p:animEffect transition="in" filter="checkerboard(across)">
                                      <p:cBhvr>
                                        <p:cTn id="10" dur="500"/>
                                        <p:tgtEl>
                                          <p:spTgt spid="16391"/>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6395"/>
                                        </p:tgtEl>
                                        <p:attrNameLst>
                                          <p:attrName>style.visibility</p:attrName>
                                        </p:attrNameLst>
                                      </p:cBhvr>
                                      <p:to>
                                        <p:strVal val="visible"/>
                                      </p:to>
                                    </p:set>
                                    <p:animEffect transition="in" filter="dissolve">
                                      <p:cBhvr>
                                        <p:cTn id="15" dur="500"/>
                                        <p:tgtEl>
                                          <p:spTgt spid="16395"/>
                                        </p:tgtEl>
                                      </p:cBhvr>
                                    </p:animEffect>
                                  </p:childTnLst>
                                </p:cTn>
                              </p:par>
                              <p:par>
                                <p:cTn id="16" presetID="9" presetClass="entr" presetSubtype="0" fill="hold" nodeType="withEffect">
                                  <p:stCondLst>
                                    <p:cond delay="0"/>
                                  </p:stCondLst>
                                  <p:childTnLst>
                                    <p:set>
                                      <p:cBhvr>
                                        <p:cTn id="17" dur="1" fill="hold">
                                          <p:stCondLst>
                                            <p:cond delay="0"/>
                                          </p:stCondLst>
                                        </p:cTn>
                                        <p:tgtEl>
                                          <p:spTgt spid="16390"/>
                                        </p:tgtEl>
                                        <p:attrNameLst>
                                          <p:attrName>style.visibility</p:attrName>
                                        </p:attrNameLst>
                                      </p:cBhvr>
                                      <p:to>
                                        <p:strVal val="visible"/>
                                      </p:to>
                                    </p:set>
                                    <p:animEffect transition="in" filter="dissolve">
                                      <p:cBhvr>
                                        <p:cTn id="18" dur="500"/>
                                        <p:tgtEl>
                                          <p:spTgt spid="16390"/>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6389"/>
                                        </p:tgtEl>
                                        <p:attrNameLst>
                                          <p:attrName>style.visibility</p:attrName>
                                        </p:attrNameLst>
                                      </p:cBhvr>
                                      <p:to>
                                        <p:strVal val="visible"/>
                                      </p:to>
                                    </p:set>
                                    <p:animEffect transition="in" filter="dissolve">
                                      <p:cBhvr>
                                        <p:cTn id="23" dur="500"/>
                                        <p:tgtEl>
                                          <p:spTgt spid="16389"/>
                                        </p:tgtEl>
                                      </p:cBhvr>
                                    </p:animEffect>
                                  </p:childTnLst>
                                </p:cTn>
                              </p:par>
                              <p:par>
                                <p:cTn id="24" presetID="9" presetClass="entr" presetSubtype="0" fill="hold" nodeType="withEffect">
                                  <p:stCondLst>
                                    <p:cond delay="0"/>
                                  </p:stCondLst>
                                  <p:childTnLst>
                                    <p:set>
                                      <p:cBhvr>
                                        <p:cTn id="25" dur="1" fill="hold">
                                          <p:stCondLst>
                                            <p:cond delay="0"/>
                                          </p:stCondLst>
                                        </p:cTn>
                                        <p:tgtEl>
                                          <p:spTgt spid="16388"/>
                                        </p:tgtEl>
                                        <p:attrNameLst>
                                          <p:attrName>style.visibility</p:attrName>
                                        </p:attrNameLst>
                                      </p:cBhvr>
                                      <p:to>
                                        <p:strVal val="visible"/>
                                      </p:to>
                                    </p:set>
                                    <p:animEffect transition="in" filter="dissolve">
                                      <p:cBhvr>
                                        <p:cTn id="26" dur="500"/>
                                        <p:tgtEl>
                                          <p:spTgt spid="1638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6394"/>
                                        </p:tgtEl>
                                        <p:attrNameLst>
                                          <p:attrName>style.visibility</p:attrName>
                                        </p:attrNameLst>
                                      </p:cBhvr>
                                      <p:to>
                                        <p:strVal val="visible"/>
                                      </p:to>
                                    </p:set>
                                    <p:animEffect transition="in" filter="dissolve">
                                      <p:cBhvr>
                                        <p:cTn id="31" dur="500"/>
                                        <p:tgtEl>
                                          <p:spTgt spid="16394"/>
                                        </p:tgtEl>
                                      </p:cBhvr>
                                    </p:animEffect>
                                  </p:childTnLst>
                                </p:cTn>
                              </p:par>
                              <p:par>
                                <p:cTn id="32" presetID="9" presetClass="entr" presetSubtype="0" fill="hold" nodeType="withEffect">
                                  <p:stCondLst>
                                    <p:cond delay="0"/>
                                  </p:stCondLst>
                                  <p:childTnLst>
                                    <p:set>
                                      <p:cBhvr>
                                        <p:cTn id="33" dur="1" fill="hold">
                                          <p:stCondLst>
                                            <p:cond delay="0"/>
                                          </p:stCondLst>
                                        </p:cTn>
                                        <p:tgtEl>
                                          <p:spTgt spid="16393"/>
                                        </p:tgtEl>
                                        <p:attrNameLst>
                                          <p:attrName>style.visibility</p:attrName>
                                        </p:attrNameLst>
                                      </p:cBhvr>
                                      <p:to>
                                        <p:strVal val="visible"/>
                                      </p:to>
                                    </p:set>
                                    <p:animEffect transition="in" filter="dissolve">
                                      <p:cBhvr>
                                        <p:cTn id="34" dur="500"/>
                                        <p:tgtEl>
                                          <p:spTgt spid="16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animBg="1"/>
      <p:bldP spid="16392" grpId="0" animBg="1"/>
      <p:bldP spid="16394" grpId="0" animBg="1"/>
      <p:bldP spid="16395"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D86C9D23-0D37-4345-AAD4-5E12DD66DC91}"/>
              </a:ext>
            </a:extLst>
          </p:cNvPr>
          <p:cNvSpPr>
            <a:spLocks noGrp="1" noChangeArrowheads="1"/>
          </p:cNvSpPr>
          <p:nvPr>
            <p:ph type="title"/>
          </p:nvPr>
        </p:nvSpPr>
        <p:spPr>
          <a:xfrm>
            <a:off x="774700" y="115888"/>
            <a:ext cx="8420100" cy="603250"/>
          </a:xfrm>
          <a:noFill/>
        </p:spPr>
        <p:txBody>
          <a:bodyPr/>
          <a:lstStyle/>
          <a:p>
            <a:r>
              <a:rPr lang="en-GB" altLang="en-US">
                <a:ea typeface="ＭＳ Ｐゴシック" panose="020B0600070205080204" pitchFamily="34" charset="-128"/>
              </a:rPr>
              <a:t>Basic digital building blocks</a:t>
            </a:r>
          </a:p>
        </p:txBody>
      </p:sp>
      <p:pic>
        <p:nvPicPr>
          <p:cNvPr id="18434" name="Picture 1">
            <a:extLst>
              <a:ext uri="{FF2B5EF4-FFF2-40B4-BE49-F238E27FC236}">
                <a16:creationId xmlns:a16="http://schemas.microsoft.com/office/drawing/2014/main" id="{61554C66-01DA-3F47-B4E4-5E6C1DB80D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4488" y="1412875"/>
            <a:ext cx="21844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TextBox 3">
            <a:extLst>
              <a:ext uri="{FF2B5EF4-FFF2-40B4-BE49-F238E27FC236}">
                <a16:creationId xmlns:a16="http://schemas.microsoft.com/office/drawing/2014/main" id="{E2B8C29E-E2A9-8C4B-909F-D9F08C82E669}"/>
              </a:ext>
            </a:extLst>
          </p:cNvPr>
          <p:cNvSpPr txBox="1">
            <a:spLocks noChangeArrowheads="1"/>
          </p:cNvSpPr>
          <p:nvPr/>
        </p:nvSpPr>
        <p:spPr bwMode="auto">
          <a:xfrm>
            <a:off x="560388" y="1125538"/>
            <a:ext cx="1800225" cy="276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1200" b="1">
                <a:solidFill>
                  <a:srgbClr val="FFFFFF"/>
                </a:solidFill>
              </a:rPr>
              <a:t>Primitive Logic Gates</a:t>
            </a:r>
          </a:p>
        </p:txBody>
      </p:sp>
      <p:pic>
        <p:nvPicPr>
          <p:cNvPr id="18436" name="Picture 2">
            <a:extLst>
              <a:ext uri="{FF2B5EF4-FFF2-40B4-BE49-F238E27FC236}">
                <a16:creationId xmlns:a16="http://schemas.microsoft.com/office/drawing/2014/main" id="{39DBB914-1D08-1340-A605-CB0E319265F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720975" y="1412875"/>
            <a:ext cx="1997075"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TextBox 5">
            <a:extLst>
              <a:ext uri="{FF2B5EF4-FFF2-40B4-BE49-F238E27FC236}">
                <a16:creationId xmlns:a16="http://schemas.microsoft.com/office/drawing/2014/main" id="{55966CD5-5694-434A-AAC3-15B8D1BDB834}"/>
              </a:ext>
            </a:extLst>
          </p:cNvPr>
          <p:cNvSpPr txBox="1">
            <a:spLocks noChangeArrowheads="1"/>
          </p:cNvSpPr>
          <p:nvPr/>
        </p:nvSpPr>
        <p:spPr bwMode="auto">
          <a:xfrm>
            <a:off x="3152775" y="1125538"/>
            <a:ext cx="1223963" cy="276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1200" b="1">
                <a:solidFill>
                  <a:srgbClr val="FFFFFF"/>
                </a:solidFill>
              </a:rPr>
              <a:t>Multiplexers</a:t>
            </a:r>
          </a:p>
        </p:txBody>
      </p:sp>
      <p:pic>
        <p:nvPicPr>
          <p:cNvPr id="18438" name="Picture 4">
            <a:extLst>
              <a:ext uri="{FF2B5EF4-FFF2-40B4-BE49-F238E27FC236}">
                <a16:creationId xmlns:a16="http://schemas.microsoft.com/office/drawing/2014/main" id="{405EC33D-7F66-3E43-95AE-1F763EC1D67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600700" y="1484313"/>
            <a:ext cx="3570288" cy="84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9" name="TextBox 7">
            <a:extLst>
              <a:ext uri="{FF2B5EF4-FFF2-40B4-BE49-F238E27FC236}">
                <a16:creationId xmlns:a16="http://schemas.microsoft.com/office/drawing/2014/main" id="{0785E123-94F5-964D-B247-E36C47D05FB0}"/>
              </a:ext>
            </a:extLst>
          </p:cNvPr>
          <p:cNvSpPr txBox="1">
            <a:spLocks noChangeArrowheads="1"/>
          </p:cNvSpPr>
          <p:nvPr/>
        </p:nvSpPr>
        <p:spPr bwMode="auto">
          <a:xfrm>
            <a:off x="6537325" y="1125538"/>
            <a:ext cx="1800225" cy="276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1200" b="1">
                <a:solidFill>
                  <a:srgbClr val="FFFFFF"/>
                </a:solidFill>
              </a:rPr>
              <a:t>Arithmetic circuits</a:t>
            </a:r>
          </a:p>
        </p:txBody>
      </p:sp>
      <p:pic>
        <p:nvPicPr>
          <p:cNvPr id="18440" name="Picture 4">
            <a:extLst>
              <a:ext uri="{FF2B5EF4-FFF2-40B4-BE49-F238E27FC236}">
                <a16:creationId xmlns:a16="http://schemas.microsoft.com/office/drawing/2014/main" id="{E474217A-AA03-E14B-94D1-8051C4F4146B}"/>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529263" y="5300663"/>
            <a:ext cx="3311525"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1" name="TextBox 9">
            <a:extLst>
              <a:ext uri="{FF2B5EF4-FFF2-40B4-BE49-F238E27FC236}">
                <a16:creationId xmlns:a16="http://schemas.microsoft.com/office/drawing/2014/main" id="{64855B65-C4DE-1945-A869-A948BCEA279D}"/>
              </a:ext>
            </a:extLst>
          </p:cNvPr>
          <p:cNvSpPr txBox="1">
            <a:spLocks noChangeArrowheads="1"/>
          </p:cNvSpPr>
          <p:nvPr/>
        </p:nvSpPr>
        <p:spPr bwMode="auto">
          <a:xfrm>
            <a:off x="6897688" y="5013325"/>
            <a:ext cx="1223962" cy="27699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1200" b="1">
                <a:solidFill>
                  <a:srgbClr val="FFFFFF"/>
                </a:solidFill>
              </a:rPr>
              <a:t>Decoders</a:t>
            </a:r>
          </a:p>
        </p:txBody>
      </p:sp>
      <p:pic>
        <p:nvPicPr>
          <p:cNvPr id="18442" name="Picture 2">
            <a:extLst>
              <a:ext uri="{FF2B5EF4-FFF2-40B4-BE49-F238E27FC236}">
                <a16:creationId xmlns:a16="http://schemas.microsoft.com/office/drawing/2014/main" id="{212FB582-5D16-294B-8884-D2B88E4FFD3A}"/>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273050" y="5013325"/>
            <a:ext cx="4824413"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3" name="TextBox 11">
            <a:extLst>
              <a:ext uri="{FF2B5EF4-FFF2-40B4-BE49-F238E27FC236}">
                <a16:creationId xmlns:a16="http://schemas.microsoft.com/office/drawing/2014/main" id="{A65C25C9-0743-F549-B438-6552B948E68F}"/>
              </a:ext>
            </a:extLst>
          </p:cNvPr>
          <p:cNvSpPr txBox="1">
            <a:spLocks noChangeArrowheads="1"/>
          </p:cNvSpPr>
          <p:nvPr/>
        </p:nvSpPr>
        <p:spPr bwMode="auto">
          <a:xfrm>
            <a:off x="1712913" y="4724400"/>
            <a:ext cx="2184400" cy="27699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1200" b="1" dirty="0">
                <a:solidFill>
                  <a:srgbClr val="FFFFFF"/>
                </a:solidFill>
              </a:rPr>
              <a:t>Flipflops and Registers</a:t>
            </a:r>
          </a:p>
        </p:txBody>
      </p:sp>
      <p:sp>
        <p:nvSpPr>
          <p:cNvPr id="18444" name="TextBox 13">
            <a:extLst>
              <a:ext uri="{FF2B5EF4-FFF2-40B4-BE49-F238E27FC236}">
                <a16:creationId xmlns:a16="http://schemas.microsoft.com/office/drawing/2014/main" id="{EEEB2FDC-F5B6-C549-9BD0-3D0C251EE96A}"/>
              </a:ext>
            </a:extLst>
          </p:cNvPr>
          <p:cNvSpPr txBox="1">
            <a:spLocks noChangeArrowheads="1"/>
          </p:cNvSpPr>
          <p:nvPr/>
        </p:nvSpPr>
        <p:spPr bwMode="auto">
          <a:xfrm>
            <a:off x="6753225" y="2492375"/>
            <a:ext cx="1295400" cy="2778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1200" b="1">
                <a:solidFill>
                  <a:srgbClr val="FFFFFF"/>
                </a:solidFill>
              </a:rPr>
              <a:t>Encoders</a:t>
            </a:r>
          </a:p>
        </p:txBody>
      </p:sp>
      <p:pic>
        <p:nvPicPr>
          <p:cNvPr id="18445" name="Picture 12">
            <a:extLst>
              <a:ext uri="{FF2B5EF4-FFF2-40B4-BE49-F238E27FC236}">
                <a16:creationId xmlns:a16="http://schemas.microsoft.com/office/drawing/2014/main" id="{FE1C149B-2E1F-8042-A55D-B4B66CDA7AF6}"/>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808538" y="2781300"/>
            <a:ext cx="4978400"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6540727"/>
      </p:ext>
    </p:extLst>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437"/>
                                        </p:tgtEl>
                                        <p:attrNameLst>
                                          <p:attrName>style.visibility</p:attrName>
                                        </p:attrNameLst>
                                      </p:cBhvr>
                                      <p:to>
                                        <p:strVal val="visible"/>
                                      </p:to>
                                    </p:set>
                                    <p:animEffect transition="in" filter="dissolve">
                                      <p:cBhvr>
                                        <p:cTn id="7" dur="500"/>
                                        <p:tgtEl>
                                          <p:spTgt spid="18437"/>
                                        </p:tgtEl>
                                      </p:cBhvr>
                                    </p:animEffect>
                                  </p:childTnLst>
                                </p:cTn>
                              </p:par>
                              <p:par>
                                <p:cTn id="8" presetID="9" presetClass="entr" presetSubtype="0" fill="hold" nodeType="withEffect">
                                  <p:stCondLst>
                                    <p:cond delay="0"/>
                                  </p:stCondLst>
                                  <p:childTnLst>
                                    <p:set>
                                      <p:cBhvr>
                                        <p:cTn id="9" dur="1" fill="hold">
                                          <p:stCondLst>
                                            <p:cond delay="0"/>
                                          </p:stCondLst>
                                        </p:cTn>
                                        <p:tgtEl>
                                          <p:spTgt spid="18436"/>
                                        </p:tgtEl>
                                        <p:attrNameLst>
                                          <p:attrName>style.visibility</p:attrName>
                                        </p:attrNameLst>
                                      </p:cBhvr>
                                      <p:to>
                                        <p:strVal val="visible"/>
                                      </p:to>
                                    </p:set>
                                    <p:animEffect transition="in" filter="dissolve">
                                      <p:cBhvr>
                                        <p:cTn id="10" dur="500"/>
                                        <p:tgtEl>
                                          <p:spTgt spid="18436"/>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8439"/>
                                        </p:tgtEl>
                                        <p:attrNameLst>
                                          <p:attrName>style.visibility</p:attrName>
                                        </p:attrNameLst>
                                      </p:cBhvr>
                                      <p:to>
                                        <p:strVal val="visible"/>
                                      </p:to>
                                    </p:set>
                                    <p:animEffect transition="in" filter="dissolve">
                                      <p:cBhvr>
                                        <p:cTn id="15" dur="500"/>
                                        <p:tgtEl>
                                          <p:spTgt spid="18439"/>
                                        </p:tgtEl>
                                      </p:cBhvr>
                                    </p:animEffect>
                                  </p:childTnLst>
                                </p:cTn>
                              </p:par>
                              <p:par>
                                <p:cTn id="16" presetID="9" presetClass="entr" presetSubtype="0" fill="hold" nodeType="withEffect">
                                  <p:stCondLst>
                                    <p:cond delay="0"/>
                                  </p:stCondLst>
                                  <p:childTnLst>
                                    <p:set>
                                      <p:cBhvr>
                                        <p:cTn id="17" dur="1" fill="hold">
                                          <p:stCondLst>
                                            <p:cond delay="0"/>
                                          </p:stCondLst>
                                        </p:cTn>
                                        <p:tgtEl>
                                          <p:spTgt spid="18438"/>
                                        </p:tgtEl>
                                        <p:attrNameLst>
                                          <p:attrName>style.visibility</p:attrName>
                                        </p:attrNameLst>
                                      </p:cBhvr>
                                      <p:to>
                                        <p:strVal val="visible"/>
                                      </p:to>
                                    </p:set>
                                    <p:animEffect transition="in" filter="dissolve">
                                      <p:cBhvr>
                                        <p:cTn id="18" dur="500"/>
                                        <p:tgtEl>
                                          <p:spTgt spid="18438"/>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8444"/>
                                        </p:tgtEl>
                                        <p:attrNameLst>
                                          <p:attrName>style.visibility</p:attrName>
                                        </p:attrNameLst>
                                      </p:cBhvr>
                                      <p:to>
                                        <p:strVal val="visible"/>
                                      </p:to>
                                    </p:set>
                                    <p:animEffect transition="in" filter="dissolve">
                                      <p:cBhvr>
                                        <p:cTn id="23" dur="500"/>
                                        <p:tgtEl>
                                          <p:spTgt spid="18444"/>
                                        </p:tgtEl>
                                      </p:cBhvr>
                                    </p:animEffect>
                                  </p:childTnLst>
                                </p:cTn>
                              </p:par>
                              <p:par>
                                <p:cTn id="24" presetID="9" presetClass="entr" presetSubtype="0" fill="hold" nodeType="withEffect">
                                  <p:stCondLst>
                                    <p:cond delay="0"/>
                                  </p:stCondLst>
                                  <p:childTnLst>
                                    <p:set>
                                      <p:cBhvr>
                                        <p:cTn id="25" dur="1" fill="hold">
                                          <p:stCondLst>
                                            <p:cond delay="0"/>
                                          </p:stCondLst>
                                        </p:cTn>
                                        <p:tgtEl>
                                          <p:spTgt spid="18445"/>
                                        </p:tgtEl>
                                        <p:attrNameLst>
                                          <p:attrName>style.visibility</p:attrName>
                                        </p:attrNameLst>
                                      </p:cBhvr>
                                      <p:to>
                                        <p:strVal val="visible"/>
                                      </p:to>
                                    </p:set>
                                    <p:animEffect transition="in" filter="dissolve">
                                      <p:cBhvr>
                                        <p:cTn id="26" dur="500"/>
                                        <p:tgtEl>
                                          <p:spTgt spid="18445"/>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8441"/>
                                        </p:tgtEl>
                                        <p:attrNameLst>
                                          <p:attrName>style.visibility</p:attrName>
                                        </p:attrNameLst>
                                      </p:cBhvr>
                                      <p:to>
                                        <p:strVal val="visible"/>
                                      </p:to>
                                    </p:set>
                                    <p:animEffect transition="in" filter="dissolve">
                                      <p:cBhvr>
                                        <p:cTn id="31" dur="500"/>
                                        <p:tgtEl>
                                          <p:spTgt spid="18441"/>
                                        </p:tgtEl>
                                      </p:cBhvr>
                                    </p:animEffect>
                                  </p:childTnLst>
                                </p:cTn>
                              </p:par>
                              <p:par>
                                <p:cTn id="32" presetID="9" presetClass="entr" presetSubtype="0" fill="hold" nodeType="withEffect">
                                  <p:stCondLst>
                                    <p:cond delay="0"/>
                                  </p:stCondLst>
                                  <p:childTnLst>
                                    <p:set>
                                      <p:cBhvr>
                                        <p:cTn id="33" dur="1" fill="hold">
                                          <p:stCondLst>
                                            <p:cond delay="0"/>
                                          </p:stCondLst>
                                        </p:cTn>
                                        <p:tgtEl>
                                          <p:spTgt spid="18440"/>
                                        </p:tgtEl>
                                        <p:attrNameLst>
                                          <p:attrName>style.visibility</p:attrName>
                                        </p:attrNameLst>
                                      </p:cBhvr>
                                      <p:to>
                                        <p:strVal val="visible"/>
                                      </p:to>
                                    </p:set>
                                    <p:animEffect transition="in" filter="dissolve">
                                      <p:cBhvr>
                                        <p:cTn id="34" dur="500"/>
                                        <p:tgtEl>
                                          <p:spTgt spid="18440"/>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8443"/>
                                        </p:tgtEl>
                                        <p:attrNameLst>
                                          <p:attrName>style.visibility</p:attrName>
                                        </p:attrNameLst>
                                      </p:cBhvr>
                                      <p:to>
                                        <p:strVal val="visible"/>
                                      </p:to>
                                    </p:set>
                                    <p:animEffect transition="in" filter="dissolve">
                                      <p:cBhvr>
                                        <p:cTn id="39" dur="500"/>
                                        <p:tgtEl>
                                          <p:spTgt spid="18443"/>
                                        </p:tgtEl>
                                      </p:cBhvr>
                                    </p:animEffect>
                                  </p:childTnLst>
                                </p:cTn>
                              </p:par>
                              <p:par>
                                <p:cTn id="40" presetID="9" presetClass="entr" presetSubtype="0" fill="hold" nodeType="withEffect">
                                  <p:stCondLst>
                                    <p:cond delay="0"/>
                                  </p:stCondLst>
                                  <p:childTnLst>
                                    <p:set>
                                      <p:cBhvr>
                                        <p:cTn id="41" dur="1" fill="hold">
                                          <p:stCondLst>
                                            <p:cond delay="0"/>
                                          </p:stCondLst>
                                        </p:cTn>
                                        <p:tgtEl>
                                          <p:spTgt spid="18442"/>
                                        </p:tgtEl>
                                        <p:attrNameLst>
                                          <p:attrName>style.visibility</p:attrName>
                                        </p:attrNameLst>
                                      </p:cBhvr>
                                      <p:to>
                                        <p:strVal val="visible"/>
                                      </p:to>
                                    </p:set>
                                    <p:animEffect transition="in" filter="dissolve">
                                      <p:cBhvr>
                                        <p:cTn id="42" dur="500"/>
                                        <p:tgtEl>
                                          <p:spTgt spid="18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animBg="1"/>
      <p:bldP spid="18439" grpId="0" animBg="1"/>
      <p:bldP spid="18441" grpId="0" animBg="1"/>
      <p:bldP spid="18443" grpId="0" animBg="1"/>
      <p:bldP spid="18444"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88F792BA-7F36-E640-BA34-4B9AC2EE843F}"/>
              </a:ext>
            </a:extLst>
          </p:cNvPr>
          <p:cNvSpPr>
            <a:spLocks noGrp="1" noChangeArrowheads="1"/>
          </p:cNvSpPr>
          <p:nvPr>
            <p:ph type="title"/>
          </p:nvPr>
        </p:nvSpPr>
        <p:spPr>
          <a:xfrm>
            <a:off x="774700" y="115888"/>
            <a:ext cx="8420100" cy="603250"/>
          </a:xfrm>
          <a:noFill/>
        </p:spPr>
        <p:txBody>
          <a:bodyPr/>
          <a:lstStyle/>
          <a:p>
            <a:r>
              <a:rPr lang="en-GB" altLang="en-US">
                <a:ea typeface="ＭＳ Ｐゴシック" panose="020B0600070205080204" pitchFamily="34" charset="-128"/>
              </a:rPr>
              <a:t>Cause &amp; Effect</a:t>
            </a:r>
          </a:p>
        </p:txBody>
      </p:sp>
      <p:pic>
        <p:nvPicPr>
          <p:cNvPr id="20482" name="Picture 3">
            <a:extLst>
              <a:ext uri="{FF2B5EF4-FFF2-40B4-BE49-F238E27FC236}">
                <a16:creationId xmlns:a16="http://schemas.microsoft.com/office/drawing/2014/main" id="{480CEBAB-B27B-FB47-9E2F-805E388BA71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9163" y="1030288"/>
            <a:ext cx="8123237" cy="124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3" name="Picture 4">
            <a:extLst>
              <a:ext uri="{FF2B5EF4-FFF2-40B4-BE49-F238E27FC236}">
                <a16:creationId xmlns:a16="http://schemas.microsoft.com/office/drawing/2014/main" id="{194B8628-2420-C14B-964D-9CA43F1AAFD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7000" y="2190750"/>
            <a:ext cx="3875088"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7BF730A6-BB1B-314D-8871-AAA82098D805}"/>
              </a:ext>
            </a:extLst>
          </p:cNvPr>
          <p:cNvSpPr/>
          <p:nvPr/>
        </p:nvSpPr>
        <p:spPr bwMode="auto">
          <a:xfrm>
            <a:off x="198949" y="2996952"/>
            <a:ext cx="9508103" cy="1080120"/>
          </a:xfrm>
          <a:prstGeom prst="rect">
            <a:avLst/>
          </a:prstGeom>
          <a:gradFill flip="none" rotWithShape="1">
            <a:gsLst>
              <a:gs pos="0">
                <a:schemeClr val="accent2">
                  <a:lumMod val="60000"/>
                  <a:lumOff val="40000"/>
                  <a:alpha val="97000"/>
                </a:schemeClr>
              </a:gs>
              <a:gs pos="100000">
                <a:srgbClr val="FFFFFF">
                  <a:alpha val="58000"/>
                </a:srgbClr>
              </a:gs>
            </a:gsLst>
            <a:path path="circle">
              <a:fillToRect l="100000" t="100000"/>
            </a:path>
            <a:tileRect r="-100000" b="-100000"/>
          </a:gradFill>
          <a:ln w="12700" cap="flat" cmpd="sng" algn="ctr">
            <a:solidFill>
              <a:schemeClr val="tx1"/>
            </a:solidFill>
            <a:prstDash val="solid"/>
            <a:round/>
            <a:headEnd type="none" w="sm" len="sm"/>
            <a:tailEnd type="none" w="sm" len="sm"/>
          </a:ln>
          <a:effectLst>
            <a:outerShdw blurRad="50800" dist="38100" dir="2700000" algn="tl" rotWithShape="0">
              <a:srgbClr val="000000">
                <a:alpha val="43000"/>
              </a:srgbClr>
            </a:outerShdw>
          </a:effectLst>
        </p:spPr>
        <p:txBody>
          <a:bodyPr/>
          <a:lstStyle/>
          <a:p>
            <a:pPr>
              <a:defRPr/>
            </a:pPr>
            <a:r>
              <a:rPr lang="en-US" sz="2000" dirty="0">
                <a:solidFill>
                  <a:schemeClr val="accent2"/>
                </a:solidFill>
                <a:latin typeface="Arial" charset="0"/>
                <a:ea typeface="ＭＳ Ｐゴシック" charset="0"/>
                <a:cs typeface="ＭＳ Ｐゴシック" charset="0"/>
              </a:rPr>
              <a:t>Propagation </a:t>
            </a:r>
            <a:r>
              <a:rPr lang="en-US" sz="1800" dirty="0">
                <a:solidFill>
                  <a:schemeClr val="accent2"/>
                </a:solidFill>
                <a:latin typeface="Arial" charset="0"/>
                <a:ea typeface="ＭＳ Ｐゴシック" charset="0"/>
                <a:cs typeface="ＭＳ Ｐゴシック" charset="0"/>
              </a:rPr>
              <a:t>Delay</a:t>
            </a:r>
            <a:r>
              <a:rPr lang="en-US" sz="2000" dirty="0">
                <a:solidFill>
                  <a:schemeClr val="accent2"/>
                </a:solidFill>
                <a:latin typeface="Arial" charset="0"/>
                <a:ea typeface="ＭＳ Ｐゴシック" charset="0"/>
                <a:cs typeface="ＭＳ Ｐゴシック" charset="0"/>
              </a:rPr>
              <a:t>:</a:t>
            </a:r>
          </a:p>
          <a:p>
            <a:pPr marL="400050" lvl="1">
              <a:tabLst>
                <a:tab pos="863600" algn="l"/>
                <a:tab pos="3238500" algn="ctr"/>
                <a:tab pos="3911600" algn="ctr"/>
                <a:tab pos="4572000" algn="ctr"/>
                <a:tab pos="5054600" algn="l"/>
              </a:tabLst>
              <a:defRPr/>
            </a:pPr>
            <a:r>
              <a:rPr lang="en-GB" sz="2000" dirty="0">
                <a:latin typeface="Arial" charset="0"/>
                <a:ea typeface="ＭＳ Ｐゴシック" charset="0"/>
                <a:cs typeface="ＭＳ Ｐゴシック" charset="0"/>
              </a:rPr>
              <a:t>The time delay between a cause (an input changing) and its effect (an output changing), assuming output load capacitance of 30pF.</a:t>
            </a:r>
          </a:p>
        </p:txBody>
      </p:sp>
      <p:grpSp>
        <p:nvGrpSpPr>
          <p:cNvPr id="2" name="Group 1">
            <a:extLst>
              <a:ext uri="{FF2B5EF4-FFF2-40B4-BE49-F238E27FC236}">
                <a16:creationId xmlns:a16="http://schemas.microsoft.com/office/drawing/2014/main" id="{A45C4786-EC92-C54E-976A-E2CA3DB3B377}"/>
              </a:ext>
            </a:extLst>
          </p:cNvPr>
          <p:cNvGrpSpPr/>
          <p:nvPr/>
        </p:nvGrpSpPr>
        <p:grpSpPr>
          <a:xfrm>
            <a:off x="1566863" y="4221163"/>
            <a:ext cx="6916737" cy="2212975"/>
            <a:chOff x="1566863" y="4221163"/>
            <a:chExt cx="6916737" cy="2212975"/>
          </a:xfrm>
        </p:grpSpPr>
        <p:pic>
          <p:nvPicPr>
            <p:cNvPr id="20487" name="Picture 8">
              <a:extLst>
                <a:ext uri="{FF2B5EF4-FFF2-40B4-BE49-F238E27FC236}">
                  <a16:creationId xmlns:a16="http://schemas.microsoft.com/office/drawing/2014/main" id="{408914EF-B22B-2046-B425-83AF18A3A86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647950" y="4508500"/>
              <a:ext cx="4392613"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8" name="Picture 9">
              <a:extLst>
                <a:ext uri="{FF2B5EF4-FFF2-40B4-BE49-F238E27FC236}">
                  <a16:creationId xmlns:a16="http://schemas.microsoft.com/office/drawing/2014/main" id="{5DE236FC-C461-734E-9B06-F38DAA60BA4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855788" y="4221163"/>
              <a:ext cx="5818187"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9" name="Picture 10">
              <a:extLst>
                <a:ext uri="{FF2B5EF4-FFF2-40B4-BE49-F238E27FC236}">
                  <a16:creationId xmlns:a16="http://schemas.microsoft.com/office/drawing/2014/main" id="{CC5C829D-7316-8441-A866-AC65B0C30A7B}"/>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566863" y="5805488"/>
              <a:ext cx="69167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518805040"/>
      </p:ext>
    </p:extLst>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2529" name="Picture 2">
            <a:extLst>
              <a:ext uri="{FF2B5EF4-FFF2-40B4-BE49-F238E27FC236}">
                <a16:creationId xmlns:a16="http://schemas.microsoft.com/office/drawing/2014/main" id="{7CC0BAF5-6831-D64B-BEAB-4F3A079A7BF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1463" y="2514600"/>
            <a:ext cx="6265862"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0" name="Rectangle 2">
            <a:extLst>
              <a:ext uri="{FF2B5EF4-FFF2-40B4-BE49-F238E27FC236}">
                <a16:creationId xmlns:a16="http://schemas.microsoft.com/office/drawing/2014/main" id="{40D14087-7126-2B4C-AC4C-40297D1FC062}"/>
              </a:ext>
            </a:extLst>
          </p:cNvPr>
          <p:cNvSpPr>
            <a:spLocks noGrp="1" noChangeArrowheads="1"/>
          </p:cNvSpPr>
          <p:nvPr>
            <p:ph type="title"/>
          </p:nvPr>
        </p:nvSpPr>
        <p:spPr>
          <a:xfrm>
            <a:off x="774700" y="115888"/>
            <a:ext cx="8420100" cy="603250"/>
          </a:xfrm>
          <a:noFill/>
        </p:spPr>
        <p:txBody>
          <a:bodyPr/>
          <a:lstStyle/>
          <a:p>
            <a:r>
              <a:rPr lang="en-GB" altLang="en-US">
                <a:ea typeface="ＭＳ Ｐゴシック" panose="020B0600070205080204" pitchFamily="34" charset="-128"/>
              </a:rPr>
              <a:t>D-Flipflop (1)</a:t>
            </a:r>
          </a:p>
        </p:txBody>
      </p:sp>
      <p:pic>
        <p:nvPicPr>
          <p:cNvPr id="22531" name="Picture 1">
            <a:extLst>
              <a:ext uri="{FF2B5EF4-FFF2-40B4-BE49-F238E27FC236}">
                <a16:creationId xmlns:a16="http://schemas.microsoft.com/office/drawing/2014/main" id="{EC032CF9-C452-0D40-9205-45C40B6EF8A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74700" y="1052513"/>
            <a:ext cx="8770938"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2" name="Picture 6">
            <a:extLst>
              <a:ext uri="{FF2B5EF4-FFF2-40B4-BE49-F238E27FC236}">
                <a16:creationId xmlns:a16="http://schemas.microsoft.com/office/drawing/2014/main" id="{CC4EA6BC-F16B-0643-B511-318C61D71E9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71463" y="4508500"/>
            <a:ext cx="7600950"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9268038"/>
      </p:ext>
    </p:extLst>
  </p:cSld>
  <p:clrMapOvr>
    <a:masterClrMapping/>
  </p:clrMapOvr>
  <p:transition>
    <p:checke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D0043E51-6B48-664D-8495-C801361DF17D}"/>
              </a:ext>
            </a:extLst>
          </p:cNvPr>
          <p:cNvSpPr>
            <a:spLocks noGrp="1" noChangeArrowheads="1"/>
          </p:cNvSpPr>
          <p:nvPr>
            <p:ph type="title"/>
          </p:nvPr>
        </p:nvSpPr>
        <p:spPr>
          <a:xfrm>
            <a:off x="774700" y="115888"/>
            <a:ext cx="8420100" cy="603250"/>
          </a:xfrm>
          <a:noFill/>
        </p:spPr>
        <p:txBody>
          <a:bodyPr/>
          <a:lstStyle/>
          <a:p>
            <a:r>
              <a:rPr lang="en-GB" altLang="en-US">
                <a:ea typeface="ＭＳ Ｐゴシック" panose="020B0600070205080204" pitchFamily="34" charset="-128"/>
              </a:rPr>
              <a:t>D-Flipflop (2)</a:t>
            </a:r>
          </a:p>
        </p:txBody>
      </p:sp>
      <p:pic>
        <p:nvPicPr>
          <p:cNvPr id="24578" name="Picture 1">
            <a:extLst>
              <a:ext uri="{FF2B5EF4-FFF2-40B4-BE49-F238E27FC236}">
                <a16:creationId xmlns:a16="http://schemas.microsoft.com/office/drawing/2014/main" id="{1F10F88A-75E3-0942-AEA5-303A768E4B3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7725" y="1052513"/>
            <a:ext cx="87709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79" name="Picture 3">
            <a:extLst>
              <a:ext uri="{FF2B5EF4-FFF2-40B4-BE49-F238E27FC236}">
                <a16:creationId xmlns:a16="http://schemas.microsoft.com/office/drawing/2014/main" id="{09C1FEEB-62C3-8948-8C99-66974C25640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08088" y="2924175"/>
            <a:ext cx="7096125" cy="300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TextBox 1">
            <a:extLst>
              <a:ext uri="{FF2B5EF4-FFF2-40B4-BE49-F238E27FC236}">
                <a16:creationId xmlns:a16="http://schemas.microsoft.com/office/drawing/2014/main" id="{75F2A211-A21E-2642-9360-989596842CA3}"/>
              </a:ext>
            </a:extLst>
          </p:cNvPr>
          <p:cNvSpPr txBox="1">
            <a:spLocks noChangeArrowheads="1"/>
          </p:cNvSpPr>
          <p:nvPr/>
        </p:nvSpPr>
        <p:spPr bwMode="auto">
          <a:xfrm>
            <a:off x="7519988" y="4427538"/>
            <a:ext cx="312737"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800"/>
              <a:t>1</a:t>
            </a:r>
          </a:p>
        </p:txBody>
      </p:sp>
    </p:spTree>
    <p:extLst>
      <p:ext uri="{BB962C8B-B14F-4D97-AF65-F5344CB8AC3E}">
        <p14:creationId xmlns:p14="http://schemas.microsoft.com/office/powerpoint/2010/main" val="1721202001"/>
      </p:ext>
    </p:extLst>
  </p:cSld>
  <p:clrMapOvr>
    <a:masterClrMapping/>
  </p:clrMapOvr>
  <p:transition>
    <p:checke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4A55D6F9-0361-474C-A8AF-ED3494E30861}"/>
              </a:ext>
            </a:extLst>
          </p:cNvPr>
          <p:cNvSpPr>
            <a:spLocks noGrp="1" noChangeArrowheads="1"/>
          </p:cNvSpPr>
          <p:nvPr>
            <p:ph type="title"/>
          </p:nvPr>
        </p:nvSpPr>
        <p:spPr>
          <a:xfrm>
            <a:off x="774700" y="115888"/>
            <a:ext cx="8420100" cy="603250"/>
          </a:xfrm>
          <a:noFill/>
        </p:spPr>
        <p:txBody>
          <a:bodyPr/>
          <a:lstStyle/>
          <a:p>
            <a:r>
              <a:rPr lang="en-GB" altLang="en-US">
                <a:ea typeface="ＭＳ Ｐゴシック" panose="020B0600070205080204" pitchFamily="34" charset="-128"/>
              </a:rPr>
              <a:t>Ripple Counter</a:t>
            </a:r>
          </a:p>
        </p:txBody>
      </p:sp>
      <p:pic>
        <p:nvPicPr>
          <p:cNvPr id="26626" name="Picture 2">
            <a:extLst>
              <a:ext uri="{FF2B5EF4-FFF2-40B4-BE49-F238E27FC236}">
                <a16:creationId xmlns:a16="http://schemas.microsoft.com/office/drawing/2014/main" id="{81F6C2BF-7057-AF48-9E7A-FD966A81E1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8438" y="981075"/>
            <a:ext cx="6410325" cy="170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7" name="Picture 6">
            <a:extLst>
              <a:ext uri="{FF2B5EF4-FFF2-40B4-BE49-F238E27FC236}">
                <a16:creationId xmlns:a16="http://schemas.microsoft.com/office/drawing/2014/main" id="{41A99069-05DB-B24B-BADA-16CDA7C431F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7000" y="2781300"/>
            <a:ext cx="6554788" cy="181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3">
            <a:extLst>
              <a:ext uri="{FF2B5EF4-FFF2-40B4-BE49-F238E27FC236}">
                <a16:creationId xmlns:a16="http://schemas.microsoft.com/office/drawing/2014/main" id="{25DC2CC1-8C29-4A49-9CA9-4DD8CE2D7C9B}"/>
              </a:ext>
            </a:extLst>
          </p:cNvPr>
          <p:cNvSpPr txBox="1">
            <a:spLocks noChangeArrowheads="1"/>
          </p:cNvSpPr>
          <p:nvPr/>
        </p:nvSpPr>
        <p:spPr bwMode="auto">
          <a:xfrm>
            <a:off x="6969871" y="1556792"/>
            <a:ext cx="2635485" cy="1944216"/>
          </a:xfrm>
          <a:prstGeom prst="rect">
            <a:avLst/>
          </a:prstGeom>
          <a:gradFill flip="none" rotWithShape="1">
            <a:gsLst>
              <a:gs pos="0">
                <a:schemeClr val="accent2">
                  <a:lumMod val="40000"/>
                  <a:lumOff val="60000"/>
                </a:schemeClr>
              </a:gs>
              <a:gs pos="100000">
                <a:srgbClr val="FFFFFF"/>
              </a:gs>
            </a:gsLst>
            <a:path path="circle">
              <a:fillToRect l="100000" t="100000"/>
            </a:path>
            <a:tileRect r="-100000" b="-100000"/>
          </a:gradFill>
          <a:ln>
            <a:noFill/>
          </a:ln>
          <a:effectLst>
            <a:outerShdw blurRad="50800" dist="38100" dir="2700000" algn="tl" rotWithShape="0">
              <a:srgbClr val="000000">
                <a:alpha val="43000"/>
              </a:srgbClr>
            </a:outerShdw>
          </a:effectLst>
          <a:extLst>
            <a:ext uri="{FAA26D3D-D897-4be2-8F04-BA451C77F1D7}">
              <ma14:placeholderFlag xmlns="" xmlns:ma14="http://schemas.microsoft.com/office/mac/drawingml/2011/main" val="1"/>
            </a:ext>
          </a:extLst>
        </p:spPr>
        <p:txBody>
          <a:bodyPr lIns="92075" tIns="46038" rIns="92075" bIns="46038"/>
          <a:lstStyle>
            <a:lvl1pPr marL="342900" indent="-342900" algn="l" rtl="0" eaLnBrk="0" fontAlgn="base" hangingPunct="0">
              <a:spcBef>
                <a:spcPct val="20000"/>
              </a:spcBef>
              <a:spcAft>
                <a:spcPct val="0"/>
              </a:spcAft>
              <a:buClr>
                <a:srgbClr val="842C00"/>
              </a:buClr>
              <a:buSzPct val="75000"/>
              <a:buFont typeface="Monotype Sorts" charset="0"/>
              <a:buChar char="u"/>
              <a:defRPr sz="20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lr>
                <a:srgbClr val="842C00"/>
              </a:buClr>
              <a:buSzPct val="100000"/>
              <a:buFont typeface="Symbol" charset="0"/>
              <a:buChar char="·"/>
              <a:defRPr>
                <a:solidFill>
                  <a:schemeClr val="tx1"/>
                </a:solidFill>
                <a:latin typeface="+mn-lt"/>
                <a:ea typeface="ＭＳ Ｐゴシック" charset="-128"/>
              </a:defRPr>
            </a:lvl2pPr>
            <a:lvl3pPr marL="1143000" indent="-228600" algn="l" rtl="0" eaLnBrk="0" fontAlgn="base" hangingPunct="0">
              <a:spcBef>
                <a:spcPct val="20000"/>
              </a:spcBef>
              <a:spcAft>
                <a:spcPct val="0"/>
              </a:spcAft>
              <a:buClr>
                <a:srgbClr val="842C00"/>
              </a:buClr>
              <a:buSzPct val="100000"/>
              <a:buFont typeface="Monotype Sorts" charset="0"/>
              <a:buChar char="ä"/>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65000"/>
              <a:buFont typeface="Monotype Sorts" charset="0"/>
              <a:buChar char="u"/>
              <a:defRPr sz="14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5pPr>
            <a:lvl6pPr marL="25146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6pPr>
            <a:lvl7pPr marL="29718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7pPr>
            <a:lvl8pPr marL="34290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8pPr>
            <a:lvl9pPr marL="38862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9pPr>
          </a:lstStyle>
          <a:p>
            <a:pPr marL="309600" lvl="1">
              <a:defRPr/>
            </a:pPr>
            <a:r>
              <a:rPr lang="en-GB" sz="2000" dirty="0">
                <a:cs typeface="ＭＳ Ｐゴシック" charset="0"/>
              </a:rPr>
              <a:t>Notice inverters on the CLOCK and DATA inputs</a:t>
            </a:r>
          </a:p>
          <a:p>
            <a:pPr marL="309600" lvl="1">
              <a:defRPr/>
            </a:pPr>
            <a:r>
              <a:rPr lang="en-GB" sz="2000" dirty="0">
                <a:cs typeface="ＭＳ Ｐゴシック" charset="0"/>
              </a:rPr>
              <a:t>Least significant bit of a number is always labelled 0</a:t>
            </a:r>
          </a:p>
          <a:p>
            <a:pPr marL="309600">
              <a:defRPr/>
            </a:pPr>
            <a:endParaRPr lang="el-GR" sz="1050" dirty="0"/>
          </a:p>
        </p:txBody>
      </p:sp>
      <p:grpSp>
        <p:nvGrpSpPr>
          <p:cNvPr id="26631" name="Group 12">
            <a:extLst>
              <a:ext uri="{FF2B5EF4-FFF2-40B4-BE49-F238E27FC236}">
                <a16:creationId xmlns:a16="http://schemas.microsoft.com/office/drawing/2014/main" id="{C56D233A-2D60-BC41-89AE-5AC5D9D7BA11}"/>
              </a:ext>
            </a:extLst>
          </p:cNvPr>
          <p:cNvGrpSpPr>
            <a:grpSpLocks/>
          </p:cNvGrpSpPr>
          <p:nvPr/>
        </p:nvGrpSpPr>
        <p:grpSpPr bwMode="auto">
          <a:xfrm>
            <a:off x="6897688" y="4149725"/>
            <a:ext cx="2901950" cy="1976438"/>
            <a:chOff x="6971404" y="4293096"/>
            <a:chExt cx="2900579" cy="1977504"/>
          </a:xfrm>
        </p:grpSpPr>
        <p:pic>
          <p:nvPicPr>
            <p:cNvPr id="26633" name="Picture 9">
              <a:extLst>
                <a:ext uri="{FF2B5EF4-FFF2-40B4-BE49-F238E27FC236}">
                  <a16:creationId xmlns:a16="http://schemas.microsoft.com/office/drawing/2014/main" id="{DD8F451E-6F5E-FC4F-BA9A-0D0526C7BFE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971404" y="4941168"/>
              <a:ext cx="2900579" cy="1329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4" name="Picture 10">
              <a:extLst>
                <a:ext uri="{FF2B5EF4-FFF2-40B4-BE49-F238E27FC236}">
                  <a16:creationId xmlns:a16="http://schemas.microsoft.com/office/drawing/2014/main" id="{E0142E09-38CA-4849-A338-886340F09DE3}"/>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564064" y="4293096"/>
              <a:ext cx="1707828" cy="320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5" name="Picture 11">
              <a:extLst>
                <a:ext uri="{FF2B5EF4-FFF2-40B4-BE49-F238E27FC236}">
                  <a16:creationId xmlns:a16="http://schemas.microsoft.com/office/drawing/2014/main" id="{010F41B6-5C6A-B54E-9CE6-C82CCE6A684E}"/>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039644" y="4581128"/>
              <a:ext cx="2736304" cy="280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632" name="TextBox 1">
            <a:extLst>
              <a:ext uri="{FF2B5EF4-FFF2-40B4-BE49-F238E27FC236}">
                <a16:creationId xmlns:a16="http://schemas.microsoft.com/office/drawing/2014/main" id="{627B7522-4D4D-EE4F-9675-396B49DCDEF7}"/>
              </a:ext>
            </a:extLst>
          </p:cNvPr>
          <p:cNvSpPr txBox="1">
            <a:spLocks noChangeArrowheads="1"/>
          </p:cNvSpPr>
          <p:nvPr/>
        </p:nvSpPr>
        <p:spPr bwMode="auto">
          <a:xfrm>
            <a:off x="344488" y="5157788"/>
            <a:ext cx="61452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a:t>Propagation Delay: CLOCK</a:t>
            </a:r>
            <a:r>
              <a:rPr lang="en-US" altLang="en-US">
                <a:latin typeface="Wingdings" pitchFamily="2" charset="2"/>
                <a:sym typeface="Wingdings" pitchFamily="2" charset="2"/>
              </a:rPr>
              <a:t></a:t>
            </a:r>
            <a:r>
              <a:rPr lang="en-US" altLang="en-US"/>
              <a:t>  to Q2 = 3 x 1ns = 3ns</a:t>
            </a:r>
          </a:p>
        </p:txBody>
      </p:sp>
    </p:spTree>
    <p:extLst>
      <p:ext uri="{BB962C8B-B14F-4D97-AF65-F5344CB8AC3E}">
        <p14:creationId xmlns:p14="http://schemas.microsoft.com/office/powerpoint/2010/main" val="1290426621"/>
      </p:ext>
    </p:extLst>
  </p:cSld>
  <p:clrMapOvr>
    <a:masterClrMapping/>
  </p:clrMapOvr>
  <p:transition>
    <p:checke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5DEA9DB7-AEF5-2247-AF60-1F38952C12AD}"/>
              </a:ext>
            </a:extLst>
          </p:cNvPr>
          <p:cNvSpPr>
            <a:spLocks noGrp="1" noChangeArrowheads="1"/>
          </p:cNvSpPr>
          <p:nvPr>
            <p:ph type="title"/>
          </p:nvPr>
        </p:nvSpPr>
        <p:spPr>
          <a:xfrm>
            <a:off x="703263" y="188913"/>
            <a:ext cx="8420100" cy="603250"/>
          </a:xfrm>
          <a:noFill/>
        </p:spPr>
        <p:txBody>
          <a:bodyPr/>
          <a:lstStyle/>
          <a:p>
            <a:r>
              <a:rPr lang="en-GB" altLang="en-US">
                <a:ea typeface="ＭＳ Ｐゴシック" panose="020B0600070205080204" pitchFamily="34" charset="-128"/>
              </a:rPr>
              <a:t>Synchronous Counter</a:t>
            </a:r>
          </a:p>
        </p:txBody>
      </p:sp>
      <p:sp>
        <p:nvSpPr>
          <p:cNvPr id="9" name="Rectangle 3">
            <a:extLst>
              <a:ext uri="{FF2B5EF4-FFF2-40B4-BE49-F238E27FC236}">
                <a16:creationId xmlns:a16="http://schemas.microsoft.com/office/drawing/2014/main" id="{057048FD-9AE3-F940-992E-D28115A6787D}"/>
              </a:ext>
            </a:extLst>
          </p:cNvPr>
          <p:cNvSpPr txBox="1">
            <a:spLocks noChangeArrowheads="1"/>
          </p:cNvSpPr>
          <p:nvPr/>
        </p:nvSpPr>
        <p:spPr bwMode="auto">
          <a:xfrm>
            <a:off x="5817372" y="1052736"/>
            <a:ext cx="3961710" cy="3312368"/>
          </a:xfrm>
          <a:prstGeom prst="rect">
            <a:avLst/>
          </a:prstGeom>
          <a:gradFill flip="none" rotWithShape="1">
            <a:gsLst>
              <a:gs pos="0">
                <a:schemeClr val="accent2">
                  <a:lumMod val="40000"/>
                  <a:lumOff val="60000"/>
                </a:schemeClr>
              </a:gs>
              <a:gs pos="100000">
                <a:srgbClr val="FFFFFF"/>
              </a:gs>
            </a:gsLst>
            <a:path path="circle">
              <a:fillToRect l="100000" t="100000"/>
            </a:path>
            <a:tileRect r="-100000" b="-100000"/>
          </a:gradFill>
          <a:ln>
            <a:noFill/>
          </a:ln>
          <a:effectLst>
            <a:outerShdw blurRad="50800" dist="38100" dir="2700000" algn="tl" rotWithShape="0">
              <a:srgbClr val="000000">
                <a:alpha val="43000"/>
              </a:srgbClr>
            </a:outerShdw>
          </a:effectLst>
          <a:extLst>
            <a:ext uri="{FAA26D3D-D897-4be2-8F04-BA451C77F1D7}">
              <ma14:placeholderFlag xmlns="" xmlns:ma14="http://schemas.microsoft.com/office/mac/drawingml/2011/main" val="1"/>
            </a:ext>
          </a:extLst>
        </p:spPr>
        <p:txBody>
          <a:bodyPr lIns="92075" tIns="46038" rIns="92075" bIns="46038"/>
          <a:lstStyle>
            <a:lvl1pPr marL="342900" indent="-342900" algn="l" rtl="0" eaLnBrk="0" fontAlgn="base" hangingPunct="0">
              <a:spcBef>
                <a:spcPct val="20000"/>
              </a:spcBef>
              <a:spcAft>
                <a:spcPct val="0"/>
              </a:spcAft>
              <a:buClr>
                <a:srgbClr val="842C00"/>
              </a:buClr>
              <a:buSzPct val="75000"/>
              <a:buFont typeface="Monotype Sorts" charset="0"/>
              <a:buChar char="u"/>
              <a:defRPr sz="20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lr>
                <a:srgbClr val="842C00"/>
              </a:buClr>
              <a:buSzPct val="100000"/>
              <a:buFont typeface="Symbol" charset="0"/>
              <a:buChar char="·"/>
              <a:defRPr>
                <a:solidFill>
                  <a:schemeClr val="tx1"/>
                </a:solidFill>
                <a:latin typeface="+mn-lt"/>
                <a:ea typeface="ＭＳ Ｐゴシック" charset="-128"/>
              </a:defRPr>
            </a:lvl2pPr>
            <a:lvl3pPr marL="1143000" indent="-228600" algn="l" rtl="0" eaLnBrk="0" fontAlgn="base" hangingPunct="0">
              <a:spcBef>
                <a:spcPct val="20000"/>
              </a:spcBef>
              <a:spcAft>
                <a:spcPct val="0"/>
              </a:spcAft>
              <a:buClr>
                <a:srgbClr val="842C00"/>
              </a:buClr>
              <a:buSzPct val="100000"/>
              <a:buFont typeface="Monotype Sorts" charset="0"/>
              <a:buChar char="ä"/>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65000"/>
              <a:buFont typeface="Monotype Sorts" charset="0"/>
              <a:buChar char="u"/>
              <a:defRPr sz="14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5pPr>
            <a:lvl6pPr marL="25146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6pPr>
            <a:lvl7pPr marL="29718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7pPr>
            <a:lvl8pPr marL="34290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8pPr>
            <a:lvl9pPr marL="38862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9pPr>
          </a:lstStyle>
          <a:p>
            <a:pPr marL="180000" lvl="1" indent="-176400">
              <a:tabLst>
                <a:tab pos="2578100" algn="l"/>
              </a:tabLst>
              <a:defRPr/>
            </a:pPr>
            <a:r>
              <a:rPr lang="en-GB" sz="2000" dirty="0">
                <a:cs typeface="ＭＳ Ｐゴシック" charset="0"/>
              </a:rPr>
              <a:t>A </a:t>
            </a:r>
            <a:r>
              <a:rPr lang="en-GB" sz="2000" i="1" u="sng" dirty="0">
                <a:cs typeface="ＭＳ Ｐゴシック" charset="0"/>
              </a:rPr>
              <a:t>register</a:t>
            </a:r>
            <a:r>
              <a:rPr lang="en-GB" sz="2000" dirty="0">
                <a:cs typeface="ＭＳ Ｐゴシック" charset="0"/>
              </a:rPr>
              <a:t> is a bunch of </a:t>
            </a:r>
            <a:r>
              <a:rPr lang="en-GB" sz="2000" dirty="0" err="1">
                <a:cs typeface="ＭＳ Ｐゴシック" charset="0"/>
              </a:rPr>
              <a:t>flipflops</a:t>
            </a:r>
            <a:r>
              <a:rPr lang="en-GB" sz="2000" dirty="0">
                <a:cs typeface="ＭＳ Ｐゴシック" charset="0"/>
              </a:rPr>
              <a:t> with the same CLOCK.</a:t>
            </a:r>
          </a:p>
          <a:p>
            <a:pPr marL="180000" lvl="1" indent="-176400">
              <a:tabLst>
                <a:tab pos="2578100" algn="l"/>
              </a:tabLst>
              <a:defRPr/>
            </a:pPr>
            <a:r>
              <a:rPr lang="en-GB" sz="2000" dirty="0">
                <a:cs typeface="ＭＳ Ｐゴシック" charset="0"/>
              </a:rPr>
              <a:t>The individual </a:t>
            </a:r>
            <a:r>
              <a:rPr lang="en-GB" sz="2000" dirty="0" err="1">
                <a:cs typeface="ＭＳ Ｐゴシック" charset="0"/>
              </a:rPr>
              <a:t>flipflops</a:t>
            </a:r>
            <a:r>
              <a:rPr lang="en-GB" sz="2000" dirty="0">
                <a:cs typeface="ＭＳ Ｐゴシック" charset="0"/>
              </a:rPr>
              <a:t> are rectangles stacked on top of each other. Only the top one is labelled.</a:t>
            </a:r>
          </a:p>
          <a:p>
            <a:pPr marL="180000" lvl="1" indent="-176400">
              <a:tabLst>
                <a:tab pos="2578100" algn="l"/>
              </a:tabLst>
              <a:defRPr/>
            </a:pPr>
            <a:r>
              <a:rPr lang="en-GB" sz="2000" dirty="0">
                <a:cs typeface="ＭＳ Ｐゴシック" charset="0"/>
              </a:rPr>
              <a:t>All shared signals (e.g. the CLOCK input) go to the notched </a:t>
            </a:r>
            <a:r>
              <a:rPr lang="en-GB" sz="2000" i="1" u="sng" dirty="0">
                <a:cs typeface="ＭＳ Ｐゴシック" charset="0"/>
              </a:rPr>
              <a:t>common control block</a:t>
            </a:r>
            <a:r>
              <a:rPr lang="en-GB" sz="2000" dirty="0">
                <a:cs typeface="ＭＳ Ｐゴシック" charset="0"/>
              </a:rPr>
              <a:t> at the top of the stack.</a:t>
            </a:r>
          </a:p>
          <a:p>
            <a:pPr marL="180000" indent="-176400">
              <a:defRPr/>
            </a:pPr>
            <a:endParaRPr lang="el-GR" sz="1050" dirty="0"/>
          </a:p>
        </p:txBody>
      </p:sp>
      <p:pic>
        <p:nvPicPr>
          <p:cNvPr id="28677" name="Picture 1">
            <a:extLst>
              <a:ext uri="{FF2B5EF4-FFF2-40B4-BE49-F238E27FC236}">
                <a16:creationId xmlns:a16="http://schemas.microsoft.com/office/drawing/2014/main" id="{F2B0F5C9-EA47-ED46-A3AE-BED6A289D0C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2900" y="1125538"/>
            <a:ext cx="4610100" cy="249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3">
            <a:extLst>
              <a:ext uri="{FF2B5EF4-FFF2-40B4-BE49-F238E27FC236}">
                <a16:creationId xmlns:a16="http://schemas.microsoft.com/office/drawing/2014/main" id="{3B7A39F1-4D7E-FC44-8019-07EB76058E4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7000" y="3644900"/>
            <a:ext cx="5546725" cy="825500"/>
          </a:xfrm>
          <a:prstGeom prst="rect">
            <a:avLst/>
          </a:prstGeom>
          <a:noFill/>
          <a:ln w="9525">
            <a:solidFill>
              <a:srgbClr val="4F81BD"/>
            </a:solidFill>
            <a:miter lim="800000"/>
            <a:headEnd/>
            <a:tailEnd/>
          </a:ln>
          <a:extLst>
            <a:ext uri="{909E8E84-426E-40DD-AFC4-6F175D3DCCD1}">
              <a14:hiddenFill xmlns:a14="http://schemas.microsoft.com/office/drawing/2010/main">
                <a:solidFill>
                  <a:srgbClr val="FFFFFF"/>
                </a:solidFill>
              </a14:hiddenFill>
            </a:ext>
          </a:extLst>
        </p:spPr>
      </p:pic>
      <p:pic>
        <p:nvPicPr>
          <p:cNvPr id="28679" name="Picture 5">
            <a:extLst>
              <a:ext uri="{FF2B5EF4-FFF2-40B4-BE49-F238E27FC236}">
                <a16:creationId xmlns:a16="http://schemas.microsoft.com/office/drawing/2014/main" id="{2A9A61AA-AA12-9444-BA93-B26E15B18E5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5563" y="4508500"/>
            <a:ext cx="7640637"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0" name="Picture 7">
            <a:extLst>
              <a:ext uri="{FF2B5EF4-FFF2-40B4-BE49-F238E27FC236}">
                <a16:creationId xmlns:a16="http://schemas.microsoft.com/office/drawing/2014/main" id="{72115D45-0F19-A14B-B7A6-27A8023905B4}"/>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618413" y="5229225"/>
            <a:ext cx="21431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1" name="Picture 14">
            <a:extLst>
              <a:ext uri="{FF2B5EF4-FFF2-40B4-BE49-F238E27FC236}">
                <a16:creationId xmlns:a16="http://schemas.microsoft.com/office/drawing/2014/main" id="{F72A4EDE-7C91-C14F-A05C-4C5A6DBF4CAB}"/>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618413" y="4941888"/>
            <a:ext cx="20335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2" name="TextBox 9">
            <a:extLst>
              <a:ext uri="{FF2B5EF4-FFF2-40B4-BE49-F238E27FC236}">
                <a16:creationId xmlns:a16="http://schemas.microsoft.com/office/drawing/2014/main" id="{2763A39B-23AE-7546-8EC5-1823D713D0BF}"/>
              </a:ext>
            </a:extLst>
          </p:cNvPr>
          <p:cNvSpPr txBox="1">
            <a:spLocks noChangeArrowheads="1"/>
          </p:cNvSpPr>
          <p:nvPr/>
        </p:nvSpPr>
        <p:spPr bwMode="auto">
          <a:xfrm>
            <a:off x="9201150" y="5084763"/>
            <a:ext cx="557213"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800"/>
              <a:t>1ns</a:t>
            </a:r>
          </a:p>
        </p:txBody>
      </p:sp>
      <p:sp>
        <p:nvSpPr>
          <p:cNvPr id="28683" name="TextBox 10">
            <a:extLst>
              <a:ext uri="{FF2B5EF4-FFF2-40B4-BE49-F238E27FC236}">
                <a16:creationId xmlns:a16="http://schemas.microsoft.com/office/drawing/2014/main" id="{16B1B2E8-67F6-1642-ADE9-3BDA2518A062}"/>
              </a:ext>
            </a:extLst>
          </p:cNvPr>
          <p:cNvSpPr txBox="1">
            <a:spLocks noChangeArrowheads="1"/>
          </p:cNvSpPr>
          <p:nvPr/>
        </p:nvSpPr>
        <p:spPr bwMode="auto">
          <a:xfrm>
            <a:off x="3933825" y="4098925"/>
            <a:ext cx="731838" cy="338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600"/>
              <a:t>1ns.</a:t>
            </a:r>
          </a:p>
        </p:txBody>
      </p:sp>
      <p:sp>
        <p:nvSpPr>
          <p:cNvPr id="28684" name="TextBox 11">
            <a:extLst>
              <a:ext uri="{FF2B5EF4-FFF2-40B4-BE49-F238E27FC236}">
                <a16:creationId xmlns:a16="http://schemas.microsoft.com/office/drawing/2014/main" id="{70FB3D7B-DF5F-754F-88C7-3A024484FE4D}"/>
              </a:ext>
            </a:extLst>
          </p:cNvPr>
          <p:cNvSpPr txBox="1">
            <a:spLocks noChangeArrowheads="1"/>
          </p:cNvSpPr>
          <p:nvPr/>
        </p:nvSpPr>
        <p:spPr bwMode="auto">
          <a:xfrm>
            <a:off x="9201150" y="5373688"/>
            <a:ext cx="557213"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800"/>
              <a:t>2ns</a:t>
            </a:r>
          </a:p>
        </p:txBody>
      </p:sp>
      <p:sp>
        <p:nvSpPr>
          <p:cNvPr id="28685" name="TextBox 12">
            <a:extLst>
              <a:ext uri="{FF2B5EF4-FFF2-40B4-BE49-F238E27FC236}">
                <a16:creationId xmlns:a16="http://schemas.microsoft.com/office/drawing/2014/main" id="{490DE6A4-41F2-A045-9C03-AFB9D2C39A2E}"/>
              </a:ext>
            </a:extLst>
          </p:cNvPr>
          <p:cNvSpPr txBox="1">
            <a:spLocks noChangeArrowheads="1"/>
          </p:cNvSpPr>
          <p:nvPr/>
        </p:nvSpPr>
        <p:spPr bwMode="auto">
          <a:xfrm>
            <a:off x="488950" y="6021388"/>
            <a:ext cx="81486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a:t>All flipflops change state within a fraction of nanosecond of each other.</a:t>
            </a:r>
          </a:p>
        </p:txBody>
      </p:sp>
    </p:spTree>
    <p:extLst>
      <p:ext uri="{BB962C8B-B14F-4D97-AF65-F5344CB8AC3E}">
        <p14:creationId xmlns:p14="http://schemas.microsoft.com/office/powerpoint/2010/main" val="565365634"/>
      </p:ext>
    </p:extLst>
  </p:cSld>
  <p:clrMapOvr>
    <a:masterClrMapping/>
  </p:clrMapOvr>
  <p:transition>
    <p:checke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5" name="Rectangle 2">
            <a:extLst>
              <a:ext uri="{FF2B5EF4-FFF2-40B4-BE49-F238E27FC236}">
                <a16:creationId xmlns:a16="http://schemas.microsoft.com/office/drawing/2014/main" id="{E63125BC-C2FB-E343-805D-7E5EFA76044C}"/>
              </a:ext>
            </a:extLst>
          </p:cNvPr>
          <p:cNvSpPr>
            <a:spLocks noGrp="1" noChangeArrowheads="1"/>
          </p:cNvSpPr>
          <p:nvPr>
            <p:ph type="title"/>
          </p:nvPr>
        </p:nvSpPr>
        <p:spPr>
          <a:xfrm>
            <a:off x="703263" y="161925"/>
            <a:ext cx="8420100" cy="603250"/>
          </a:xfrm>
          <a:noFill/>
        </p:spPr>
        <p:txBody>
          <a:bodyPr/>
          <a:lstStyle/>
          <a:p>
            <a:r>
              <a:rPr lang="en-GB" altLang="en-US">
                <a:ea typeface="ＭＳ Ｐゴシック" panose="020B0600070205080204" pitchFamily="34" charset="-128"/>
              </a:rPr>
              <a:t>Old ways of implementing digital circuits</a:t>
            </a:r>
          </a:p>
        </p:txBody>
      </p:sp>
      <p:sp>
        <p:nvSpPr>
          <p:cNvPr id="6146" name="Rectangle 3">
            <a:extLst>
              <a:ext uri="{FF2B5EF4-FFF2-40B4-BE49-F238E27FC236}">
                <a16:creationId xmlns:a16="http://schemas.microsoft.com/office/drawing/2014/main" id="{44F4E83C-069D-8940-87C8-91E92057F70E}"/>
              </a:ext>
            </a:extLst>
          </p:cNvPr>
          <p:cNvSpPr>
            <a:spLocks noGrp="1" noChangeArrowheads="1"/>
          </p:cNvSpPr>
          <p:nvPr>
            <p:ph type="body" idx="1"/>
          </p:nvPr>
        </p:nvSpPr>
        <p:spPr>
          <a:xfrm>
            <a:off x="4089400" y="981075"/>
            <a:ext cx="5473700" cy="2663825"/>
          </a:xfrm>
        </p:spPr>
        <p:txBody>
          <a:bodyPr/>
          <a:lstStyle/>
          <a:p>
            <a:pPr marL="287338" indent="-287338"/>
            <a:r>
              <a:rPr lang="en-GB" altLang="en-US" dirty="0">
                <a:ea typeface="ＭＳ Ｐゴシック" panose="020B0600070205080204" pitchFamily="34" charset="-128"/>
              </a:rPr>
              <a:t>Discrete logic – based on gates or small packages containing small digital building blocks (at most a 1-bit adder)</a:t>
            </a:r>
          </a:p>
          <a:p>
            <a:pPr marL="287338" indent="-287338"/>
            <a:r>
              <a:rPr lang="en-GB" altLang="en-US" dirty="0">
                <a:ea typeface="ＭＳ Ｐゴシック" panose="020B0600070205080204" pitchFamily="34" charset="-128"/>
              </a:rPr>
              <a:t>De Morgan’s theorem – theoretically we only need 2-input NAND or NOR gates to build anything</a:t>
            </a:r>
          </a:p>
          <a:p>
            <a:pPr marL="287338" indent="-287338"/>
            <a:r>
              <a:rPr lang="en-GB" altLang="en-US" dirty="0">
                <a:ea typeface="ＭＳ Ｐゴシック" panose="020B0600070205080204" pitchFamily="34" charset="-128"/>
              </a:rPr>
              <a:t>Tedious, expensive, slow, prone to wiring errors</a:t>
            </a:r>
            <a:endParaRPr lang="en-US" altLang="en-US" dirty="0">
              <a:ea typeface="ＭＳ Ｐゴシック" panose="020B0600070205080204" pitchFamily="34" charset="-128"/>
            </a:endParaRPr>
          </a:p>
          <a:p>
            <a:pPr marL="287338" lvl="1" indent="-287338"/>
            <a:endParaRPr lang="en-GB" altLang="en-US" dirty="0">
              <a:ea typeface="ＭＳ Ｐゴシック" panose="020B0600070205080204" pitchFamily="34" charset="-128"/>
            </a:endParaRPr>
          </a:p>
          <a:p>
            <a:pPr marL="287338" indent="-287338"/>
            <a:endParaRPr lang="en-GB" altLang="en-US" dirty="0">
              <a:ea typeface="ＭＳ Ｐゴシック" panose="020B0600070205080204" pitchFamily="34" charset="-128"/>
            </a:endParaRPr>
          </a:p>
          <a:p>
            <a:pPr marL="287338" indent="-287338"/>
            <a:endParaRPr lang="en-GB" altLang="en-US" dirty="0">
              <a:ea typeface="ＭＳ Ｐゴシック" panose="020B0600070205080204" pitchFamily="34" charset="-128"/>
            </a:endParaRPr>
          </a:p>
          <a:p>
            <a:pPr marL="287338" indent="-287338">
              <a:buFont typeface="Arial" panose="020B0604020202020204" pitchFamily="34" charset="0"/>
              <a:buAutoNum type="arabicPeriod"/>
            </a:pPr>
            <a:endParaRPr lang="el-GR" altLang="en-US" dirty="0">
              <a:ea typeface="ＭＳ Ｐゴシック" panose="020B0600070205080204" pitchFamily="34" charset="-128"/>
            </a:endParaRPr>
          </a:p>
        </p:txBody>
      </p:sp>
      <p:pic>
        <p:nvPicPr>
          <p:cNvPr id="6147" name="Picture 4">
            <a:extLst>
              <a:ext uri="{FF2B5EF4-FFF2-40B4-BE49-F238E27FC236}">
                <a16:creationId xmlns:a16="http://schemas.microsoft.com/office/drawing/2014/main" id="{363EF4F2-245A-8B4A-ADB3-B8934E6DF12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7363" y="1773238"/>
            <a:ext cx="2608262"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5">
            <a:extLst>
              <a:ext uri="{FF2B5EF4-FFF2-40B4-BE49-F238E27FC236}">
                <a16:creationId xmlns:a16="http://schemas.microsoft.com/office/drawing/2014/main" id="{84DC7F03-B87A-C349-B6C6-75649073B4B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03263" y="4149725"/>
            <a:ext cx="2097087"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1">
            <a:extLst>
              <a:ext uri="{FF2B5EF4-FFF2-40B4-BE49-F238E27FC236}">
                <a16:creationId xmlns:a16="http://schemas.microsoft.com/office/drawing/2014/main" id="{C68C79E7-BF61-5A47-8A78-3CD0935E3F1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440113" y="3716338"/>
            <a:ext cx="5976937" cy="2601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hecke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2C44AAF4-F97B-AB44-8E09-940F3FA2BE90}"/>
              </a:ext>
            </a:extLst>
          </p:cNvPr>
          <p:cNvSpPr>
            <a:spLocks noGrp="1" noChangeArrowheads="1"/>
          </p:cNvSpPr>
          <p:nvPr>
            <p:ph type="title"/>
          </p:nvPr>
        </p:nvSpPr>
        <p:spPr>
          <a:xfrm>
            <a:off x="703263" y="161925"/>
            <a:ext cx="8420100" cy="603250"/>
          </a:xfrm>
          <a:noFill/>
        </p:spPr>
        <p:txBody>
          <a:bodyPr/>
          <a:lstStyle/>
          <a:p>
            <a:r>
              <a:rPr lang="en-GB" altLang="en-US">
                <a:ea typeface="ＭＳ Ｐゴシック" panose="020B0600070205080204" pitchFamily="34" charset="-128"/>
              </a:rPr>
              <a:t>Early integrated circuits based on gate arrays</a:t>
            </a:r>
          </a:p>
        </p:txBody>
      </p:sp>
      <p:sp>
        <p:nvSpPr>
          <p:cNvPr id="8194" name="Rectangle 3">
            <a:extLst>
              <a:ext uri="{FF2B5EF4-FFF2-40B4-BE49-F238E27FC236}">
                <a16:creationId xmlns:a16="http://schemas.microsoft.com/office/drawing/2014/main" id="{9786815B-9EFF-CB46-8FA2-4D89480E8E62}"/>
              </a:ext>
            </a:extLst>
          </p:cNvPr>
          <p:cNvSpPr>
            <a:spLocks noGrp="1" noChangeArrowheads="1"/>
          </p:cNvSpPr>
          <p:nvPr>
            <p:ph type="body" idx="1"/>
          </p:nvPr>
        </p:nvSpPr>
        <p:spPr>
          <a:xfrm>
            <a:off x="6465888" y="1196975"/>
            <a:ext cx="3097212" cy="4895850"/>
          </a:xfrm>
        </p:spPr>
        <p:txBody>
          <a:bodyPr/>
          <a:lstStyle/>
          <a:p>
            <a:pPr marL="287338" indent="-287338"/>
            <a:r>
              <a:rPr lang="en-GB" altLang="en-US">
                <a:ea typeface="ＭＳ Ｐゴシック" panose="020B0600070205080204" pitchFamily="34" charset="-128"/>
              </a:rPr>
              <a:t>Rows of gates – often identical in structure</a:t>
            </a:r>
          </a:p>
          <a:p>
            <a:pPr marL="287338" indent="-287338"/>
            <a:r>
              <a:rPr lang="en-GB" altLang="en-US">
                <a:ea typeface="ＭＳ Ｐゴシック" panose="020B0600070205080204" pitchFamily="34" charset="-128"/>
              </a:rPr>
              <a:t>Connected to form customer specific circuits</a:t>
            </a:r>
          </a:p>
          <a:p>
            <a:pPr marL="287338" indent="-287338"/>
            <a:r>
              <a:rPr lang="en-GB" altLang="en-US">
                <a:ea typeface="ＭＳ Ｐゴシック" panose="020B0600070205080204" pitchFamily="34" charset="-128"/>
              </a:rPr>
              <a:t>Can be full-custom (i.e. completely fabricated from scratch for a given design)</a:t>
            </a:r>
          </a:p>
          <a:p>
            <a:pPr marL="287338" indent="-287338"/>
            <a:r>
              <a:rPr lang="en-GB" altLang="en-US">
                <a:ea typeface="ＭＳ Ｐゴシック" panose="020B0600070205080204" pitchFamily="34" charset="-128"/>
              </a:rPr>
              <a:t>Can be semi-custom (i.e. customisation on the metal layers only)</a:t>
            </a:r>
          </a:p>
          <a:p>
            <a:pPr marL="287338" indent="-287338"/>
            <a:r>
              <a:rPr lang="en-GB" altLang="en-US">
                <a:ea typeface="ＭＳ Ｐゴシック" panose="020B0600070205080204" pitchFamily="34" charset="-128"/>
              </a:rPr>
              <a:t>Once fabricated, the design is fixed</a:t>
            </a:r>
          </a:p>
          <a:p>
            <a:pPr marL="287338" indent="-287338"/>
            <a:endParaRPr lang="en-GB" altLang="en-US">
              <a:ea typeface="ＭＳ Ｐゴシック" panose="020B0600070205080204" pitchFamily="34" charset="-128"/>
            </a:endParaRPr>
          </a:p>
          <a:p>
            <a:pPr marL="287338" indent="-287338"/>
            <a:endParaRPr lang="en-GB" altLang="en-US">
              <a:ea typeface="ＭＳ Ｐゴシック" panose="020B0600070205080204" pitchFamily="34" charset="-128"/>
            </a:endParaRPr>
          </a:p>
          <a:p>
            <a:pPr marL="287338" indent="-287338">
              <a:buFont typeface="Arial" panose="020B0604020202020204" pitchFamily="34" charset="0"/>
              <a:buAutoNum type="arabicPeriod"/>
            </a:pPr>
            <a:endParaRPr lang="el-GR" altLang="en-US">
              <a:ea typeface="ＭＳ Ｐゴシック" panose="020B0600070205080204" pitchFamily="34" charset="-128"/>
            </a:endParaRPr>
          </a:p>
        </p:txBody>
      </p:sp>
      <p:pic>
        <p:nvPicPr>
          <p:cNvPr id="8195" name="Picture 1">
            <a:extLst>
              <a:ext uri="{FF2B5EF4-FFF2-40B4-BE49-F238E27FC236}">
                <a16:creationId xmlns:a16="http://schemas.microsoft.com/office/drawing/2014/main" id="{B390628E-C583-A34D-9A5C-22B855C2F83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7000" y="981075"/>
            <a:ext cx="6338888" cy="541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hecker/>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91A10B3F-D251-8345-9204-DDB8A3838882}"/>
              </a:ext>
            </a:extLst>
          </p:cNvPr>
          <p:cNvSpPr>
            <a:spLocks noGrp="1" noChangeArrowheads="1"/>
          </p:cNvSpPr>
          <p:nvPr>
            <p:ph type="title"/>
          </p:nvPr>
        </p:nvSpPr>
        <p:spPr>
          <a:xfrm>
            <a:off x="703263" y="161925"/>
            <a:ext cx="8420100" cy="603250"/>
          </a:xfrm>
          <a:noFill/>
        </p:spPr>
        <p:txBody>
          <a:bodyPr/>
          <a:lstStyle/>
          <a:p>
            <a:r>
              <a:rPr lang="en-GB" altLang="en-US">
                <a:ea typeface="ＭＳ Ｐゴシック" panose="020B0600070205080204" pitchFamily="34" charset="-128"/>
              </a:rPr>
              <a:t>Modern digital design – full custom IC</a:t>
            </a:r>
          </a:p>
        </p:txBody>
      </p:sp>
      <p:pic>
        <p:nvPicPr>
          <p:cNvPr id="10242" name="Picture 1">
            <a:extLst>
              <a:ext uri="{FF2B5EF4-FFF2-40B4-BE49-F238E27FC236}">
                <a16:creationId xmlns:a16="http://schemas.microsoft.com/office/drawing/2014/main" id="{C958ECA9-DC13-1B48-8A1A-45D020E5260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65438" y="1125538"/>
            <a:ext cx="6867525" cy="525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Rectangle 3">
            <a:extLst>
              <a:ext uri="{FF2B5EF4-FFF2-40B4-BE49-F238E27FC236}">
                <a16:creationId xmlns:a16="http://schemas.microsoft.com/office/drawing/2014/main" id="{C151A214-0BE5-3846-B586-FD0228C38EC2}"/>
              </a:ext>
            </a:extLst>
          </p:cNvPr>
          <p:cNvSpPr txBox="1">
            <a:spLocks noChangeArrowheads="1"/>
          </p:cNvSpPr>
          <p:nvPr/>
        </p:nvSpPr>
        <p:spPr bwMode="auto">
          <a:xfrm>
            <a:off x="198438" y="1196975"/>
            <a:ext cx="2593975"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7338" indent="-287338">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r>
              <a:rPr lang="en-GB" altLang="en-US"/>
              <a:t>Intel Core i7</a:t>
            </a:r>
          </a:p>
          <a:p>
            <a:r>
              <a:rPr lang="en-GB" altLang="en-US"/>
              <a:t>&gt; ¾ billion trans.</a:t>
            </a:r>
          </a:p>
          <a:p>
            <a:r>
              <a:rPr lang="en-GB" altLang="en-US"/>
              <a:t>Very expensive to design</a:t>
            </a:r>
          </a:p>
          <a:p>
            <a:r>
              <a:rPr lang="en-GB" altLang="en-US"/>
              <a:t>Very expensive to manufacture</a:t>
            </a:r>
          </a:p>
          <a:p>
            <a:r>
              <a:rPr lang="en-GB" altLang="en-US"/>
              <a:t>Not viable unless the market is very large</a:t>
            </a:r>
          </a:p>
        </p:txBody>
      </p:sp>
    </p:spTree>
  </p:cSld>
  <p:clrMapOvr>
    <a:masterClrMapping/>
  </p:clrMapOvr>
  <p:transition>
    <p:checke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9" name="Rectangle 2">
            <a:extLst>
              <a:ext uri="{FF2B5EF4-FFF2-40B4-BE49-F238E27FC236}">
                <a16:creationId xmlns:a16="http://schemas.microsoft.com/office/drawing/2014/main" id="{6D6062D8-ECB9-1144-9778-6D61E4F08F5B}"/>
              </a:ext>
            </a:extLst>
          </p:cNvPr>
          <p:cNvSpPr>
            <a:spLocks noGrp="1" noChangeArrowheads="1"/>
          </p:cNvSpPr>
          <p:nvPr>
            <p:ph type="title"/>
          </p:nvPr>
        </p:nvSpPr>
        <p:spPr>
          <a:xfrm>
            <a:off x="703263" y="161925"/>
            <a:ext cx="8420100" cy="603250"/>
          </a:xfrm>
          <a:noFill/>
        </p:spPr>
        <p:txBody>
          <a:bodyPr/>
          <a:lstStyle/>
          <a:p>
            <a:r>
              <a:rPr lang="en-GB" altLang="en-US">
                <a:ea typeface="ＭＳ Ｐゴシック" panose="020B0600070205080204" pitchFamily="34" charset="-128"/>
              </a:rPr>
              <a:t>Field Programmable Gate Arrays (FPGAs)</a:t>
            </a:r>
          </a:p>
        </p:txBody>
      </p:sp>
      <p:sp>
        <p:nvSpPr>
          <p:cNvPr id="12290" name="Rectangle 3">
            <a:extLst>
              <a:ext uri="{FF2B5EF4-FFF2-40B4-BE49-F238E27FC236}">
                <a16:creationId xmlns:a16="http://schemas.microsoft.com/office/drawing/2014/main" id="{A6B8749F-7ECC-3A4E-8F83-26123AA6F47F}"/>
              </a:ext>
            </a:extLst>
          </p:cNvPr>
          <p:cNvSpPr txBox="1">
            <a:spLocks noChangeArrowheads="1"/>
          </p:cNvSpPr>
          <p:nvPr/>
        </p:nvSpPr>
        <p:spPr bwMode="auto">
          <a:xfrm>
            <a:off x="198438" y="1196975"/>
            <a:ext cx="943610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7338" indent="-287338">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r>
              <a:rPr lang="en-GB" altLang="en-US"/>
              <a:t>Combining idea from Programmable Logic Devices (PLDs – Yr 1 Lecture 8) and gate arrays</a:t>
            </a:r>
          </a:p>
          <a:p>
            <a:r>
              <a:rPr lang="en-GB" altLang="en-US"/>
              <a:t>First introduced by Xilinx in 1985</a:t>
            </a:r>
          </a:p>
          <a:p>
            <a:endParaRPr lang="el-GR" altLang="en-US"/>
          </a:p>
        </p:txBody>
      </p:sp>
      <p:pic>
        <p:nvPicPr>
          <p:cNvPr id="12291" name="Picture 2">
            <a:extLst>
              <a:ext uri="{FF2B5EF4-FFF2-40B4-BE49-F238E27FC236}">
                <a16:creationId xmlns:a16="http://schemas.microsoft.com/office/drawing/2014/main" id="{7F9AD113-ACC7-2141-B3D0-C32AA6B3088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48175" y="1844675"/>
            <a:ext cx="5272088"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Rectangle 3">
            <a:extLst>
              <a:ext uri="{FF2B5EF4-FFF2-40B4-BE49-F238E27FC236}">
                <a16:creationId xmlns:a16="http://schemas.microsoft.com/office/drawing/2014/main" id="{2B4DB035-4DF2-CD4A-AF65-9719EB0D1E7F}"/>
              </a:ext>
            </a:extLst>
          </p:cNvPr>
          <p:cNvSpPr txBox="1">
            <a:spLocks noChangeArrowheads="1"/>
          </p:cNvSpPr>
          <p:nvPr/>
        </p:nvSpPr>
        <p:spPr bwMode="auto">
          <a:xfrm>
            <a:off x="198438" y="2420938"/>
            <a:ext cx="4106862"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7338" indent="-287338">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687388" indent="-287338">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r>
              <a:rPr lang="en-GB" altLang="en-US"/>
              <a:t>Arrays of logic blocks (to implement logic functions)</a:t>
            </a:r>
          </a:p>
          <a:p>
            <a:r>
              <a:rPr lang="en-GB" altLang="en-US"/>
              <a:t>Lots of programmable wiring in routing channels</a:t>
            </a:r>
          </a:p>
          <a:p>
            <a:r>
              <a:rPr lang="en-GB" altLang="en-US"/>
              <a:t>Very flexible I/O interfacing logic core to outside world</a:t>
            </a:r>
          </a:p>
          <a:p>
            <a:r>
              <a:rPr lang="en-GB" altLang="en-US"/>
              <a:t>Two dominant FPGA makers:</a:t>
            </a:r>
          </a:p>
          <a:p>
            <a:pPr lvl="1"/>
            <a:r>
              <a:rPr lang="en-GB" altLang="en-US" sz="2000"/>
              <a:t>Xilinx and Altera</a:t>
            </a:r>
          </a:p>
          <a:p>
            <a:r>
              <a:rPr lang="en-GB" altLang="en-US"/>
              <a:t>Other specialist makers e.g. Actel and Lattice Logic</a:t>
            </a:r>
            <a:endParaRPr lang="el-GR" altLang="en-US"/>
          </a:p>
        </p:txBody>
      </p:sp>
    </p:spTree>
  </p:cSld>
  <p:clrMapOvr>
    <a:masterClrMapping/>
  </p:clrMapOvr>
  <p:transition>
    <p:checke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7" name="Rectangle 3">
            <a:extLst>
              <a:ext uri="{FF2B5EF4-FFF2-40B4-BE49-F238E27FC236}">
                <a16:creationId xmlns:a16="http://schemas.microsoft.com/office/drawing/2014/main" id="{CFCD0CF0-A283-9E4B-9E66-8792DEFADB48}"/>
              </a:ext>
            </a:extLst>
          </p:cNvPr>
          <p:cNvSpPr txBox="1">
            <a:spLocks noChangeArrowheads="1"/>
          </p:cNvSpPr>
          <p:nvPr/>
        </p:nvSpPr>
        <p:spPr bwMode="auto">
          <a:xfrm>
            <a:off x="198438" y="1196975"/>
            <a:ext cx="9436100"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7338" indent="-287338">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r>
              <a:rPr lang="en-GB" altLang="en-US"/>
              <a:t>Based around Look-up Tables (LUTs), most common with 4-inputs</a:t>
            </a:r>
          </a:p>
          <a:p>
            <a:r>
              <a:rPr lang="en-GB" altLang="en-US"/>
              <a:t>Optional D-flipflop at the output of the LUT</a:t>
            </a:r>
          </a:p>
          <a:p>
            <a:r>
              <a:rPr lang="en-GB" altLang="en-US"/>
              <a:t>4-input LUT can implement ANY 4-input Boolean equation (truth-table)</a:t>
            </a:r>
          </a:p>
          <a:p>
            <a:r>
              <a:rPr lang="en-GB" altLang="en-US"/>
              <a:t>Special circuits for cascading logic blocks (e.g. carry-chain of a binary adder)</a:t>
            </a:r>
          </a:p>
          <a:p>
            <a:endParaRPr lang="en-GB" altLang="en-US"/>
          </a:p>
          <a:p>
            <a:endParaRPr lang="en-GB" altLang="en-US"/>
          </a:p>
          <a:p>
            <a:endParaRPr lang="en-GB" altLang="en-US"/>
          </a:p>
          <a:p>
            <a:endParaRPr lang="en-GB" altLang="en-US"/>
          </a:p>
          <a:p>
            <a:endParaRPr lang="en-GB" altLang="en-US"/>
          </a:p>
          <a:p>
            <a:endParaRPr lang="en-GB" altLang="en-US"/>
          </a:p>
          <a:p>
            <a:endParaRPr lang="en-GB" altLang="en-US"/>
          </a:p>
          <a:p>
            <a:endParaRPr lang="en-GB" altLang="en-US"/>
          </a:p>
          <a:p>
            <a:r>
              <a:rPr lang="en-GB" altLang="en-US"/>
              <a:t>Each logic block has pins located for easy access:</a:t>
            </a:r>
          </a:p>
          <a:p>
            <a:endParaRPr lang="el-GR" altLang="en-US"/>
          </a:p>
        </p:txBody>
      </p:sp>
      <p:pic>
        <p:nvPicPr>
          <p:cNvPr id="14338" name="Picture 1">
            <a:extLst>
              <a:ext uri="{FF2B5EF4-FFF2-40B4-BE49-F238E27FC236}">
                <a16:creationId xmlns:a16="http://schemas.microsoft.com/office/drawing/2014/main" id="{D72E5B79-8FF5-2245-BBFA-3A0B7E5FE1F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12838" y="2781300"/>
            <a:ext cx="43688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Rectangle 2">
            <a:extLst>
              <a:ext uri="{FF2B5EF4-FFF2-40B4-BE49-F238E27FC236}">
                <a16:creationId xmlns:a16="http://schemas.microsoft.com/office/drawing/2014/main" id="{4663C392-78B4-574A-B636-31E3DD956F52}"/>
              </a:ext>
            </a:extLst>
          </p:cNvPr>
          <p:cNvSpPr>
            <a:spLocks noGrp="1" noChangeArrowheads="1"/>
          </p:cNvSpPr>
          <p:nvPr>
            <p:ph type="title"/>
          </p:nvPr>
        </p:nvSpPr>
        <p:spPr>
          <a:xfrm>
            <a:off x="703263" y="161925"/>
            <a:ext cx="8420100" cy="603250"/>
          </a:xfrm>
          <a:noFill/>
        </p:spPr>
        <p:txBody>
          <a:bodyPr/>
          <a:lstStyle/>
          <a:p>
            <a:r>
              <a:rPr lang="en-GB" altLang="en-US">
                <a:ea typeface="ＭＳ Ｐゴシック" panose="020B0600070205080204" pitchFamily="34" charset="-128"/>
              </a:rPr>
              <a:t>Configurable Logic Block (or Logic Element)</a:t>
            </a:r>
          </a:p>
        </p:txBody>
      </p:sp>
      <p:pic>
        <p:nvPicPr>
          <p:cNvPr id="14340" name="Picture 4">
            <a:extLst>
              <a:ext uri="{FF2B5EF4-FFF2-40B4-BE49-F238E27FC236}">
                <a16:creationId xmlns:a16="http://schemas.microsoft.com/office/drawing/2014/main" id="{7666E236-61AD-DE46-8253-A5223E24D9E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13588" y="4005263"/>
            <a:ext cx="2087562" cy="189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Oval 5">
            <a:extLst>
              <a:ext uri="{FF2B5EF4-FFF2-40B4-BE49-F238E27FC236}">
                <a16:creationId xmlns:a16="http://schemas.microsoft.com/office/drawing/2014/main" id="{3A061D7D-941B-8144-893C-B474EA99CBCB}"/>
              </a:ext>
            </a:extLst>
          </p:cNvPr>
          <p:cNvSpPr>
            <a:spLocks noChangeArrowheads="1"/>
          </p:cNvSpPr>
          <p:nvPr/>
        </p:nvSpPr>
        <p:spPr bwMode="auto">
          <a:xfrm>
            <a:off x="992188" y="2878138"/>
            <a:ext cx="1657350" cy="1774825"/>
          </a:xfrm>
          <a:prstGeom prst="ellipse">
            <a:avLst/>
          </a:prstGeom>
          <a:noFill/>
          <a:ln w="57150">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lang="en-US" altLang="en-US" sz="3200"/>
          </a:p>
        </p:txBody>
      </p:sp>
      <p:sp>
        <p:nvSpPr>
          <p:cNvPr id="7" name="Oval 6">
            <a:extLst>
              <a:ext uri="{FF2B5EF4-FFF2-40B4-BE49-F238E27FC236}">
                <a16:creationId xmlns:a16="http://schemas.microsoft.com/office/drawing/2014/main" id="{10D669DD-01A5-574D-AE91-AED5FD0F3026}"/>
              </a:ext>
            </a:extLst>
          </p:cNvPr>
          <p:cNvSpPr>
            <a:spLocks noChangeArrowheads="1"/>
          </p:cNvSpPr>
          <p:nvPr/>
        </p:nvSpPr>
        <p:spPr bwMode="auto">
          <a:xfrm>
            <a:off x="2720975" y="3141663"/>
            <a:ext cx="1511300" cy="1150937"/>
          </a:xfrm>
          <a:prstGeom prst="ellipse">
            <a:avLst/>
          </a:prstGeom>
          <a:noFill/>
          <a:ln w="57150">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lang="en-US" altLang="en-US" sz="3200"/>
          </a:p>
        </p:txBody>
      </p:sp>
      <p:sp>
        <p:nvSpPr>
          <p:cNvPr id="8" name="Oval 7">
            <a:extLst>
              <a:ext uri="{FF2B5EF4-FFF2-40B4-BE49-F238E27FC236}">
                <a16:creationId xmlns:a16="http://schemas.microsoft.com/office/drawing/2014/main" id="{010F3539-A0F7-FF49-A2B7-0850BD3309BC}"/>
              </a:ext>
            </a:extLst>
          </p:cNvPr>
          <p:cNvSpPr>
            <a:spLocks noChangeArrowheads="1"/>
          </p:cNvSpPr>
          <p:nvPr/>
        </p:nvSpPr>
        <p:spPr bwMode="auto">
          <a:xfrm>
            <a:off x="4305300" y="3106738"/>
            <a:ext cx="1368425" cy="1114425"/>
          </a:xfrm>
          <a:prstGeom prst="ellipse">
            <a:avLst/>
          </a:prstGeom>
          <a:noFill/>
          <a:ln w="57150">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lang="en-US" altLang="en-US" sz="3200"/>
          </a:p>
        </p:txBody>
      </p:sp>
      <p:sp>
        <p:nvSpPr>
          <p:cNvPr id="14344" name="TextBox 2">
            <a:extLst>
              <a:ext uri="{FF2B5EF4-FFF2-40B4-BE49-F238E27FC236}">
                <a16:creationId xmlns:a16="http://schemas.microsoft.com/office/drawing/2014/main" id="{065A9DC5-8480-0549-82CB-895718CCCBD0}"/>
              </a:ext>
            </a:extLst>
          </p:cNvPr>
          <p:cNvSpPr txBox="1">
            <a:spLocks noChangeArrowheads="1"/>
          </p:cNvSpPr>
          <p:nvPr/>
        </p:nvSpPr>
        <p:spPr bwMode="auto">
          <a:xfrm>
            <a:off x="5745163" y="2955925"/>
            <a:ext cx="18097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a:t>Logic Element</a:t>
            </a:r>
          </a:p>
          <a:p>
            <a:pPr algn="ctr">
              <a:spcBef>
                <a:spcPct val="0"/>
              </a:spcBef>
              <a:buClrTx/>
              <a:buSzTx/>
              <a:buFontTx/>
              <a:buNone/>
            </a:pPr>
            <a:r>
              <a:rPr lang="en-US" altLang="en-US"/>
              <a:t>(LE)</a:t>
            </a:r>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6385" name="Picture 2">
            <a:extLst>
              <a:ext uri="{FF2B5EF4-FFF2-40B4-BE49-F238E27FC236}">
                <a16:creationId xmlns:a16="http://schemas.microsoft.com/office/drawing/2014/main" id="{0311BA8B-EB9A-B74F-8DB6-3456B83F642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74700" y="3860800"/>
            <a:ext cx="3849688" cy="250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6" name="Rectangle 2">
            <a:extLst>
              <a:ext uri="{FF2B5EF4-FFF2-40B4-BE49-F238E27FC236}">
                <a16:creationId xmlns:a16="http://schemas.microsoft.com/office/drawing/2014/main" id="{F77F37E8-7F00-7D4C-9BBC-A52FF3BAD50C}"/>
              </a:ext>
            </a:extLst>
          </p:cNvPr>
          <p:cNvSpPr>
            <a:spLocks noGrp="1" noChangeArrowheads="1"/>
          </p:cNvSpPr>
          <p:nvPr>
            <p:ph type="title"/>
          </p:nvPr>
        </p:nvSpPr>
        <p:spPr>
          <a:xfrm>
            <a:off x="703263" y="161925"/>
            <a:ext cx="8420100" cy="603250"/>
          </a:xfrm>
          <a:noFill/>
        </p:spPr>
        <p:txBody>
          <a:bodyPr/>
          <a:lstStyle/>
          <a:p>
            <a:r>
              <a:rPr lang="en-GB" altLang="en-US">
                <a:ea typeface="ＭＳ Ｐゴシック" panose="020B0600070205080204" pitchFamily="34" charset="-128"/>
              </a:rPr>
              <a:t>Programmable Routing</a:t>
            </a:r>
          </a:p>
        </p:txBody>
      </p:sp>
      <p:sp>
        <p:nvSpPr>
          <p:cNvPr id="16387" name="Rectangle 3">
            <a:extLst>
              <a:ext uri="{FF2B5EF4-FFF2-40B4-BE49-F238E27FC236}">
                <a16:creationId xmlns:a16="http://schemas.microsoft.com/office/drawing/2014/main" id="{8A26FDC1-48E1-344F-B097-BBB034F25845}"/>
              </a:ext>
            </a:extLst>
          </p:cNvPr>
          <p:cNvSpPr txBox="1">
            <a:spLocks noChangeArrowheads="1"/>
          </p:cNvSpPr>
          <p:nvPr/>
        </p:nvSpPr>
        <p:spPr bwMode="auto">
          <a:xfrm>
            <a:off x="198438" y="981075"/>
            <a:ext cx="5762625"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7338" indent="-287338">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r>
              <a:rPr lang="en-GB" altLang="en-US"/>
              <a:t>Between rows and columns of logic blocks are wiring channels</a:t>
            </a:r>
          </a:p>
          <a:p>
            <a:r>
              <a:rPr lang="en-GB" altLang="en-US"/>
              <a:t>These are programmable – a logic block pin can be connected to one of many wiring tracks through a programmable switch</a:t>
            </a:r>
          </a:p>
          <a:p>
            <a:endParaRPr lang="en-GB" altLang="en-US"/>
          </a:p>
          <a:p>
            <a:endParaRPr lang="el-GR" altLang="en-US"/>
          </a:p>
        </p:txBody>
      </p:sp>
      <p:pic>
        <p:nvPicPr>
          <p:cNvPr id="16388" name="Picture 1">
            <a:extLst>
              <a:ext uri="{FF2B5EF4-FFF2-40B4-BE49-F238E27FC236}">
                <a16:creationId xmlns:a16="http://schemas.microsoft.com/office/drawing/2014/main" id="{FC6AF7A3-F7BF-1348-B22A-154D5B6F204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761038" y="1052513"/>
            <a:ext cx="4046537"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Rectangle 3">
            <a:extLst>
              <a:ext uri="{FF2B5EF4-FFF2-40B4-BE49-F238E27FC236}">
                <a16:creationId xmlns:a16="http://schemas.microsoft.com/office/drawing/2014/main" id="{F63381B6-53E0-814E-935B-D4C8CEA6B1F5}"/>
              </a:ext>
            </a:extLst>
          </p:cNvPr>
          <p:cNvSpPr txBox="1">
            <a:spLocks noChangeArrowheads="1"/>
          </p:cNvSpPr>
          <p:nvPr/>
        </p:nvSpPr>
        <p:spPr bwMode="auto">
          <a:xfrm>
            <a:off x="198438" y="2708275"/>
            <a:ext cx="5330825" cy="352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7338" indent="-287338">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r>
              <a:rPr lang="en-GB" altLang="en-US"/>
              <a:t>Xilinx FPGAs have dedicated switch block circuits for routing (more flexible)</a:t>
            </a:r>
          </a:p>
          <a:p>
            <a:r>
              <a:rPr lang="en-GB" altLang="en-US"/>
              <a:t>Each wire segment can be connected in one of many ways:</a:t>
            </a:r>
          </a:p>
          <a:p>
            <a:endParaRPr lang="en-GB" altLang="en-US"/>
          </a:p>
          <a:p>
            <a:endParaRPr lang="el-GR" altLang="en-US"/>
          </a:p>
        </p:txBody>
      </p:sp>
      <p:pic>
        <p:nvPicPr>
          <p:cNvPr id="16390" name="Picture 5">
            <a:extLst>
              <a:ext uri="{FF2B5EF4-FFF2-40B4-BE49-F238E27FC236}">
                <a16:creationId xmlns:a16="http://schemas.microsoft.com/office/drawing/2014/main" id="{C00CD009-F187-774E-8931-BFF9C2AEDB9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529263" y="3141663"/>
            <a:ext cx="39624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val 7">
            <a:extLst>
              <a:ext uri="{FF2B5EF4-FFF2-40B4-BE49-F238E27FC236}">
                <a16:creationId xmlns:a16="http://schemas.microsoft.com/office/drawing/2014/main" id="{060D38FC-37A0-6140-9947-630121C7B599}"/>
              </a:ext>
            </a:extLst>
          </p:cNvPr>
          <p:cNvSpPr>
            <a:spLocks noChangeArrowheads="1"/>
          </p:cNvSpPr>
          <p:nvPr/>
        </p:nvSpPr>
        <p:spPr bwMode="auto">
          <a:xfrm>
            <a:off x="6897688" y="1582738"/>
            <a:ext cx="1152525" cy="1485900"/>
          </a:xfrm>
          <a:prstGeom prst="ellipse">
            <a:avLst/>
          </a:prstGeom>
          <a:noFill/>
          <a:ln w="57150">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lang="en-US" altLang="en-US" sz="3200"/>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3">
            <a:extLst>
              <a:ext uri="{FF2B5EF4-FFF2-40B4-BE49-F238E27FC236}">
                <a16:creationId xmlns:a16="http://schemas.microsoft.com/office/drawing/2014/main" id="{889E6E0E-A94F-7049-969E-E87DD556C6BD}"/>
              </a:ext>
            </a:extLst>
          </p:cNvPr>
          <p:cNvSpPr>
            <a:spLocks noGrp="1" noChangeArrowheads="1"/>
          </p:cNvSpPr>
          <p:nvPr>
            <p:ph type="body" sz="half" idx="2"/>
          </p:nvPr>
        </p:nvSpPr>
        <p:spPr>
          <a:xfrm>
            <a:off x="273050" y="1038225"/>
            <a:ext cx="5905500" cy="5256213"/>
          </a:xfrm>
        </p:spPr>
        <p:txBody>
          <a:bodyPr/>
          <a:lstStyle/>
          <a:p>
            <a:r>
              <a:rPr lang="en-GB" altLang="en-US" sz="1600" dirty="0">
                <a:ea typeface="ＭＳ Ｐゴシック" panose="020B0600070205080204" pitchFamily="34" charset="-128"/>
              </a:rPr>
              <a:t>Programming an FPGA is NOT the same as programming a microprocessor</a:t>
            </a:r>
          </a:p>
          <a:p>
            <a:r>
              <a:rPr lang="en-GB" altLang="en-US" sz="1600" dirty="0">
                <a:ea typeface="ＭＳ Ｐゴシック" panose="020B0600070205080204" pitchFamily="34" charset="-128"/>
              </a:rPr>
              <a:t>We download a </a:t>
            </a:r>
            <a:r>
              <a:rPr lang="en-GB" altLang="en-US" sz="1600" b="1" dirty="0">
                <a:ea typeface="ＭＳ Ｐゴシック" panose="020B0600070205080204" pitchFamily="34" charset="-128"/>
              </a:rPr>
              <a:t>BITSTREAM</a:t>
            </a:r>
            <a:r>
              <a:rPr lang="en-GB" altLang="en-US" sz="1600" dirty="0">
                <a:ea typeface="ＭＳ Ｐゴシック" panose="020B0600070205080204" pitchFamily="34" charset="-128"/>
              </a:rPr>
              <a:t> (not a program) to an FPGA</a:t>
            </a:r>
          </a:p>
          <a:p>
            <a:r>
              <a:rPr lang="en-GB" altLang="en-US" sz="1600" dirty="0">
                <a:ea typeface="ＭＳ Ｐゴシック" panose="020B0600070205080204" pitchFamily="34" charset="-128"/>
              </a:rPr>
              <a:t>Programming an FPGA is known as </a:t>
            </a:r>
            <a:r>
              <a:rPr lang="en-GB" altLang="en-US" sz="1600" b="1" dirty="0">
                <a:ea typeface="ＭＳ Ｐゴシック" panose="020B0600070205080204" pitchFamily="34" charset="-128"/>
              </a:rPr>
              <a:t>CONFIGURATION</a:t>
            </a:r>
          </a:p>
          <a:p>
            <a:r>
              <a:rPr lang="en-GB" altLang="en-US" sz="1800" dirty="0">
                <a:ea typeface="ＭＳ Ｐゴシック" panose="020B0600070205080204" pitchFamily="34" charset="-128"/>
              </a:rPr>
              <a:t>All LUTs are configured using the BITSTREAM so that they contain the correct values to implement the Boolean logic</a:t>
            </a:r>
          </a:p>
          <a:p>
            <a:r>
              <a:rPr lang="en-GB" altLang="en-US" sz="1800" dirty="0">
                <a:ea typeface="ＭＳ Ｐゴシック" panose="020B0600070205080204" pitchFamily="34" charset="-128"/>
              </a:rPr>
              <a:t>Shown here is a typical implementation of a 4-LUT circuit</a:t>
            </a:r>
          </a:p>
          <a:p>
            <a:pPr lvl="1"/>
            <a:r>
              <a:rPr lang="en-GB" altLang="en-US" sz="1600" dirty="0">
                <a:ea typeface="ＭＳ Ｐゴシック" panose="020B0600070205080204" pitchFamily="34" charset="-128"/>
              </a:rPr>
              <a:t>ABCD are the FOUR inputs</a:t>
            </a:r>
          </a:p>
          <a:p>
            <a:pPr lvl="1"/>
            <a:r>
              <a:rPr lang="en-GB" altLang="en-US" sz="1600" dirty="0">
                <a:ea typeface="ＭＳ Ｐゴシック" panose="020B0600070205080204" pitchFamily="34" charset="-128"/>
              </a:rPr>
              <a:t>There are four levels of 2-to-1 multiplexer circuits</a:t>
            </a:r>
          </a:p>
          <a:p>
            <a:pPr lvl="1"/>
            <a:r>
              <a:rPr lang="en-GB" altLang="en-US" sz="1600" dirty="0">
                <a:ea typeface="ＭＳ Ｐゴシック" panose="020B0600070205080204" pitchFamily="34" charset="-128"/>
              </a:rPr>
              <a:t>The 16-inputs to the mux tree determine the Boolean function to be implemented as in a truth-table</a:t>
            </a:r>
          </a:p>
          <a:p>
            <a:pPr lvl="1"/>
            <a:r>
              <a:rPr lang="en-GB" altLang="en-US" sz="1600" dirty="0">
                <a:ea typeface="ＭＳ Ｐゴシック" panose="020B0600070205080204" pitchFamily="34" charset="-128"/>
              </a:rPr>
              <a:t>These 16 binary values are stored in registers (DFF)</a:t>
            </a:r>
          </a:p>
          <a:p>
            <a:pPr lvl="1"/>
            <a:r>
              <a:rPr lang="en-GB" altLang="en-US" sz="1600" dirty="0">
                <a:ea typeface="ＭＳ Ｐゴシック" panose="020B0600070205080204" pitchFamily="34" charset="-128"/>
              </a:rPr>
              <a:t>Configuration =  setting the 16 registers to 1 or 0</a:t>
            </a:r>
          </a:p>
        </p:txBody>
      </p:sp>
      <p:sp>
        <p:nvSpPr>
          <p:cNvPr id="18434" name="Rectangle 2">
            <a:extLst>
              <a:ext uri="{FF2B5EF4-FFF2-40B4-BE49-F238E27FC236}">
                <a16:creationId xmlns:a16="http://schemas.microsoft.com/office/drawing/2014/main" id="{AC557F80-BE21-2D4C-9233-CDF5335BA0A6}"/>
              </a:ext>
            </a:extLst>
          </p:cNvPr>
          <p:cNvSpPr txBox="1">
            <a:spLocks noChangeArrowheads="1"/>
          </p:cNvSpPr>
          <p:nvPr/>
        </p:nvSpPr>
        <p:spPr bwMode="auto">
          <a:xfrm>
            <a:off x="703263" y="161925"/>
            <a:ext cx="842010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GB" altLang="en-US" sz="2800" b="1">
                <a:solidFill>
                  <a:schemeClr val="accent2"/>
                </a:solidFill>
              </a:rPr>
              <a:t>The Idea of Configuring the FPGA</a:t>
            </a:r>
          </a:p>
        </p:txBody>
      </p:sp>
      <p:pic>
        <p:nvPicPr>
          <p:cNvPr id="18435" name="Picture 2">
            <a:extLst>
              <a:ext uri="{FF2B5EF4-FFF2-40B4-BE49-F238E27FC236}">
                <a16:creationId xmlns:a16="http://schemas.microsoft.com/office/drawing/2014/main" id="{DBEDD92E-367F-4040-9019-E44208A4A6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32500" y="1087438"/>
            <a:ext cx="3744913" cy="516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CC8D9061-19AE-CC43-9469-D6704B622AC6}"/>
              </a:ext>
            </a:extLst>
          </p:cNvPr>
          <p:cNvSpPr txBox="1">
            <a:spLocks noChangeArrowheads="1"/>
          </p:cNvSpPr>
          <p:nvPr/>
        </p:nvSpPr>
        <p:spPr bwMode="auto">
          <a:xfrm>
            <a:off x="703263" y="161925"/>
            <a:ext cx="842010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GB" altLang="en-US" sz="2800" b="1">
                <a:solidFill>
                  <a:schemeClr val="accent2"/>
                </a:solidFill>
              </a:rPr>
              <a:t>Configuring the </a:t>
            </a:r>
            <a:r>
              <a:rPr lang="en-GB" altLang="en-US" sz="2800" b="1">
                <a:solidFill>
                  <a:srgbClr val="FF0000"/>
                </a:solidFill>
              </a:rPr>
              <a:t>routing</a:t>
            </a:r>
            <a:r>
              <a:rPr lang="en-GB" altLang="en-US" sz="2800" b="1">
                <a:solidFill>
                  <a:schemeClr val="accent2"/>
                </a:solidFill>
              </a:rPr>
              <a:t> in an FPGA</a:t>
            </a:r>
          </a:p>
        </p:txBody>
      </p:sp>
      <p:pic>
        <p:nvPicPr>
          <p:cNvPr id="20482" name="Picture 2">
            <a:extLst>
              <a:ext uri="{FF2B5EF4-FFF2-40B4-BE49-F238E27FC236}">
                <a16:creationId xmlns:a16="http://schemas.microsoft.com/office/drawing/2014/main" id="{0CAEC593-22FD-C442-91EC-0755F410F66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48175" y="2060575"/>
            <a:ext cx="5184775" cy="427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3" name="Picture 3">
            <a:extLst>
              <a:ext uri="{FF2B5EF4-FFF2-40B4-BE49-F238E27FC236}">
                <a16:creationId xmlns:a16="http://schemas.microsoft.com/office/drawing/2014/main" id="{65109623-0C95-DF49-83EF-651910BEFF5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969125" y="1125538"/>
            <a:ext cx="2843213" cy="279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4" name="Rectangle 3">
            <a:extLst>
              <a:ext uri="{FF2B5EF4-FFF2-40B4-BE49-F238E27FC236}">
                <a16:creationId xmlns:a16="http://schemas.microsoft.com/office/drawing/2014/main" id="{329F17E5-85B7-BF4B-B7BF-611459250F1C}"/>
              </a:ext>
            </a:extLst>
          </p:cNvPr>
          <p:cNvSpPr>
            <a:spLocks noGrp="1" noChangeArrowheads="1"/>
          </p:cNvSpPr>
          <p:nvPr>
            <p:ph type="body" sz="half" idx="2"/>
          </p:nvPr>
        </p:nvSpPr>
        <p:spPr>
          <a:xfrm>
            <a:off x="200025" y="1017588"/>
            <a:ext cx="3816350" cy="5329237"/>
          </a:xfrm>
        </p:spPr>
        <p:txBody>
          <a:bodyPr/>
          <a:lstStyle/>
          <a:p>
            <a:r>
              <a:rPr lang="en-GB" altLang="en-US" sz="1800">
                <a:ea typeface="ＭＳ Ｐゴシック" panose="020B0600070205080204" pitchFamily="34" charset="-128"/>
              </a:rPr>
              <a:t>At each interconnect site, there is a transistor switch which is default OFF (not conducting)</a:t>
            </a:r>
          </a:p>
          <a:p>
            <a:r>
              <a:rPr lang="en-GB" altLang="en-US" sz="1800">
                <a:ea typeface="ＭＳ Ｐゴシック" panose="020B0600070205080204" pitchFamily="34" charset="-128"/>
              </a:rPr>
              <a:t>Each switch is controlled by the output of a 1-bit configuration register</a:t>
            </a:r>
          </a:p>
          <a:p>
            <a:r>
              <a:rPr lang="en-GB" altLang="en-US" sz="1800">
                <a:ea typeface="ＭＳ Ｐゴシック" panose="020B0600070205080204" pitchFamily="34" charset="-128"/>
              </a:rPr>
              <a:t>Configuring the routing is simply to put a ‘1’ or ‘0’ in this register to control the routing switches</a:t>
            </a:r>
          </a:p>
          <a:p>
            <a:pPr lvl="1"/>
            <a:endParaRPr lang="en-GB" altLang="en-US" sz="1600">
              <a:ea typeface="ＭＳ Ｐゴシック" panose="020B0600070205080204" pitchFamily="34" charset="-128"/>
            </a:endParaRPr>
          </a:p>
          <a:p>
            <a:r>
              <a:rPr lang="en-GB" altLang="en-US" sz="1800">
                <a:ea typeface="ＭＳ Ｐゴシック" panose="020B0600070205080204" pitchFamily="34" charset="-128"/>
              </a:rPr>
              <a:t>Bitstream is either stored on local flash memory or download via a computer</a:t>
            </a:r>
          </a:p>
          <a:p>
            <a:r>
              <a:rPr lang="en-GB" altLang="en-US" sz="1800">
                <a:ea typeface="ＭＳ Ｐゴシック" panose="020B0600070205080204" pitchFamily="34" charset="-128"/>
              </a:rPr>
              <a:t>Configuration happens on power-up</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483"/>
                                        </p:tgtEl>
                                        <p:attrNameLst>
                                          <p:attrName>style.visibility</p:attrName>
                                        </p:attrNameLst>
                                      </p:cBhvr>
                                      <p:to>
                                        <p:strVal val="visible"/>
                                      </p:to>
                                    </p:set>
                                    <p:animEffect transition="in" filter="dissolve">
                                      <p:cBhvr>
                                        <p:cTn id="7" dur="500"/>
                                        <p:tgtEl>
                                          <p:spTgt spid="20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AF48DA-092A-784F-993F-C36D2280306F}"/>
              </a:ext>
            </a:extLst>
          </p:cNvPr>
          <p:cNvPicPr>
            <a:picLocks noChangeAspect="1"/>
          </p:cNvPicPr>
          <p:nvPr/>
        </p:nvPicPr>
        <p:blipFill>
          <a:blip r:embed="rId3"/>
          <a:stretch>
            <a:fillRect/>
          </a:stretch>
        </p:blipFill>
        <p:spPr>
          <a:xfrm>
            <a:off x="185874" y="1052736"/>
            <a:ext cx="4682553" cy="5209060"/>
          </a:xfrm>
          <a:prstGeom prst="rect">
            <a:avLst/>
          </a:prstGeom>
        </p:spPr>
      </p:pic>
      <p:sp>
        <p:nvSpPr>
          <p:cNvPr id="22529" name="Rectangle 2">
            <a:extLst>
              <a:ext uri="{FF2B5EF4-FFF2-40B4-BE49-F238E27FC236}">
                <a16:creationId xmlns:a16="http://schemas.microsoft.com/office/drawing/2014/main" id="{6435CF21-F2E4-3940-9F9E-7E1D2E0C554F}"/>
              </a:ext>
            </a:extLst>
          </p:cNvPr>
          <p:cNvSpPr>
            <a:spLocks noGrp="1" noChangeArrowheads="1"/>
          </p:cNvSpPr>
          <p:nvPr>
            <p:ph type="title"/>
          </p:nvPr>
        </p:nvSpPr>
        <p:spPr>
          <a:xfrm>
            <a:off x="703263" y="161925"/>
            <a:ext cx="8420100" cy="603250"/>
          </a:xfrm>
          <a:noFill/>
        </p:spPr>
        <p:txBody>
          <a:bodyPr/>
          <a:lstStyle/>
          <a:p>
            <a:r>
              <a:rPr lang="en-GB" altLang="en-US" dirty="0">
                <a:ea typeface="ＭＳ Ｐゴシック" panose="020B0600070205080204" pitchFamily="34" charset="-128"/>
              </a:rPr>
              <a:t>Max 10 FPGA – chip level view</a:t>
            </a:r>
          </a:p>
        </p:txBody>
      </p:sp>
      <p:sp>
        <p:nvSpPr>
          <p:cNvPr id="22530" name="Rectangle 3">
            <a:extLst>
              <a:ext uri="{FF2B5EF4-FFF2-40B4-BE49-F238E27FC236}">
                <a16:creationId xmlns:a16="http://schemas.microsoft.com/office/drawing/2014/main" id="{A7695606-F7D4-ED43-B2D5-5803D83E1EA1}"/>
              </a:ext>
            </a:extLst>
          </p:cNvPr>
          <p:cNvSpPr txBox="1">
            <a:spLocks noChangeArrowheads="1"/>
          </p:cNvSpPr>
          <p:nvPr/>
        </p:nvSpPr>
        <p:spPr bwMode="auto">
          <a:xfrm>
            <a:off x="5097016" y="1066087"/>
            <a:ext cx="4682554" cy="77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7338" indent="-287338">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buFont typeface="Wingdings" pitchFamily="2" charset="2"/>
              <a:buChar char="v"/>
            </a:pPr>
            <a:r>
              <a:rPr lang="en-GB" altLang="en-US" sz="1800" dirty="0"/>
              <a:t>Intel/Altera’s Max 10 FPGA</a:t>
            </a:r>
          </a:p>
          <a:p>
            <a:pPr>
              <a:buFont typeface="Wingdings" pitchFamily="2" charset="2"/>
              <a:buChar char="v"/>
            </a:pPr>
            <a:r>
              <a:rPr lang="en-GB" altLang="en-US" sz="1800" dirty="0"/>
              <a:t>Low cost family </a:t>
            </a:r>
          </a:p>
        </p:txBody>
      </p:sp>
      <p:sp>
        <p:nvSpPr>
          <p:cNvPr id="22535" name="Rectangle 3">
            <a:extLst>
              <a:ext uri="{FF2B5EF4-FFF2-40B4-BE49-F238E27FC236}">
                <a16:creationId xmlns:a16="http://schemas.microsoft.com/office/drawing/2014/main" id="{A8EEAA79-6D40-504B-B751-3881559C679A}"/>
              </a:ext>
            </a:extLst>
          </p:cNvPr>
          <p:cNvSpPr txBox="1">
            <a:spLocks noChangeArrowheads="1"/>
          </p:cNvSpPr>
          <p:nvPr/>
        </p:nvSpPr>
        <p:spPr bwMode="auto">
          <a:xfrm>
            <a:off x="5097016" y="1916832"/>
            <a:ext cx="4682552" cy="4176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7338" indent="-287338">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buFont typeface="Wingdings" pitchFamily="2" charset="2"/>
              <a:buChar char="v"/>
            </a:pPr>
            <a:r>
              <a:rPr lang="en-GB" altLang="en-US" sz="1800" dirty="0"/>
              <a:t>Inside FPGA, it has:</a:t>
            </a:r>
          </a:p>
          <a:p>
            <a:pPr lvl="1"/>
            <a:r>
              <a:rPr lang="en-GB" altLang="en-US" sz="1800" dirty="0"/>
              <a:t>Logic Array Blocks (LABs) containing Logic Elements (LEs)</a:t>
            </a:r>
          </a:p>
          <a:p>
            <a:pPr lvl="1"/>
            <a:r>
              <a:rPr lang="en-GB" altLang="en-US" sz="1800" dirty="0"/>
              <a:t>Embedded Memory Blocks</a:t>
            </a:r>
          </a:p>
          <a:p>
            <a:pPr lvl="1"/>
            <a:r>
              <a:rPr lang="en-GB" altLang="en-US" sz="1800" dirty="0"/>
              <a:t>Embedded Multiplier Blocks</a:t>
            </a:r>
          </a:p>
          <a:p>
            <a:pPr lvl="1"/>
            <a:r>
              <a:rPr lang="en-GB" altLang="en-US" sz="1800" dirty="0"/>
              <a:t>Clock Blocks</a:t>
            </a:r>
          </a:p>
          <a:p>
            <a:pPr lvl="1"/>
            <a:r>
              <a:rPr lang="en-GB" altLang="en-US" sz="1800" dirty="0"/>
              <a:t>Internal Flash (program/data)</a:t>
            </a:r>
          </a:p>
          <a:p>
            <a:pPr lvl="1"/>
            <a:r>
              <a:rPr lang="en-GB" altLang="en-US" sz="1800" dirty="0"/>
              <a:t>Configurable I/O circuits</a:t>
            </a:r>
          </a:p>
          <a:p>
            <a:pPr lvl="1"/>
            <a:r>
              <a:rPr lang="en-GB" altLang="en-US" sz="1800" dirty="0"/>
              <a:t>Phase-locked Loops (PLL)</a:t>
            </a:r>
          </a:p>
          <a:p>
            <a:pPr lvl="1"/>
            <a:r>
              <a:rPr lang="en-GB" altLang="en-US" sz="1800" dirty="0"/>
              <a:t>Analog-to-Digital converter Block</a:t>
            </a:r>
          </a:p>
        </p:txBody>
      </p:sp>
    </p:spTree>
    <p:extLst>
      <p:ext uri="{BB962C8B-B14F-4D97-AF65-F5344CB8AC3E}">
        <p14:creationId xmlns:p14="http://schemas.microsoft.com/office/powerpoint/2010/main" val="2374199940"/>
      </p:ext>
    </p:extLst>
  </p:cSld>
  <p:clrMapOvr>
    <a:masterClrMapping/>
  </p:clrMapOvr>
  <p:transition>
    <p:checke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7CCE2E0-C42C-A640-858B-70EE81DC29B6}"/>
              </a:ext>
            </a:extLst>
          </p:cNvPr>
          <p:cNvPicPr>
            <a:picLocks noChangeAspect="1"/>
          </p:cNvPicPr>
          <p:nvPr/>
        </p:nvPicPr>
        <p:blipFill>
          <a:blip r:embed="rId3"/>
          <a:stretch>
            <a:fillRect/>
          </a:stretch>
        </p:blipFill>
        <p:spPr>
          <a:xfrm>
            <a:off x="21499" y="1412776"/>
            <a:ext cx="5377617" cy="4922480"/>
          </a:xfrm>
          <a:prstGeom prst="rect">
            <a:avLst/>
          </a:prstGeom>
        </p:spPr>
      </p:pic>
      <p:sp>
        <p:nvSpPr>
          <p:cNvPr id="22529" name="Rectangle 2">
            <a:extLst>
              <a:ext uri="{FF2B5EF4-FFF2-40B4-BE49-F238E27FC236}">
                <a16:creationId xmlns:a16="http://schemas.microsoft.com/office/drawing/2014/main" id="{6435CF21-F2E4-3940-9F9E-7E1D2E0C554F}"/>
              </a:ext>
            </a:extLst>
          </p:cNvPr>
          <p:cNvSpPr>
            <a:spLocks noGrp="1" noChangeArrowheads="1"/>
          </p:cNvSpPr>
          <p:nvPr>
            <p:ph type="title"/>
          </p:nvPr>
        </p:nvSpPr>
        <p:spPr>
          <a:xfrm>
            <a:off x="703263" y="161925"/>
            <a:ext cx="8420100" cy="603250"/>
          </a:xfrm>
          <a:noFill/>
        </p:spPr>
        <p:txBody>
          <a:bodyPr/>
          <a:lstStyle/>
          <a:p>
            <a:r>
              <a:rPr lang="en-GB" altLang="en-US" dirty="0">
                <a:ea typeface="ＭＳ Ｐゴシック" panose="020B0600070205080204" pitchFamily="34" charset="-128"/>
              </a:rPr>
              <a:t>Max 10 FPGA Logic Element</a:t>
            </a:r>
          </a:p>
        </p:txBody>
      </p:sp>
      <p:sp>
        <p:nvSpPr>
          <p:cNvPr id="22530" name="Rectangle 3">
            <a:extLst>
              <a:ext uri="{FF2B5EF4-FFF2-40B4-BE49-F238E27FC236}">
                <a16:creationId xmlns:a16="http://schemas.microsoft.com/office/drawing/2014/main" id="{A7695606-F7D4-ED43-B2D5-5803D83E1EA1}"/>
              </a:ext>
            </a:extLst>
          </p:cNvPr>
          <p:cNvSpPr txBox="1">
            <a:spLocks noChangeArrowheads="1"/>
          </p:cNvSpPr>
          <p:nvPr/>
        </p:nvSpPr>
        <p:spPr bwMode="auto">
          <a:xfrm>
            <a:off x="5673080" y="1125091"/>
            <a:ext cx="4682554" cy="1367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7338" indent="-287338">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buFont typeface="Wingdings" pitchFamily="2" charset="2"/>
              <a:buChar char="v"/>
            </a:pPr>
            <a:r>
              <a:rPr lang="en-GB" altLang="en-US" sz="1800" dirty="0"/>
              <a:t>Intel/Altera’s Max 10 FPGA</a:t>
            </a:r>
          </a:p>
          <a:p>
            <a:pPr>
              <a:buFont typeface="Wingdings" pitchFamily="2" charset="2"/>
              <a:buChar char="v"/>
            </a:pPr>
            <a:r>
              <a:rPr lang="en-GB" altLang="en-US" sz="1800" dirty="0"/>
              <a:t>Device is </a:t>
            </a:r>
            <a:r>
              <a:rPr lang="en-GB" altLang="en-US" sz="1800" b="1" dirty="0"/>
              <a:t>10M50DAF484C7G</a:t>
            </a:r>
            <a:r>
              <a:rPr lang="en-GB" altLang="en-US" sz="1800" dirty="0"/>
              <a:t> </a:t>
            </a:r>
          </a:p>
          <a:p>
            <a:pPr>
              <a:buFont typeface="Wingdings" pitchFamily="2" charset="2"/>
              <a:buChar char="v"/>
            </a:pPr>
            <a:r>
              <a:rPr lang="en-GB" altLang="en-US" sz="1800" dirty="0"/>
              <a:t>50,000 Logic Elements (LEs)</a:t>
            </a:r>
          </a:p>
          <a:p>
            <a:pPr>
              <a:buFont typeface="Wingdings" pitchFamily="2" charset="2"/>
              <a:buChar char="v"/>
            </a:pPr>
            <a:r>
              <a:rPr lang="en-GB" altLang="en-US" sz="1800" dirty="0"/>
              <a:t>Classical 4-LUT with D-FF</a:t>
            </a:r>
            <a:endParaRPr lang="el-GR" altLang="en-US" sz="1800" dirty="0"/>
          </a:p>
        </p:txBody>
      </p:sp>
      <p:sp>
        <p:nvSpPr>
          <p:cNvPr id="7" name="Oval 6">
            <a:extLst>
              <a:ext uri="{FF2B5EF4-FFF2-40B4-BE49-F238E27FC236}">
                <a16:creationId xmlns:a16="http://schemas.microsoft.com/office/drawing/2014/main" id="{2ECEEACF-D599-D54D-AE9C-F8042DF66442}"/>
              </a:ext>
            </a:extLst>
          </p:cNvPr>
          <p:cNvSpPr>
            <a:spLocks noChangeArrowheads="1"/>
          </p:cNvSpPr>
          <p:nvPr/>
        </p:nvSpPr>
        <p:spPr bwMode="auto">
          <a:xfrm>
            <a:off x="994757" y="1988840"/>
            <a:ext cx="1292952" cy="1944216"/>
          </a:xfrm>
          <a:prstGeom prst="ellipse">
            <a:avLst/>
          </a:prstGeom>
          <a:noFill/>
          <a:ln w="57150">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lang="en-US" altLang="en-US" sz="3200"/>
          </a:p>
        </p:txBody>
      </p:sp>
      <p:sp>
        <p:nvSpPr>
          <p:cNvPr id="10" name="Oval 9">
            <a:extLst>
              <a:ext uri="{FF2B5EF4-FFF2-40B4-BE49-F238E27FC236}">
                <a16:creationId xmlns:a16="http://schemas.microsoft.com/office/drawing/2014/main" id="{F8549278-868A-9242-B9D0-22B431271F63}"/>
              </a:ext>
            </a:extLst>
          </p:cNvPr>
          <p:cNvSpPr>
            <a:spLocks noChangeArrowheads="1"/>
          </p:cNvSpPr>
          <p:nvPr/>
        </p:nvSpPr>
        <p:spPr bwMode="auto">
          <a:xfrm>
            <a:off x="3076292" y="2241041"/>
            <a:ext cx="1446857" cy="1512168"/>
          </a:xfrm>
          <a:prstGeom prst="ellipse">
            <a:avLst/>
          </a:prstGeom>
          <a:noFill/>
          <a:ln w="57150">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lang="en-US" altLang="en-US" sz="3200"/>
          </a:p>
        </p:txBody>
      </p:sp>
      <p:sp>
        <p:nvSpPr>
          <p:cNvPr id="22535" name="Rectangle 3">
            <a:extLst>
              <a:ext uri="{FF2B5EF4-FFF2-40B4-BE49-F238E27FC236}">
                <a16:creationId xmlns:a16="http://schemas.microsoft.com/office/drawing/2014/main" id="{A8EEAA79-6D40-504B-B751-3881559C679A}"/>
              </a:ext>
            </a:extLst>
          </p:cNvPr>
          <p:cNvSpPr txBox="1">
            <a:spLocks noChangeArrowheads="1"/>
          </p:cNvSpPr>
          <p:nvPr/>
        </p:nvSpPr>
        <p:spPr bwMode="auto">
          <a:xfrm>
            <a:off x="5673080" y="2734806"/>
            <a:ext cx="3889375" cy="163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7338" indent="-287338">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buFont typeface="Wingdings" pitchFamily="2" charset="2"/>
              <a:buChar char="v"/>
            </a:pPr>
            <a:r>
              <a:rPr lang="en-GB" altLang="en-US" sz="1800" dirty="0"/>
              <a:t>Two dedicated paths between LEs:</a:t>
            </a:r>
          </a:p>
          <a:p>
            <a:pPr lvl="1"/>
            <a:r>
              <a:rPr lang="en-GB" altLang="en-US" sz="1800" dirty="0"/>
              <a:t>Carry chain</a:t>
            </a:r>
          </a:p>
          <a:p>
            <a:pPr lvl="1"/>
            <a:r>
              <a:rPr lang="en-GB" altLang="en-US" sz="1800" dirty="0"/>
              <a:t>Register cascade chain</a:t>
            </a:r>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B05B8239-E3B5-934A-8212-479D41FB247F}"/>
              </a:ext>
            </a:extLst>
          </p:cNvPr>
          <p:cNvSpPr>
            <a:spLocks noGrp="1" noChangeArrowheads="1"/>
          </p:cNvSpPr>
          <p:nvPr>
            <p:ph type="title"/>
          </p:nvPr>
        </p:nvSpPr>
        <p:spPr>
          <a:xfrm>
            <a:off x="703263" y="161925"/>
            <a:ext cx="8420100" cy="603250"/>
          </a:xfrm>
          <a:noFill/>
        </p:spPr>
        <p:txBody>
          <a:bodyPr/>
          <a:lstStyle/>
          <a:p>
            <a:r>
              <a:rPr lang="en-GB" altLang="en-US" dirty="0">
                <a:ea typeface="ＭＳ Ｐゴシック" panose="020B0600070205080204" pitchFamily="34" charset="-128"/>
              </a:rPr>
              <a:t>Max 10 </a:t>
            </a:r>
            <a:r>
              <a:rPr lang="en-GB" altLang="en-US" u="sng" dirty="0">
                <a:ea typeface="ＭＳ Ｐゴシック" panose="020B0600070205080204" pitchFamily="34" charset="-128"/>
              </a:rPr>
              <a:t>L</a:t>
            </a:r>
            <a:r>
              <a:rPr lang="en-GB" altLang="en-US" dirty="0">
                <a:ea typeface="ＭＳ Ｐゴシック" panose="020B0600070205080204" pitchFamily="34" charset="-128"/>
              </a:rPr>
              <a:t>ogic </a:t>
            </a:r>
            <a:r>
              <a:rPr lang="en-GB" altLang="en-US" u="sng" dirty="0">
                <a:ea typeface="ＭＳ Ｐゴシック" panose="020B0600070205080204" pitchFamily="34" charset="-128"/>
              </a:rPr>
              <a:t>A</a:t>
            </a:r>
            <a:r>
              <a:rPr lang="en-GB" altLang="en-US" dirty="0">
                <a:ea typeface="ＭＳ Ｐゴシック" panose="020B0600070205080204" pitchFamily="34" charset="-128"/>
              </a:rPr>
              <a:t>rray </a:t>
            </a:r>
            <a:r>
              <a:rPr lang="en-GB" altLang="en-US" u="sng" dirty="0">
                <a:ea typeface="ＭＳ Ｐゴシック" panose="020B0600070205080204" pitchFamily="34" charset="-128"/>
              </a:rPr>
              <a:t>B</a:t>
            </a:r>
            <a:r>
              <a:rPr lang="en-GB" altLang="en-US" dirty="0">
                <a:ea typeface="ＭＳ Ｐゴシック" panose="020B0600070205080204" pitchFamily="34" charset="-128"/>
              </a:rPr>
              <a:t>lock (LAB)</a:t>
            </a:r>
          </a:p>
        </p:txBody>
      </p:sp>
      <p:pic>
        <p:nvPicPr>
          <p:cNvPr id="2" name="Picture 1">
            <a:extLst>
              <a:ext uri="{FF2B5EF4-FFF2-40B4-BE49-F238E27FC236}">
                <a16:creationId xmlns:a16="http://schemas.microsoft.com/office/drawing/2014/main" id="{B5324EC6-95B4-A34B-A7DE-C6A6A6AEB551}"/>
              </a:ext>
            </a:extLst>
          </p:cNvPr>
          <p:cNvPicPr>
            <a:picLocks noChangeAspect="1"/>
          </p:cNvPicPr>
          <p:nvPr/>
        </p:nvPicPr>
        <p:blipFill>
          <a:blip r:embed="rId3"/>
          <a:stretch>
            <a:fillRect/>
          </a:stretch>
        </p:blipFill>
        <p:spPr>
          <a:xfrm>
            <a:off x="272480" y="1066428"/>
            <a:ext cx="3600400" cy="5295060"/>
          </a:xfrm>
          <a:prstGeom prst="rect">
            <a:avLst/>
          </a:prstGeom>
        </p:spPr>
      </p:pic>
      <p:sp>
        <p:nvSpPr>
          <p:cNvPr id="24" name="Rectangle 3">
            <a:extLst>
              <a:ext uri="{FF2B5EF4-FFF2-40B4-BE49-F238E27FC236}">
                <a16:creationId xmlns:a16="http://schemas.microsoft.com/office/drawing/2014/main" id="{3F1265D9-62DB-BE4A-8448-C5F1A5557D7A}"/>
              </a:ext>
            </a:extLst>
          </p:cNvPr>
          <p:cNvSpPr txBox="1">
            <a:spLocks noChangeArrowheads="1"/>
          </p:cNvSpPr>
          <p:nvPr/>
        </p:nvSpPr>
        <p:spPr bwMode="auto">
          <a:xfrm>
            <a:off x="4458616" y="2852936"/>
            <a:ext cx="3889375" cy="163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7338" indent="-287338">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buFont typeface="Wingdings" pitchFamily="2" charset="2"/>
              <a:buChar char="v"/>
            </a:pPr>
            <a:r>
              <a:rPr lang="en-GB" altLang="en-US" sz="1800" dirty="0"/>
              <a:t>Logic Array Block</a:t>
            </a:r>
          </a:p>
          <a:p>
            <a:pPr lvl="1"/>
            <a:r>
              <a:rPr lang="en-GB" altLang="en-US" sz="1800" dirty="0"/>
              <a:t>16 Logic Elements</a:t>
            </a:r>
          </a:p>
          <a:p>
            <a:pPr lvl="1"/>
            <a:r>
              <a:rPr lang="en-GB" altLang="en-US" sz="1800" dirty="0"/>
              <a:t>Local Lab Control</a:t>
            </a:r>
          </a:p>
          <a:p>
            <a:pPr lvl="1"/>
            <a:r>
              <a:rPr lang="en-GB" altLang="en-US" sz="1800" dirty="0"/>
              <a:t>Routing inside LAB</a:t>
            </a:r>
          </a:p>
        </p:txBody>
      </p:sp>
      <p:sp>
        <p:nvSpPr>
          <p:cNvPr id="25" name="Rectangle 3">
            <a:extLst>
              <a:ext uri="{FF2B5EF4-FFF2-40B4-BE49-F238E27FC236}">
                <a16:creationId xmlns:a16="http://schemas.microsoft.com/office/drawing/2014/main" id="{48D16BA9-2CCA-3E48-9083-083ECCFB6D77}"/>
              </a:ext>
            </a:extLst>
          </p:cNvPr>
          <p:cNvSpPr txBox="1">
            <a:spLocks noChangeArrowheads="1"/>
          </p:cNvSpPr>
          <p:nvPr/>
        </p:nvSpPr>
        <p:spPr bwMode="auto">
          <a:xfrm>
            <a:off x="4448944" y="1075667"/>
            <a:ext cx="4674419" cy="163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7338" indent="-287338">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buFont typeface="Wingdings" pitchFamily="2" charset="2"/>
              <a:buChar char="v"/>
            </a:pPr>
            <a:r>
              <a:rPr lang="en-GB" altLang="en-US" sz="1800" dirty="0"/>
              <a:t>Logic Element (LE)</a:t>
            </a:r>
          </a:p>
          <a:p>
            <a:pPr lvl="1"/>
            <a:r>
              <a:rPr lang="en-GB" altLang="en-US" sz="1800" dirty="0"/>
              <a:t>4 LUT</a:t>
            </a:r>
          </a:p>
          <a:p>
            <a:pPr lvl="1"/>
            <a:r>
              <a:rPr lang="en-GB" altLang="en-US" sz="1800" dirty="0"/>
              <a:t>Register</a:t>
            </a:r>
          </a:p>
          <a:p>
            <a:pPr lvl="1"/>
            <a:r>
              <a:rPr lang="en-GB" altLang="en-US" sz="1800" dirty="0"/>
              <a:t>Output routing logic</a:t>
            </a:r>
          </a:p>
        </p:txBody>
      </p:sp>
    </p:spTree>
  </p:cSld>
  <p:clrMapOvr>
    <a:masterClrMapping/>
  </p:clrMapOvr>
  <p:transition>
    <p:checker/>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5" name="Rectangle 3">
            <a:extLst>
              <a:ext uri="{FF2B5EF4-FFF2-40B4-BE49-F238E27FC236}">
                <a16:creationId xmlns:a16="http://schemas.microsoft.com/office/drawing/2014/main" id="{596A2119-FAD9-B242-8067-17FB6007AB06}"/>
              </a:ext>
            </a:extLst>
          </p:cNvPr>
          <p:cNvSpPr txBox="1">
            <a:spLocks noChangeArrowheads="1"/>
          </p:cNvSpPr>
          <p:nvPr/>
        </p:nvSpPr>
        <p:spPr bwMode="auto">
          <a:xfrm>
            <a:off x="3297238" y="1052513"/>
            <a:ext cx="6608762" cy="532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7338" indent="-287338">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687388" indent="-287338">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r>
              <a:rPr lang="en-GB" altLang="en-US" dirty="0"/>
              <a:t>Quartus Prime Lite – a comprehensive design tools for Intel/Altera FPGAs</a:t>
            </a:r>
          </a:p>
          <a:p>
            <a:r>
              <a:rPr lang="en-GB" altLang="en-US" dirty="0"/>
              <a:t>Special web edition free to download from (need registration):</a:t>
            </a:r>
          </a:p>
          <a:p>
            <a:pPr lvl="1"/>
            <a:r>
              <a:rPr lang="en-US" sz="1400" u="sng" dirty="0">
                <a:hlinkClick r:id="rId3"/>
              </a:rPr>
              <a:t>https://fpgasoftware.intel.com/18.0/?edition=lite&amp;platform=windows</a:t>
            </a:r>
            <a:r>
              <a:rPr lang="en-GB" sz="1000" dirty="0"/>
              <a:t> </a:t>
            </a:r>
          </a:p>
          <a:p>
            <a:pPr lvl="1"/>
            <a:r>
              <a:rPr lang="en-GB" altLang="en-US" sz="2000" dirty="0"/>
              <a:t>Features include (see introduction to Quartus II): </a:t>
            </a:r>
          </a:p>
          <a:p>
            <a:pPr lvl="2">
              <a:buFont typeface="Symbol" pitchFamily="2" charset="2"/>
              <a:buChar char="·"/>
            </a:pPr>
            <a:r>
              <a:rPr lang="en-GB" altLang="en-US" sz="2000" dirty="0"/>
              <a:t>design entry</a:t>
            </a:r>
          </a:p>
          <a:p>
            <a:pPr lvl="2">
              <a:buFont typeface="Symbol" pitchFamily="2" charset="2"/>
              <a:buChar char="·"/>
            </a:pPr>
            <a:r>
              <a:rPr lang="en-GB" altLang="en-US" sz="2000" dirty="0"/>
              <a:t>compilation from Hardware Description Languages (HDL)</a:t>
            </a:r>
          </a:p>
          <a:p>
            <a:pPr lvl="2">
              <a:buFont typeface="Symbol" pitchFamily="2" charset="2"/>
              <a:buChar char="·"/>
            </a:pPr>
            <a:r>
              <a:rPr lang="en-GB" altLang="en-US" sz="2000" dirty="0"/>
              <a:t>synthesis</a:t>
            </a:r>
          </a:p>
          <a:p>
            <a:pPr lvl="2">
              <a:buFont typeface="Symbol" pitchFamily="2" charset="2"/>
              <a:buChar char="·"/>
            </a:pPr>
            <a:r>
              <a:rPr lang="en-GB" altLang="en-US" sz="2000" dirty="0"/>
              <a:t>simulation</a:t>
            </a:r>
          </a:p>
          <a:p>
            <a:pPr lvl="2">
              <a:buFont typeface="Symbol" pitchFamily="2" charset="2"/>
              <a:buChar char="·"/>
            </a:pPr>
            <a:r>
              <a:rPr lang="en-GB" altLang="en-US" sz="2000" dirty="0"/>
              <a:t>timing analysis</a:t>
            </a:r>
          </a:p>
          <a:p>
            <a:pPr lvl="2">
              <a:buFont typeface="Symbol" pitchFamily="2" charset="2"/>
              <a:buChar char="·"/>
            </a:pPr>
            <a:r>
              <a:rPr lang="en-GB" altLang="en-US" sz="2000" dirty="0"/>
              <a:t>power analysis</a:t>
            </a:r>
          </a:p>
          <a:p>
            <a:pPr lvl="2">
              <a:buFont typeface="Symbol" pitchFamily="2" charset="2"/>
              <a:buChar char="·"/>
            </a:pPr>
            <a:r>
              <a:rPr lang="en-GB" altLang="en-US" sz="2000" dirty="0"/>
              <a:t>project management</a:t>
            </a:r>
          </a:p>
          <a:p>
            <a:endParaRPr lang="en-GB" altLang="en-US" sz="2400" dirty="0"/>
          </a:p>
          <a:p>
            <a:pPr lvl="1"/>
            <a:endParaRPr lang="el-GR" altLang="en-US" sz="2000" dirty="0"/>
          </a:p>
        </p:txBody>
      </p:sp>
      <p:sp>
        <p:nvSpPr>
          <p:cNvPr id="26626" name="Rectangle 2">
            <a:extLst>
              <a:ext uri="{FF2B5EF4-FFF2-40B4-BE49-F238E27FC236}">
                <a16:creationId xmlns:a16="http://schemas.microsoft.com/office/drawing/2014/main" id="{2EA6D15C-FFBF-7647-9192-893B87296C30}"/>
              </a:ext>
            </a:extLst>
          </p:cNvPr>
          <p:cNvSpPr>
            <a:spLocks noGrp="1" noChangeArrowheads="1"/>
          </p:cNvSpPr>
          <p:nvPr>
            <p:ph type="title"/>
          </p:nvPr>
        </p:nvSpPr>
        <p:spPr>
          <a:xfrm>
            <a:off x="703263" y="161925"/>
            <a:ext cx="8420100" cy="603250"/>
          </a:xfrm>
          <a:noFill/>
        </p:spPr>
        <p:txBody>
          <a:bodyPr/>
          <a:lstStyle/>
          <a:p>
            <a:r>
              <a:rPr lang="en-GB" altLang="en-US" dirty="0">
                <a:ea typeface="ＭＳ Ｐゴシック" panose="020B0600070205080204" pitchFamily="34" charset="-128"/>
              </a:rPr>
              <a:t>Design Tools – Quartus Prime Lite</a:t>
            </a:r>
          </a:p>
        </p:txBody>
      </p:sp>
      <p:pic>
        <p:nvPicPr>
          <p:cNvPr id="26628" name="Picture 6">
            <a:extLst>
              <a:ext uri="{FF2B5EF4-FFF2-40B4-BE49-F238E27FC236}">
                <a16:creationId xmlns:a16="http://schemas.microsoft.com/office/drawing/2014/main" id="{EF6D49FC-9819-674E-AE97-F7B4BF42DD8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8438" y="974725"/>
            <a:ext cx="2954337" cy="540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hecke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A73BF938-16D5-DA44-85E4-22B28C70701C}"/>
              </a:ext>
            </a:extLst>
          </p:cNvPr>
          <p:cNvSpPr>
            <a:spLocks noGrp="1" noChangeArrowheads="1"/>
          </p:cNvSpPr>
          <p:nvPr>
            <p:ph type="title"/>
          </p:nvPr>
        </p:nvSpPr>
        <p:spPr>
          <a:xfrm>
            <a:off x="703263" y="161925"/>
            <a:ext cx="8420100" cy="603250"/>
          </a:xfrm>
          <a:noFill/>
        </p:spPr>
        <p:txBody>
          <a:bodyPr/>
          <a:lstStyle/>
          <a:p>
            <a:r>
              <a:rPr lang="en-GB" altLang="en-US" dirty="0">
                <a:ea typeface="ＭＳ Ｐゴシック" panose="020B0600070205080204" pitchFamily="34" charset="-128"/>
              </a:rPr>
              <a:t>DE10-Lite FPGA Board</a:t>
            </a:r>
          </a:p>
        </p:txBody>
      </p:sp>
      <p:pic>
        <p:nvPicPr>
          <p:cNvPr id="7" name="Picture 6">
            <a:extLst>
              <a:ext uri="{FF2B5EF4-FFF2-40B4-BE49-F238E27FC236}">
                <a16:creationId xmlns:a16="http://schemas.microsoft.com/office/drawing/2014/main" id="{2146C453-20B1-044A-A7A8-54A8B8FFA887}"/>
              </a:ext>
            </a:extLst>
          </p:cNvPr>
          <p:cNvPicPr>
            <a:picLocks noChangeAspect="1"/>
          </p:cNvPicPr>
          <p:nvPr/>
        </p:nvPicPr>
        <p:blipFill>
          <a:blip r:embed="rId3"/>
          <a:stretch>
            <a:fillRect/>
          </a:stretch>
        </p:blipFill>
        <p:spPr>
          <a:xfrm>
            <a:off x="3872880" y="980728"/>
            <a:ext cx="2702887" cy="2051298"/>
          </a:xfrm>
          <a:prstGeom prst="rect">
            <a:avLst/>
          </a:prstGeom>
        </p:spPr>
      </p:pic>
      <p:pic>
        <p:nvPicPr>
          <p:cNvPr id="8" name="Picture 7">
            <a:extLst>
              <a:ext uri="{FF2B5EF4-FFF2-40B4-BE49-F238E27FC236}">
                <a16:creationId xmlns:a16="http://schemas.microsoft.com/office/drawing/2014/main" id="{E86055EF-D237-8B4F-97E1-DF221AAB458C}"/>
              </a:ext>
            </a:extLst>
          </p:cNvPr>
          <p:cNvPicPr>
            <a:picLocks noChangeAspect="1"/>
          </p:cNvPicPr>
          <p:nvPr/>
        </p:nvPicPr>
        <p:blipFill>
          <a:blip r:embed="rId4"/>
          <a:stretch>
            <a:fillRect/>
          </a:stretch>
        </p:blipFill>
        <p:spPr>
          <a:xfrm>
            <a:off x="679182" y="3032026"/>
            <a:ext cx="8049344" cy="3408348"/>
          </a:xfrm>
          <a:prstGeom prst="rect">
            <a:avLst/>
          </a:prstGeom>
        </p:spPr>
      </p:pic>
    </p:spTree>
  </p:cSld>
  <p:clrMapOvr>
    <a:masterClrMapping/>
  </p:clrMapOvr>
  <p:transition>
    <p:checker/>
  </p:transition>
</p:sld>
</file>

<file path=ppt/theme/theme1.xml><?xml version="1.0" encoding="utf-8"?>
<a:theme xmlns:a="http://schemas.openxmlformats.org/drawingml/2006/main" name="lecture 1">
  <a:themeElements>
    <a:clrScheme name="lecture 1.pp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ecture 1.pp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0" i="0" u="none" strike="noStrike" cap="none" normalizeH="0" baseline="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0" i="0" u="none" strike="noStrike" cap="none" normalizeH="0" baseline="0">
            <a:ln>
              <a:noFill/>
            </a:ln>
            <a:solidFill>
              <a:schemeClr val="tx1"/>
            </a:solidFill>
            <a:effectLst/>
            <a:latin typeface="Arial" charset="0"/>
          </a:defRPr>
        </a:defPPr>
      </a:lstStyle>
    </a:lnDef>
  </a:objectDefaults>
  <a:extraClrSchemeLst>
    <a:extraClrScheme>
      <a:clrScheme name="lecture 1.pp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ecture 1.pp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lecture 1.pp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ecture 1.pp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ecture 1.pp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ecture 1.pp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lecture 1.pp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H:\_Mywork\_ICTeaching\EE2 Computing\lecture 1.ppt</Template>
  <TotalTime>21841</TotalTime>
  <Words>4945</Words>
  <Application>Microsoft Macintosh PowerPoint</Application>
  <PresentationFormat>A4 Paper (210x297 mm)</PresentationFormat>
  <Paragraphs>285</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Monotype Sorts</vt:lpstr>
      <vt:lpstr>Symbol</vt:lpstr>
      <vt:lpstr>Verdana</vt:lpstr>
      <vt:lpstr>Wingdings</vt:lpstr>
      <vt:lpstr>lecture 1</vt:lpstr>
      <vt:lpstr>Lecture 5  Digital Design with FPGA</vt:lpstr>
      <vt:lpstr>How to describe/specify digital circuits?</vt:lpstr>
      <vt:lpstr>Basic digital building blocks</vt:lpstr>
      <vt:lpstr>Cause &amp; Effect</vt:lpstr>
      <vt:lpstr>D-Flipflop (1)</vt:lpstr>
      <vt:lpstr>D-Flipflop (2)</vt:lpstr>
      <vt:lpstr>Ripple Counter</vt:lpstr>
      <vt:lpstr>Synchronous Counter</vt:lpstr>
      <vt:lpstr>Old ways of implementing digital circuits</vt:lpstr>
      <vt:lpstr>Early integrated circuits based on gate arrays</vt:lpstr>
      <vt:lpstr>Modern digital design – full custom IC</vt:lpstr>
      <vt:lpstr>Field Programmable Gate Arrays (FPGAs)</vt:lpstr>
      <vt:lpstr>Configurable Logic Block (or Logic Element)</vt:lpstr>
      <vt:lpstr>Programmable Routing</vt:lpstr>
      <vt:lpstr>PowerPoint Presentation</vt:lpstr>
      <vt:lpstr>PowerPoint Presentation</vt:lpstr>
      <vt:lpstr>Max 10 FPGA – chip level view</vt:lpstr>
      <vt:lpstr>Max 10 FPGA Logic Element</vt:lpstr>
      <vt:lpstr>Max 10 Logic Array Block (LAB)</vt:lpstr>
      <vt:lpstr>Design Tools – Quartus Prime Lite</vt:lpstr>
      <vt:lpstr>DE10-Lite FPGA Board</vt:lpstr>
    </vt:vector>
  </TitlesOfParts>
  <Manager/>
  <Company>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ASIC and all that!</dc:title>
  <dc:subject/>
  <dc:creator>peterc</dc:creator>
  <cp:keywords/>
  <dc:description/>
  <cp:lastModifiedBy>Cheung, Peter Y</cp:lastModifiedBy>
  <cp:revision>236</cp:revision>
  <cp:lastPrinted>2015-10-13T14:13:15Z</cp:lastPrinted>
  <dcterms:created xsi:type="dcterms:W3CDTF">1998-10-08T18:04:10Z</dcterms:created>
  <dcterms:modified xsi:type="dcterms:W3CDTF">2021-10-30T09:25:38Z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2</vt:i4>
  </property>
  <property fmtid="{D5CDD505-2E9C-101B-9397-08002B2CF9AE}" pid="3" name="GraphicType">
    <vt:i4>2</vt:i4>
  </property>
  <property fmtid="{D5CDD505-2E9C-101B-9397-08002B2CF9AE}" pid="4" name="Compression">
    <vt:i4>100</vt:i4>
  </property>
  <property fmtid="{D5CDD505-2E9C-101B-9397-08002B2CF9AE}" pid="5" name="ScreenSize">
    <vt:i4>3</vt:i4>
  </property>
  <property fmtid="{D5CDD505-2E9C-101B-9397-08002B2CF9AE}" pid="6" name="ScreenUsage">
    <vt:i4>2</vt:i4>
  </property>
  <property fmtid="{D5CDD505-2E9C-101B-9397-08002B2CF9AE}" pid="7" name="MailAddress">
    <vt:lpwstr/>
  </property>
  <property fmtid="{D5CDD505-2E9C-101B-9397-08002B2CF9AE}" pid="8" name="HomePage">
    <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false</vt:bool>
  </property>
  <property fmtid="{D5CDD505-2E9C-101B-9397-08002B2CF9AE}" pid="13" name="BackColor">
    <vt:i4>12632256</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1</vt:i4>
  </property>
  <property fmtid="{D5CDD505-2E9C-101B-9397-08002B2CF9AE}" pid="19" name="ShowNotes">
    <vt:bool>false</vt:bool>
  </property>
  <property fmtid="{D5CDD505-2E9C-101B-9397-08002B2CF9AE}" pid="20" name="NavBtnPos">
    <vt:i4>1</vt:i4>
  </property>
  <property fmtid="{D5CDD505-2E9C-101B-9397-08002B2CF9AE}" pid="21" name="OutputDir">
    <vt:lpwstr>H:\_Mywork\_ICTeaching\ASIC\Notes 98</vt:lpwstr>
  </property>
</Properties>
</file>